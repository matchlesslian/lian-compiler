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8"/>
  </p:notesMasterIdLst>
  <p:handoutMasterIdLst>
    <p:handoutMasterId r:id="rId19"/>
  </p:handoutMasterIdLst>
  <p:sldIdLst>
    <p:sldId id="328" r:id="rId3"/>
    <p:sldId id="329" r:id="rId4"/>
    <p:sldId id="330" r:id="rId5"/>
    <p:sldId id="337" r:id="rId6"/>
    <p:sldId id="332" r:id="rId7"/>
    <p:sldId id="342" r:id="rId8"/>
    <p:sldId id="339" r:id="rId9"/>
    <p:sldId id="341" r:id="rId10"/>
    <p:sldId id="333" r:id="rId11"/>
    <p:sldId id="343" r:id="rId12"/>
    <p:sldId id="347" r:id="rId13"/>
    <p:sldId id="344" r:id="rId14"/>
    <p:sldId id="350" r:id="rId15"/>
    <p:sldId id="335" r:id="rId16"/>
    <p:sldId id="331"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6E78"/>
    <a:srgbClr val="FBF1E9"/>
    <a:srgbClr val="FBFBFB"/>
    <a:srgbClr val="F7F7F7"/>
    <a:srgbClr val="FEF0A9"/>
    <a:srgbClr val="FFEFA6"/>
    <a:srgbClr val="FFDEA0"/>
    <a:srgbClr val="441F23"/>
    <a:srgbClr val="F9E7BA"/>
    <a:srgbClr val="C686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485" autoAdjust="0"/>
    <p:restoredTop sz="94104" autoAdjust="0"/>
  </p:normalViewPr>
  <p:slideViewPr>
    <p:cSldViewPr snapToGrid="0">
      <p:cViewPr varScale="1">
        <p:scale>
          <a:sx n="96" d="100"/>
          <a:sy n="96" d="100"/>
        </p:scale>
        <p:origin x="28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2024/9/13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38343021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包图粗朗体" panose="02000000000000000000" pitchFamily="2" charset="-122"/>
                <a:ea typeface="包图粗朗体" panose="02000000000000000000" pitchFamily="2" charset="-122"/>
                <a:cs typeface="包图粗朗体" panose="02000000000000000000" pitchFamily="2"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包图粗朗体" panose="02000000000000000000" pitchFamily="2" charset="-122"/>
                <a:ea typeface="包图粗朗体" panose="02000000000000000000" pitchFamily="2" charset="-122"/>
                <a:cs typeface="包图粗朗体" panose="02000000000000000000" pitchFamily="2" charset="-122"/>
              </a:defRPr>
            </a:lvl1pPr>
          </a:lstStyle>
          <a:p>
            <a:fld id="{E9C7C8D6-8378-491C-A88C-F5C0F1DDB3DF}" type="datetimeFigureOut">
              <a:rPr lang="zh-CN" altLang="en-US" smtClean="0"/>
              <a:t>2024/9/13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包图粗朗体" panose="02000000000000000000" pitchFamily="2" charset="-122"/>
                <a:ea typeface="包图粗朗体" panose="02000000000000000000" pitchFamily="2" charset="-122"/>
                <a:cs typeface="包图粗朗体" panose="02000000000000000000" pitchFamily="2"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包图粗朗体" panose="02000000000000000000" pitchFamily="2" charset="-122"/>
                <a:ea typeface="包图粗朗体" panose="02000000000000000000" pitchFamily="2" charset="-122"/>
                <a:cs typeface="包图粗朗体" panose="02000000000000000000" pitchFamily="2" charset="-122"/>
              </a:defRPr>
            </a:lvl1pPr>
          </a:lstStyle>
          <a:p>
            <a:fld id="{82681912-8CC0-4B9F-BE2A-5B54BD796BF3}" type="slidenum">
              <a:rPr lang="zh-CN" altLang="en-US" smtClean="0"/>
              <a:t>‹#›</a:t>
            </a:fld>
            <a:endParaRPr lang="zh-CN" altLang="en-US"/>
          </a:p>
        </p:txBody>
      </p:sp>
    </p:spTree>
    <p:extLst>
      <p:ext uri="{BB962C8B-B14F-4D97-AF65-F5344CB8AC3E}">
        <p14:creationId xmlns:p14="http://schemas.microsoft.com/office/powerpoint/2010/main" val="193889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包图粗朗体" panose="02000000000000000000" pitchFamily="2" charset="-122"/>
        <a:ea typeface="包图粗朗体" panose="02000000000000000000" pitchFamily="2" charset="-122"/>
        <a:cs typeface="包图粗朗体" panose="02000000000000000000" pitchFamily="2" charset="-122"/>
      </a:defRPr>
    </a:lvl1pPr>
    <a:lvl2pPr marL="457200" algn="l" defTabSz="914400" rtl="0" eaLnBrk="1" latinLnBrk="0" hangingPunct="1">
      <a:defRPr sz="1200" kern="1200">
        <a:solidFill>
          <a:schemeClr val="tx1"/>
        </a:solidFill>
        <a:latin typeface="包图粗朗体" panose="02000000000000000000" pitchFamily="2" charset="-122"/>
        <a:ea typeface="包图粗朗体" panose="02000000000000000000" pitchFamily="2" charset="-122"/>
        <a:cs typeface="包图粗朗体" panose="02000000000000000000" pitchFamily="2" charset="-122"/>
      </a:defRPr>
    </a:lvl2pPr>
    <a:lvl3pPr marL="914400" algn="l" defTabSz="914400" rtl="0" eaLnBrk="1" latinLnBrk="0" hangingPunct="1">
      <a:defRPr sz="1200" kern="1200">
        <a:solidFill>
          <a:schemeClr val="tx1"/>
        </a:solidFill>
        <a:latin typeface="包图粗朗体" panose="02000000000000000000" pitchFamily="2" charset="-122"/>
        <a:ea typeface="包图粗朗体" panose="02000000000000000000" pitchFamily="2" charset="-122"/>
        <a:cs typeface="包图粗朗体" panose="02000000000000000000" pitchFamily="2" charset="-122"/>
      </a:defRPr>
    </a:lvl3pPr>
    <a:lvl4pPr marL="1371600" algn="l" defTabSz="914400" rtl="0" eaLnBrk="1" latinLnBrk="0" hangingPunct="1">
      <a:defRPr sz="1200" kern="1200">
        <a:solidFill>
          <a:schemeClr val="tx1"/>
        </a:solidFill>
        <a:latin typeface="包图粗朗体" panose="02000000000000000000" pitchFamily="2" charset="-122"/>
        <a:ea typeface="包图粗朗体" panose="02000000000000000000" pitchFamily="2" charset="-122"/>
        <a:cs typeface="包图粗朗体" panose="02000000000000000000" pitchFamily="2" charset="-122"/>
      </a:defRPr>
    </a:lvl4pPr>
    <a:lvl5pPr marL="1828800" algn="l" defTabSz="914400" rtl="0" eaLnBrk="1" latinLnBrk="0" hangingPunct="1">
      <a:defRPr sz="1200" kern="1200">
        <a:solidFill>
          <a:schemeClr val="tx1"/>
        </a:solidFill>
        <a:latin typeface="包图粗朗体" panose="02000000000000000000" pitchFamily="2" charset="-122"/>
        <a:ea typeface="包图粗朗体" panose="02000000000000000000" pitchFamily="2" charset="-122"/>
        <a:cs typeface="包图粗朗体" panose="02000000000000000000"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82681912-8CC0-4B9F-BE2A-5B54BD796BF3}" type="slidenum">
              <a:rPr lang="zh-CN" altLang="en-US" smtClean="0"/>
              <a:t>3</a:t>
            </a:fld>
            <a:endParaRPr lang="zh-CN" altLang="en-US"/>
          </a:p>
        </p:txBody>
      </p:sp>
    </p:spTree>
    <p:extLst>
      <p:ext uri="{BB962C8B-B14F-4D97-AF65-F5344CB8AC3E}">
        <p14:creationId xmlns:p14="http://schemas.microsoft.com/office/powerpoint/2010/main" val="876661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E4C556E-D11A-48D7-81C0-B1B5323EC136}" type="datetimeFigureOut">
              <a:rPr lang="zh-CN" altLang="en-US" smtClean="0"/>
              <a:t>2024/9/13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E4C556E-D11A-48D7-81C0-B1B5323EC136}" type="datetimeFigureOut">
              <a:rPr lang="zh-CN" altLang="en-US" smtClean="0"/>
              <a:t>2024/9/13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49"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E4C556E-D11A-48D7-81C0-B1B5323EC136}" type="datetimeFigureOut">
              <a:rPr lang="zh-CN" altLang="en-US" smtClean="0"/>
              <a:t>2024/9/13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E4C556E-D11A-48D7-81C0-B1B5323EC136}" type="datetimeFigureOut">
              <a:rPr lang="zh-CN" altLang="en-US" smtClean="0"/>
              <a:t>2024/9/13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E4C556E-D11A-48D7-81C0-B1B5323EC136}" type="datetimeFigureOut">
              <a:rPr lang="zh-CN" altLang="en-US" smtClean="0"/>
              <a:t>2024/9/13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E4C556E-D11A-48D7-81C0-B1B5323EC136}" type="datetimeFigureOut">
              <a:rPr lang="zh-CN" altLang="en-US" smtClean="0"/>
              <a:t>2024/9/13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E4C556E-D11A-48D7-81C0-B1B5323EC136}" type="datetimeFigureOut">
              <a:rPr lang="zh-CN" altLang="en-US" smtClean="0"/>
              <a:t>2024/9/13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E4C556E-D11A-48D7-81C0-B1B5323EC136}" type="datetimeFigureOut">
              <a:rPr lang="zh-CN" altLang="en-US" smtClean="0"/>
              <a:t>2024/9/13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E4C556E-D11A-48D7-81C0-B1B5323EC136}" type="datetimeFigureOut">
              <a:rPr lang="zh-CN" altLang="en-US" smtClean="0"/>
              <a:t>2024/9/13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E4C556E-D11A-48D7-81C0-B1B5323EC136}" type="datetimeFigureOut">
              <a:rPr lang="zh-CN" altLang="en-US" smtClean="0"/>
              <a:t>2024/9/13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E4C556E-D11A-48D7-81C0-B1B5323EC136}" type="datetimeFigureOut">
              <a:rPr lang="zh-CN" altLang="en-US" smtClean="0"/>
              <a:t>2024/9/13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95263E-7865-4889-9FDE-7A423744D6BB}" type="slidenum">
              <a:rPr lang="zh-CN" altLang="en-US" smtClean="0"/>
              <a:t>‹#›</a:t>
            </a:fld>
            <a:endParaRPr lang="zh-CN" altLang="en-US"/>
          </a:p>
        </p:txBody>
      </p:sp>
      <p:sp>
        <p:nvSpPr>
          <p:cNvPr id="7" name="TextBox 6"/>
          <p:cNvSpPr txBox="1"/>
          <p:nvPr userDrawn="1"/>
        </p:nvSpPr>
        <p:spPr>
          <a:xfrm>
            <a:off x="11651940" y="0"/>
            <a:ext cx="540060" cy="118430"/>
          </a:xfrm>
          <a:prstGeom prst="rect">
            <a:avLst/>
          </a:prstGeom>
          <a:noFill/>
        </p:spPr>
        <p:txBody>
          <a:bodyPr wrap="square" rtlCol="0">
            <a:spAutoFit/>
          </a:bodyPr>
          <a:lstStyle/>
          <a:p>
            <a:pPr>
              <a:lnSpc>
                <a:spcPct val="200000"/>
              </a:lnSpc>
            </a:pPr>
            <a:r>
              <a:rPr lang="en-US" altLang="zh-CN" sz="100" dirty="0">
                <a:latin typeface="微软雅黑" panose="020B0503020204020204" pitchFamily="34" charset="-122"/>
                <a:ea typeface="微软雅黑" panose="020B0503020204020204" pitchFamily="34" charset="-122"/>
                <a:hlinkClick r:id="rId2"/>
              </a:rPr>
              <a:t>PPT</a:t>
            </a:r>
            <a:r>
              <a:rPr lang="zh-CN" altLang="en-US" sz="100" dirty="0">
                <a:latin typeface="微软雅黑" panose="020B0503020204020204" pitchFamily="34" charset="-122"/>
                <a:ea typeface="微软雅黑" panose="020B0503020204020204" pitchFamily="34" charset="-122"/>
                <a:hlinkClick r:id="rId2"/>
              </a:rPr>
              <a:t>模板</a:t>
            </a:r>
            <a:r>
              <a:rPr lang="zh-CN" altLang="en-US" sz="100" dirty="0">
                <a:latin typeface="微软雅黑" panose="020B0503020204020204" pitchFamily="34" charset="-122"/>
                <a:ea typeface="微软雅黑" panose="020B0503020204020204" pitchFamily="34" charset="-122"/>
              </a:rPr>
              <a:t> </a:t>
            </a:r>
            <a:r>
              <a:rPr lang="en-US" altLang="zh-CN" sz="100" dirty="0">
                <a:latin typeface="微软雅黑" panose="020B0503020204020204" pitchFamily="34" charset="-122"/>
                <a:ea typeface="微软雅黑" panose="020B0503020204020204" pitchFamily="34" charset="-122"/>
              </a:rPr>
              <a:t>http://www.1ppt.com/moban/</a:t>
            </a:r>
            <a:r>
              <a:rPr lang="zh-CN" altLang="en-US" sz="100" dirty="0">
                <a:latin typeface="微软雅黑" panose="020B0503020204020204" pitchFamily="34" charset="-122"/>
                <a:ea typeface="微软雅黑" panose="020B0503020204020204" pitchFamily="34" charset="-122"/>
              </a:rPr>
              <a:t> </a:t>
            </a:r>
            <a:endParaRPr lang="en-US" altLang="zh-CN" sz="1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pPr/>
              <a:t>2024/9/13</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9541869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pPr/>
              <a:t>2024/9/13</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8122751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789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包图粗朗体" panose="02000000000000000000" pitchFamily="2" charset="-122"/>
                <a:ea typeface="包图粗朗体" panose="02000000000000000000" pitchFamily="2" charset="-122"/>
                <a:cs typeface="包图粗朗体" panose="02000000000000000000" pitchFamily="2" charset="-122"/>
              </a:defRPr>
            </a:lvl1pPr>
          </a:lstStyle>
          <a:p>
            <a:fld id="{EE4C556E-D11A-48D7-81C0-B1B5323EC136}" type="datetimeFigureOut">
              <a:rPr lang="zh-CN" altLang="en-US" smtClean="0"/>
              <a:t>2024/9/13</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包图粗朗体" panose="02000000000000000000" pitchFamily="2" charset="-122"/>
                <a:ea typeface="包图粗朗体" panose="02000000000000000000" pitchFamily="2" charset="-122"/>
                <a:cs typeface="包图粗朗体" panose="02000000000000000000" pitchFamily="2" charset="-122"/>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latin typeface="包图粗朗体" panose="02000000000000000000" pitchFamily="2" charset="-122"/>
                <a:ea typeface="包图粗朗体" panose="02000000000000000000" pitchFamily="2" charset="-122"/>
                <a:cs typeface="包图粗朗体" panose="02000000000000000000" pitchFamily="2" charset="-122"/>
              </a:defRPr>
            </a:lvl1pPr>
          </a:lstStyle>
          <a:p>
            <a:fld id="{A195263E-7865-4889-9FDE-7A423744D6B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包图粗朗体" panose="02000000000000000000" pitchFamily="2" charset="-122"/>
          <a:ea typeface="包图粗朗体" panose="02000000000000000000" pitchFamily="2" charset="-122"/>
          <a:cs typeface="包图粗朗体" panose="02000000000000000000" pitchFamily="2"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包图粗朗体" panose="02000000000000000000" pitchFamily="2" charset="-122"/>
          <a:ea typeface="包图粗朗体" panose="02000000000000000000" pitchFamily="2" charset="-122"/>
          <a:cs typeface="包图粗朗体" panose="02000000000000000000"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包图粗朗体" panose="02000000000000000000" pitchFamily="2" charset="-122"/>
          <a:ea typeface="包图粗朗体" panose="02000000000000000000" pitchFamily="2" charset="-122"/>
          <a:cs typeface="包图粗朗体" panose="02000000000000000000" pitchFamily="2"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包图粗朗体" panose="02000000000000000000" pitchFamily="2" charset="-122"/>
          <a:ea typeface="包图粗朗体" panose="02000000000000000000" pitchFamily="2" charset="-122"/>
          <a:cs typeface="包图粗朗体" panose="02000000000000000000" pitchFamily="2"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包图粗朗体" panose="02000000000000000000" pitchFamily="2" charset="-122"/>
          <a:ea typeface="包图粗朗体" panose="02000000000000000000" pitchFamily="2" charset="-122"/>
          <a:cs typeface="包图粗朗体" panose="02000000000000000000" pitchFamily="2"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包图粗朗体" panose="02000000000000000000" pitchFamily="2" charset="-122"/>
          <a:ea typeface="包图粗朗体" panose="02000000000000000000" pitchFamily="2" charset="-122"/>
          <a:cs typeface="包图粗朗体" panose="02000000000000000000"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53566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平行四边形 5"/>
          <p:cNvSpPr/>
          <p:nvPr/>
        </p:nvSpPr>
        <p:spPr>
          <a:xfrm>
            <a:off x="1485209" y="0"/>
            <a:ext cx="12574551" cy="6858000"/>
          </a:xfrm>
          <a:prstGeom prst="parallelogram">
            <a:avLst>
              <a:gd name="adj" fmla="val 117566"/>
            </a:avLst>
          </a:prstGeom>
          <a:solidFill>
            <a:srgbClr val="FBF1E9">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grpSp>
        <p:nvGrpSpPr>
          <p:cNvPr id="8" name="组合 7"/>
          <p:cNvGrpSpPr/>
          <p:nvPr/>
        </p:nvGrpSpPr>
        <p:grpSpPr>
          <a:xfrm>
            <a:off x="884796" y="1533097"/>
            <a:ext cx="4314120" cy="3857296"/>
            <a:chOff x="789606" y="1476862"/>
            <a:chExt cx="4314120" cy="3857296"/>
          </a:xfrm>
        </p:grpSpPr>
        <p:pic>
          <p:nvPicPr>
            <p:cNvPr id="3" name="图片 2"/>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rot="7431029">
              <a:off x="1246430" y="1476862"/>
              <a:ext cx="3857296" cy="3857296"/>
            </a:xfrm>
            <a:prstGeom prst="ellipse">
              <a:avLst/>
            </a:prstGeom>
            <a:effectLst>
              <a:outerShdw blurRad="635000" dist="254000" dir="3000000" algn="ctr" rotWithShape="0">
                <a:schemeClr val="tx1">
                  <a:lumMod val="75000"/>
                  <a:lumOff val="25000"/>
                  <a:alpha val="30000"/>
                </a:schemeClr>
              </a:outerShdw>
            </a:effectLst>
          </p:spPr>
        </p:pic>
        <p:sp>
          <p:nvSpPr>
            <p:cNvPr id="7" name="泪滴形 6"/>
            <p:cNvSpPr/>
            <p:nvPr/>
          </p:nvSpPr>
          <p:spPr>
            <a:xfrm rot="4070460">
              <a:off x="777305" y="1703571"/>
              <a:ext cx="922918" cy="898316"/>
            </a:xfrm>
            <a:prstGeom prst="teardrop">
              <a:avLst>
                <a:gd name="adj" fmla="val 180000"/>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grpSp>
      <p:sp>
        <p:nvSpPr>
          <p:cNvPr id="25" name="文本框 24"/>
          <p:cNvSpPr txBox="1"/>
          <p:nvPr/>
        </p:nvSpPr>
        <p:spPr>
          <a:xfrm>
            <a:off x="626396" y="328130"/>
            <a:ext cx="1180072" cy="523220"/>
          </a:xfrm>
          <a:prstGeom prst="rect">
            <a:avLst/>
          </a:prstGeom>
          <a:noFill/>
        </p:spPr>
        <p:txBody>
          <a:bodyPr wrap="square" rtlCol="0">
            <a:spAutoFit/>
          </a:bodyPr>
          <a:lstStyle/>
          <a:p>
            <a:pPr algn="dist"/>
            <a:r>
              <a:rPr lang="en-US" altLang="zh-CN" sz="2800" dirty="0" err="1">
                <a:solidFill>
                  <a:schemeClr val="bg1"/>
                </a:solidFill>
                <a:latin typeface="阿里巴巴普惠体 Heavy" pitchFamily="18" charset="-122"/>
                <a:ea typeface="阿里巴巴普惠体 Heavy" pitchFamily="18" charset="-122"/>
                <a:cs typeface="阿里巴巴普惠体 Heavy" pitchFamily="18" charset="-122"/>
                <a:sym typeface="Arial"/>
              </a:rPr>
              <a:t>LiAN</a:t>
            </a:r>
            <a:endParaRPr lang="en-US" altLang="zh-CN" sz="2800" dirty="0">
              <a:solidFill>
                <a:schemeClr val="bg1"/>
              </a:solidFill>
              <a:latin typeface="阿里巴巴普惠体 Heavy" pitchFamily="18" charset="-122"/>
              <a:ea typeface="阿里巴巴普惠体 Heavy" pitchFamily="18" charset="-122"/>
              <a:cs typeface="阿里巴巴普惠体 Heavy" pitchFamily="18" charset="-122"/>
              <a:sym typeface="Arial"/>
            </a:endParaRPr>
          </a:p>
        </p:txBody>
      </p:sp>
      <p:sp>
        <p:nvSpPr>
          <p:cNvPr id="26" name="文本框 25"/>
          <p:cNvSpPr txBox="1"/>
          <p:nvPr/>
        </p:nvSpPr>
        <p:spPr>
          <a:xfrm>
            <a:off x="4708834" y="298123"/>
            <a:ext cx="6888939" cy="3631763"/>
          </a:xfrm>
          <a:prstGeom prst="rect">
            <a:avLst/>
          </a:prstGeom>
          <a:noFill/>
        </p:spPr>
        <p:txBody>
          <a:bodyPr wrap="square" rtlCol="0">
            <a:spAutoFit/>
          </a:bodyPr>
          <a:lstStyle/>
          <a:p>
            <a:pPr algn="dist"/>
            <a:r>
              <a:rPr lang="zh-CN" altLang="en-US" sz="11500" b="1" dirty="0">
                <a:solidFill>
                  <a:schemeClr val="bg1"/>
                </a:solidFill>
                <a:latin typeface="方正姚体繁体" panose="02010601030101010101" pitchFamily="2" charset="-122"/>
                <a:ea typeface="方正姚体繁体" panose="02010601030101010101" pitchFamily="2" charset="-122"/>
                <a:cs typeface="阿里巴巴普惠体 Heavy" pitchFamily="18" charset="-122"/>
                <a:sym typeface="Arial"/>
              </a:rPr>
              <a:t>字符串的回响</a:t>
            </a:r>
          </a:p>
        </p:txBody>
      </p:sp>
      <p:sp>
        <p:nvSpPr>
          <p:cNvPr id="27" name="文本框 26"/>
          <p:cNvSpPr txBox="1"/>
          <p:nvPr/>
        </p:nvSpPr>
        <p:spPr>
          <a:xfrm>
            <a:off x="6107240" y="4504068"/>
            <a:ext cx="1904689" cy="1849545"/>
          </a:xfrm>
          <a:prstGeom prst="rect">
            <a:avLst/>
          </a:prstGeom>
          <a:noFill/>
        </p:spPr>
        <p:txBody>
          <a:bodyPr wrap="none" rtlCol="0">
            <a:spAutoFit/>
          </a:bodyPr>
          <a:lstStyle/>
          <a:p>
            <a:pPr>
              <a:lnSpc>
                <a:spcPct val="150000"/>
              </a:lnSpc>
            </a:pPr>
            <a:r>
              <a:rPr lang="en-US" altLang="zh-CN" dirty="0">
                <a:solidFill>
                  <a:schemeClr val="bg1"/>
                </a:solidFill>
                <a:latin typeface="文悦古体仿宋 (非商业用途)" pitchFamily="2" charset="-122"/>
                <a:ea typeface="文悦古体仿宋 (非商业用途)" pitchFamily="2" charset="-122"/>
                <a:cs typeface="阿里巴巴普惠体 Medium"/>
                <a:sym typeface="Arial"/>
              </a:rPr>
              <a:t>Design by </a:t>
            </a:r>
            <a:r>
              <a:rPr lang="zh-CN" altLang="en-US" dirty="0">
                <a:solidFill>
                  <a:schemeClr val="bg1"/>
                </a:solidFill>
                <a:latin typeface="文悦古体仿宋 (非商业用途)" pitchFamily="2" charset="-122"/>
                <a:ea typeface="文悦古体仿宋 (非商业用途)" pitchFamily="2" charset="-122"/>
                <a:cs typeface="阿里巴巴普惠体 Medium"/>
                <a:sym typeface="Arial"/>
              </a:rPr>
              <a:t>连振清</a:t>
            </a:r>
            <a:endParaRPr lang="en-US" altLang="zh-CN" dirty="0">
              <a:solidFill>
                <a:schemeClr val="bg1"/>
              </a:solidFill>
              <a:latin typeface="文悦古体仿宋 (非商业用途)" pitchFamily="2" charset="-122"/>
              <a:ea typeface="文悦古体仿宋 (非商业用途)" pitchFamily="2" charset="-122"/>
              <a:cs typeface="阿里巴巴普惠体 Medium"/>
              <a:sym typeface="Arial"/>
            </a:endParaRPr>
          </a:p>
          <a:p>
            <a:pPr>
              <a:lnSpc>
                <a:spcPct val="150000"/>
              </a:lnSpc>
            </a:pPr>
            <a:r>
              <a:rPr lang="zh-CN" altLang="en-US" sz="1200" dirty="0">
                <a:solidFill>
                  <a:schemeClr val="bg1"/>
                </a:solidFill>
                <a:latin typeface="宋体" panose="02010600030101010101" pitchFamily="2" charset="-122"/>
                <a:ea typeface="宋体" panose="02010600030101010101" pitchFamily="2" charset="-122"/>
                <a:cs typeface="阿里巴巴普惠体 Medium"/>
                <a:sym typeface="Arial"/>
              </a:rPr>
              <a:t>组长：连振清</a:t>
            </a:r>
            <a:endParaRPr lang="en-US" altLang="zh-CN" sz="1200" dirty="0">
              <a:solidFill>
                <a:schemeClr val="bg1"/>
              </a:solidFill>
              <a:latin typeface="宋体" panose="02010600030101010101" pitchFamily="2" charset="-122"/>
              <a:ea typeface="宋体" panose="02010600030101010101" pitchFamily="2" charset="-122"/>
              <a:cs typeface="阿里巴巴普惠体 Medium"/>
              <a:sym typeface="Arial"/>
            </a:endParaRPr>
          </a:p>
          <a:p>
            <a:pPr>
              <a:lnSpc>
                <a:spcPct val="150000"/>
              </a:lnSpc>
            </a:pPr>
            <a:r>
              <a:rPr lang="zh-CN" altLang="en-US" sz="1200" dirty="0">
                <a:solidFill>
                  <a:schemeClr val="bg1"/>
                </a:solidFill>
                <a:latin typeface="宋体" panose="02010600030101010101" pitchFamily="2" charset="-122"/>
                <a:ea typeface="宋体" panose="02010600030101010101" pitchFamily="2" charset="-122"/>
                <a:cs typeface="阿里巴巴普惠体 Medium"/>
                <a:sym typeface="Arial"/>
              </a:rPr>
              <a:t>组员：连振清</a:t>
            </a:r>
            <a:endParaRPr lang="en-US" altLang="zh-CN" sz="1200" dirty="0">
              <a:solidFill>
                <a:schemeClr val="bg1"/>
              </a:solidFill>
              <a:latin typeface="宋体" panose="02010600030101010101" pitchFamily="2" charset="-122"/>
              <a:ea typeface="宋体" panose="02010600030101010101" pitchFamily="2" charset="-122"/>
              <a:cs typeface="阿里巴巴普惠体 Medium"/>
              <a:sym typeface="Arial"/>
            </a:endParaRPr>
          </a:p>
          <a:p>
            <a:pPr>
              <a:lnSpc>
                <a:spcPct val="150000"/>
              </a:lnSpc>
            </a:pPr>
            <a:r>
              <a:rPr lang="en-US" altLang="zh-CN" sz="1200" dirty="0">
                <a:solidFill>
                  <a:schemeClr val="bg1"/>
                </a:solidFill>
                <a:latin typeface="宋体" panose="02010600030101010101" pitchFamily="2" charset="-122"/>
                <a:ea typeface="宋体" panose="02010600030101010101" pitchFamily="2" charset="-122"/>
                <a:cs typeface="阿里巴巴普惠体 Medium"/>
                <a:sym typeface="Arial"/>
              </a:rPr>
              <a:t>PPT</a:t>
            </a:r>
            <a:r>
              <a:rPr lang="zh-CN" altLang="en-US" sz="1200" dirty="0">
                <a:solidFill>
                  <a:schemeClr val="bg1"/>
                </a:solidFill>
                <a:latin typeface="宋体" panose="02010600030101010101" pitchFamily="2" charset="-122"/>
                <a:ea typeface="宋体" panose="02010600030101010101" pitchFamily="2" charset="-122"/>
                <a:cs typeface="阿里巴巴普惠体 Medium"/>
                <a:sym typeface="Arial"/>
              </a:rPr>
              <a:t>：连振清</a:t>
            </a:r>
            <a:endParaRPr lang="en-US" altLang="zh-CN" sz="1200" dirty="0">
              <a:solidFill>
                <a:schemeClr val="bg1"/>
              </a:solidFill>
              <a:latin typeface="宋体" panose="02010600030101010101" pitchFamily="2" charset="-122"/>
              <a:ea typeface="宋体" panose="02010600030101010101" pitchFamily="2" charset="-122"/>
              <a:cs typeface="阿里巴巴普惠体 Medium"/>
              <a:sym typeface="Arial"/>
            </a:endParaRPr>
          </a:p>
          <a:p>
            <a:pPr>
              <a:lnSpc>
                <a:spcPct val="150000"/>
              </a:lnSpc>
            </a:pPr>
            <a:r>
              <a:rPr lang="zh-CN" altLang="en-US" sz="1200" dirty="0">
                <a:solidFill>
                  <a:schemeClr val="bg1"/>
                </a:solidFill>
                <a:latin typeface="宋体" panose="02010600030101010101" pitchFamily="2" charset="-122"/>
                <a:ea typeface="宋体" panose="02010600030101010101" pitchFamily="2" charset="-122"/>
                <a:cs typeface="阿里巴巴普惠体 Medium"/>
                <a:sym typeface="Arial"/>
              </a:rPr>
              <a:t>代码：连振清</a:t>
            </a:r>
            <a:endParaRPr lang="en-US" altLang="zh-CN" sz="1200" dirty="0">
              <a:solidFill>
                <a:schemeClr val="bg1"/>
              </a:solidFill>
              <a:latin typeface="宋体" panose="02010600030101010101" pitchFamily="2" charset="-122"/>
              <a:ea typeface="宋体" panose="02010600030101010101" pitchFamily="2" charset="-122"/>
              <a:cs typeface="阿里巴巴普惠体 Medium"/>
              <a:sym typeface="Arial"/>
            </a:endParaRPr>
          </a:p>
          <a:p>
            <a:pPr>
              <a:lnSpc>
                <a:spcPct val="150000"/>
              </a:lnSpc>
            </a:pPr>
            <a:r>
              <a:rPr lang="zh-CN" altLang="en-US" sz="1200" dirty="0">
                <a:solidFill>
                  <a:schemeClr val="bg1"/>
                </a:solidFill>
                <a:latin typeface="宋体" panose="02010600030101010101" pitchFamily="2" charset="-122"/>
                <a:ea typeface="宋体" panose="02010600030101010101" pitchFamily="2" charset="-122"/>
                <a:cs typeface="阿里巴巴普惠体 Medium"/>
                <a:sym typeface="Arial"/>
              </a:rPr>
              <a:t>演示：连振清</a:t>
            </a:r>
            <a:endParaRPr lang="en-US" altLang="zh-CN" sz="1200" dirty="0">
              <a:solidFill>
                <a:schemeClr val="bg1"/>
              </a:solidFill>
              <a:latin typeface="宋体" panose="02010600030101010101" pitchFamily="2" charset="-122"/>
              <a:ea typeface="宋体" panose="02010600030101010101" pitchFamily="2" charset="-122"/>
              <a:cs typeface="阿里巴巴普惠体 Medium"/>
              <a:sym typeface="Arial"/>
            </a:endParaRPr>
          </a:p>
        </p:txBody>
      </p:sp>
      <p:sp>
        <p:nvSpPr>
          <p:cNvPr id="28" name="文本框 27"/>
          <p:cNvSpPr txBox="1"/>
          <p:nvPr/>
        </p:nvSpPr>
        <p:spPr>
          <a:xfrm>
            <a:off x="6096000" y="3629057"/>
            <a:ext cx="3829396" cy="698717"/>
          </a:xfrm>
          <a:prstGeom prst="rect">
            <a:avLst/>
          </a:prstGeom>
          <a:noFill/>
        </p:spPr>
        <p:txBody>
          <a:bodyPr wrap="square" rtlCol="0">
            <a:spAutoFit/>
          </a:bodyPr>
          <a:lstStyle/>
          <a:p>
            <a:pPr>
              <a:lnSpc>
                <a:spcPct val="150000"/>
              </a:lnSpc>
            </a:pPr>
            <a:r>
              <a:rPr lang="zh-CN" altLang="en-US" sz="1400" b="1" dirty="0">
                <a:solidFill>
                  <a:schemeClr val="bg1"/>
                </a:solidFill>
                <a:latin typeface="Arial"/>
                <a:ea typeface="阿里巴巴普惠体 Medium"/>
                <a:cs typeface="阿里巴巴普惠体 Medium"/>
                <a:sym typeface="Arial"/>
              </a:rPr>
              <a:t>数据结构课程设计</a:t>
            </a:r>
            <a:r>
              <a:rPr lang="en-US" altLang="zh-CN" sz="1400" b="1" dirty="0">
                <a:solidFill>
                  <a:schemeClr val="bg1"/>
                </a:solidFill>
                <a:latin typeface="Arial"/>
                <a:ea typeface="阿里巴巴普惠体 Medium"/>
                <a:cs typeface="阿里巴巴普惠体 Medium"/>
                <a:sym typeface="Arial"/>
              </a:rPr>
              <a:t>.</a:t>
            </a:r>
          </a:p>
          <a:p>
            <a:pPr>
              <a:lnSpc>
                <a:spcPct val="150000"/>
              </a:lnSpc>
            </a:pPr>
            <a:r>
              <a:rPr lang="zh-CN" altLang="en-US" sz="1400" dirty="0">
                <a:solidFill>
                  <a:schemeClr val="bg1"/>
                </a:solidFill>
                <a:latin typeface="Arial"/>
                <a:ea typeface="阿里巴巴普惠体 Medium"/>
                <a:cs typeface="阿里巴巴普惠体 Medium"/>
                <a:sym typeface="Arial"/>
              </a:rPr>
              <a:t>汇编语言编译器</a:t>
            </a:r>
            <a:r>
              <a:rPr lang="en-US" altLang="zh-CN" sz="1400" dirty="0">
                <a:solidFill>
                  <a:schemeClr val="bg1"/>
                </a:solidFill>
                <a:latin typeface="Arial"/>
                <a:ea typeface="阿里巴巴普惠体 Medium"/>
                <a:cs typeface="阿里巴巴普惠体 Medium"/>
                <a:sym typeface="Arial"/>
              </a:rPr>
              <a:t>.</a:t>
            </a:r>
          </a:p>
        </p:txBody>
      </p:sp>
      <p:cxnSp>
        <p:nvCxnSpPr>
          <p:cNvPr id="30" name="直接连接符 29"/>
          <p:cNvCxnSpPr/>
          <p:nvPr/>
        </p:nvCxnSpPr>
        <p:spPr>
          <a:xfrm>
            <a:off x="6179126" y="4434273"/>
            <a:ext cx="93102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left)">
                                      <p:cBhvr>
                                        <p:cTn id="10" dur="500"/>
                                        <p:tgtEl>
                                          <p:spTgt spid="2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wipe(left)">
                                      <p:cBhvr>
                                        <p:cTn id="14" dur="500"/>
                                        <p:tgtEl>
                                          <p:spTgt spid="28"/>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75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up)">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25" grpId="0"/>
      <p:bldP spid="26" grpId="0"/>
      <p:bldP spid="27" grpId="0"/>
      <p:bldP spid="2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平行四边形 3"/>
          <p:cNvSpPr/>
          <p:nvPr/>
        </p:nvSpPr>
        <p:spPr>
          <a:xfrm>
            <a:off x="939051" y="2863651"/>
            <a:ext cx="2735100" cy="2498219"/>
          </a:xfrm>
          <a:prstGeom prst="parallelogram">
            <a:avLst>
              <a:gd name="adj" fmla="val 23620"/>
            </a:avLst>
          </a:prstGeom>
          <a:solidFill>
            <a:srgbClr val="FBF1E9">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10" name="泪滴形 9"/>
          <p:cNvSpPr/>
          <p:nvPr/>
        </p:nvSpPr>
        <p:spPr>
          <a:xfrm rot="473979">
            <a:off x="7176086" y="5350326"/>
            <a:ext cx="1556311" cy="1298771"/>
          </a:xfrm>
          <a:prstGeom prst="teardrop">
            <a:avLst>
              <a:gd name="adj" fmla="val 179757"/>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11" name="文本框 10"/>
          <p:cNvSpPr txBox="1"/>
          <p:nvPr/>
        </p:nvSpPr>
        <p:spPr>
          <a:xfrm>
            <a:off x="1088409" y="1288179"/>
            <a:ext cx="3870091" cy="1076325"/>
          </a:xfrm>
          <a:prstGeom prst="rect">
            <a:avLst/>
          </a:prstGeom>
          <a:noFill/>
        </p:spPr>
        <p:txBody>
          <a:bodyPr wrap="square" rtlCol="0">
            <a:spAutoFit/>
          </a:bodyPr>
          <a:lstStyle/>
          <a:p>
            <a:pPr algn="dist"/>
            <a:r>
              <a:rPr lang="en-US" altLang="zh-CN" sz="3200" b="1" dirty="0">
                <a:solidFill>
                  <a:schemeClr val="bg1"/>
                </a:solidFill>
                <a:latin typeface="阿里巴巴普惠体 Heavy" pitchFamily="18" charset="-122"/>
                <a:ea typeface="阿里巴巴普惠体 Heavy" pitchFamily="18" charset="-122"/>
                <a:cs typeface="阿里巴巴普惠体 Heavy" pitchFamily="18" charset="-122"/>
                <a:sym typeface="Arial"/>
              </a:rPr>
              <a:t>目录</a:t>
            </a:r>
          </a:p>
          <a:p>
            <a:pPr algn="dist"/>
            <a:r>
              <a:rPr lang="en-US" altLang="zh-CN" sz="3200" b="1" dirty="0">
                <a:solidFill>
                  <a:schemeClr val="bg1"/>
                </a:solidFill>
                <a:latin typeface="阿里巴巴普惠体 Heavy" pitchFamily="18" charset="-122"/>
                <a:ea typeface="阿里巴巴普惠体 Heavy" pitchFamily="18" charset="-122"/>
                <a:cs typeface="阿里巴巴普惠体 Heavy" pitchFamily="18" charset="-122"/>
                <a:sym typeface="Arial"/>
              </a:rPr>
              <a:t>CONTENT</a:t>
            </a:r>
          </a:p>
        </p:txBody>
      </p:sp>
      <p:sp>
        <p:nvSpPr>
          <p:cNvPr id="12" name="文本框 11"/>
          <p:cNvSpPr txBox="1"/>
          <p:nvPr/>
        </p:nvSpPr>
        <p:spPr>
          <a:xfrm>
            <a:off x="1547578" y="3165284"/>
            <a:ext cx="1335361" cy="769441"/>
          </a:xfrm>
          <a:prstGeom prst="rect">
            <a:avLst/>
          </a:prstGeom>
          <a:noFill/>
        </p:spPr>
        <p:txBody>
          <a:bodyPr wrap="square" rtlCol="0">
            <a:spAutoFit/>
          </a:bodyPr>
          <a:lstStyle/>
          <a:p>
            <a:pPr algn="ctr"/>
            <a:r>
              <a:rPr lang="en-US" altLang="zh-CN" sz="4400" dirty="0">
                <a:solidFill>
                  <a:schemeClr val="bg1"/>
                </a:solidFill>
                <a:latin typeface="Arial"/>
                <a:ea typeface="阿里巴巴普惠体 Medium"/>
                <a:cs typeface="阿里巴巴普惠体 Medium"/>
                <a:sym typeface="Arial"/>
              </a:rPr>
              <a:t>01</a:t>
            </a:r>
          </a:p>
        </p:txBody>
      </p:sp>
      <p:cxnSp>
        <p:nvCxnSpPr>
          <p:cNvPr id="13" name="直接连接符 12"/>
          <p:cNvCxnSpPr/>
          <p:nvPr/>
        </p:nvCxnSpPr>
        <p:spPr>
          <a:xfrm>
            <a:off x="1971417" y="4112759"/>
            <a:ext cx="4392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274275" y="4315678"/>
            <a:ext cx="1881967" cy="830997"/>
          </a:xfrm>
          <a:prstGeom prst="rect">
            <a:avLst/>
          </a:prstGeom>
          <a:noFill/>
        </p:spPr>
        <p:txBody>
          <a:bodyPr wrap="square" rtlCol="0">
            <a:spAutoFit/>
          </a:bodyPr>
          <a:lstStyle/>
          <a:p>
            <a:pPr algn="ctr"/>
            <a:r>
              <a:rPr lang="zh-CN" altLang="en-US" sz="2400" dirty="0">
                <a:solidFill>
                  <a:schemeClr val="bg1"/>
                </a:solidFill>
                <a:latin typeface="阿里巴巴普惠体 Heavy" pitchFamily="18" charset="-122"/>
                <a:ea typeface="阿里巴巴普惠体 Heavy" pitchFamily="18" charset="-122"/>
                <a:cs typeface="阿里巴巴普惠体 Heavy" pitchFamily="18" charset="-122"/>
                <a:sym typeface="Arial"/>
              </a:rPr>
              <a:t>为什么选择设计编译器</a:t>
            </a:r>
          </a:p>
        </p:txBody>
      </p:sp>
      <p:sp>
        <p:nvSpPr>
          <p:cNvPr id="18" name="平行四边形 17"/>
          <p:cNvSpPr/>
          <p:nvPr/>
        </p:nvSpPr>
        <p:spPr>
          <a:xfrm>
            <a:off x="3488310" y="2863651"/>
            <a:ext cx="2735100" cy="2498219"/>
          </a:xfrm>
          <a:prstGeom prst="parallelogram">
            <a:avLst>
              <a:gd name="adj" fmla="val 26573"/>
            </a:avLst>
          </a:prstGeom>
          <a:solidFill>
            <a:srgbClr val="FBF1E9">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19" name="文本框 18"/>
          <p:cNvSpPr txBox="1"/>
          <p:nvPr/>
        </p:nvSpPr>
        <p:spPr>
          <a:xfrm>
            <a:off x="4096837" y="3165284"/>
            <a:ext cx="1335361" cy="769441"/>
          </a:xfrm>
          <a:prstGeom prst="rect">
            <a:avLst/>
          </a:prstGeom>
          <a:noFill/>
        </p:spPr>
        <p:txBody>
          <a:bodyPr wrap="square" rtlCol="0">
            <a:spAutoFit/>
          </a:bodyPr>
          <a:lstStyle/>
          <a:p>
            <a:pPr algn="ctr"/>
            <a:r>
              <a:rPr lang="en-US" altLang="zh-CN" sz="4400" dirty="0">
                <a:solidFill>
                  <a:schemeClr val="bg1"/>
                </a:solidFill>
                <a:latin typeface="Arial"/>
                <a:ea typeface="阿里巴巴普惠体 Medium"/>
                <a:cs typeface="阿里巴巴普惠体 Medium"/>
                <a:sym typeface="Arial"/>
              </a:rPr>
              <a:t>02</a:t>
            </a:r>
          </a:p>
        </p:txBody>
      </p:sp>
      <p:cxnSp>
        <p:nvCxnSpPr>
          <p:cNvPr id="20" name="直接连接符 19"/>
          <p:cNvCxnSpPr/>
          <p:nvPr/>
        </p:nvCxnSpPr>
        <p:spPr>
          <a:xfrm>
            <a:off x="4520675" y="4112759"/>
            <a:ext cx="4392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3674152" y="4315678"/>
            <a:ext cx="2031350" cy="830997"/>
          </a:xfrm>
          <a:prstGeom prst="rect">
            <a:avLst/>
          </a:prstGeom>
          <a:noFill/>
        </p:spPr>
        <p:txBody>
          <a:bodyPr wrap="square" rtlCol="0">
            <a:spAutoFit/>
          </a:bodyPr>
          <a:lstStyle>
            <a:defPPr>
              <a:defRPr lang="zh-CN"/>
            </a:defPPr>
            <a:lvl1pPr algn="ctr">
              <a:defRPr sz="2400">
                <a:solidFill>
                  <a:schemeClr val="bg1"/>
                </a:solidFill>
                <a:latin typeface="阿里巴巴普惠体 Heavy" pitchFamily="18" charset="-122"/>
                <a:ea typeface="阿里巴巴普惠体 Heavy" pitchFamily="18" charset="-122"/>
                <a:cs typeface="阿里巴巴普惠体 Heavy" pitchFamily="18" charset="-122"/>
              </a:defRPr>
            </a:lvl1pPr>
          </a:lstStyle>
          <a:p>
            <a:r>
              <a:rPr lang="zh-CN" altLang="en-US" dirty="0">
                <a:sym typeface="Arial"/>
              </a:rPr>
              <a:t>介绍编译器基本功能与语法</a:t>
            </a:r>
          </a:p>
        </p:txBody>
      </p:sp>
      <p:sp>
        <p:nvSpPr>
          <p:cNvPr id="22" name="平行四边形 21"/>
          <p:cNvSpPr/>
          <p:nvPr/>
        </p:nvSpPr>
        <p:spPr>
          <a:xfrm>
            <a:off x="6037567" y="2863651"/>
            <a:ext cx="2735100" cy="2498219"/>
          </a:xfrm>
          <a:prstGeom prst="parallelogram">
            <a:avLst>
              <a:gd name="adj" fmla="val 27931"/>
            </a:avLst>
          </a:prstGeom>
          <a:solidFill>
            <a:srgbClr val="FBF1E9">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23" name="文本框 22"/>
          <p:cNvSpPr txBox="1"/>
          <p:nvPr/>
        </p:nvSpPr>
        <p:spPr>
          <a:xfrm>
            <a:off x="6646094" y="3165284"/>
            <a:ext cx="1335361" cy="769441"/>
          </a:xfrm>
          <a:prstGeom prst="rect">
            <a:avLst/>
          </a:prstGeom>
          <a:noFill/>
        </p:spPr>
        <p:txBody>
          <a:bodyPr wrap="square" rtlCol="0">
            <a:spAutoFit/>
          </a:bodyPr>
          <a:lstStyle/>
          <a:p>
            <a:pPr algn="ctr"/>
            <a:r>
              <a:rPr lang="en-US" altLang="zh-CN" sz="4400" dirty="0">
                <a:solidFill>
                  <a:schemeClr val="bg1"/>
                </a:solidFill>
                <a:latin typeface="Arial"/>
                <a:ea typeface="阿里巴巴普惠体 Medium"/>
                <a:cs typeface="阿里巴巴普惠体 Medium"/>
                <a:sym typeface="Arial"/>
              </a:rPr>
              <a:t>03</a:t>
            </a:r>
          </a:p>
        </p:txBody>
      </p:sp>
      <p:cxnSp>
        <p:nvCxnSpPr>
          <p:cNvPr id="24" name="直接连接符 23"/>
          <p:cNvCxnSpPr/>
          <p:nvPr/>
        </p:nvCxnSpPr>
        <p:spPr>
          <a:xfrm>
            <a:off x="7069933" y="4112759"/>
            <a:ext cx="4392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6223411" y="4315678"/>
            <a:ext cx="2031348" cy="830997"/>
          </a:xfrm>
          <a:prstGeom prst="rect">
            <a:avLst/>
          </a:prstGeom>
          <a:noFill/>
        </p:spPr>
        <p:txBody>
          <a:bodyPr wrap="square" rtlCol="0">
            <a:spAutoFit/>
          </a:bodyPr>
          <a:lstStyle>
            <a:defPPr>
              <a:defRPr lang="zh-CN"/>
            </a:defPPr>
            <a:lvl1pPr algn="ctr">
              <a:defRPr sz="2400">
                <a:solidFill>
                  <a:schemeClr val="bg1"/>
                </a:solidFill>
                <a:latin typeface="阿里巴巴普惠体 Heavy" pitchFamily="18" charset="-122"/>
                <a:ea typeface="阿里巴巴普惠体 Heavy" pitchFamily="18" charset="-122"/>
                <a:cs typeface="阿里巴巴普惠体 Heavy" pitchFamily="18" charset="-122"/>
              </a:defRPr>
            </a:lvl1pPr>
          </a:lstStyle>
          <a:p>
            <a:r>
              <a:rPr lang="zh-CN" altLang="en-US" dirty="0">
                <a:sym typeface="Arial"/>
              </a:rPr>
              <a:t>编译器编写时函数与结构</a:t>
            </a:r>
          </a:p>
        </p:txBody>
      </p:sp>
      <p:sp>
        <p:nvSpPr>
          <p:cNvPr id="26" name="平行四边形 25"/>
          <p:cNvSpPr/>
          <p:nvPr/>
        </p:nvSpPr>
        <p:spPr>
          <a:xfrm>
            <a:off x="8586826" y="2863651"/>
            <a:ext cx="2735100" cy="2498219"/>
          </a:xfrm>
          <a:prstGeom prst="parallelogram">
            <a:avLst>
              <a:gd name="adj" fmla="val 29408"/>
            </a:avLst>
          </a:prstGeom>
          <a:solidFill>
            <a:srgbClr val="FBF1E9">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27" name="文本框 26"/>
          <p:cNvSpPr txBox="1"/>
          <p:nvPr/>
        </p:nvSpPr>
        <p:spPr>
          <a:xfrm>
            <a:off x="9195353" y="3165284"/>
            <a:ext cx="1335361" cy="769441"/>
          </a:xfrm>
          <a:prstGeom prst="rect">
            <a:avLst/>
          </a:prstGeom>
          <a:noFill/>
        </p:spPr>
        <p:txBody>
          <a:bodyPr wrap="square" rtlCol="0">
            <a:spAutoFit/>
          </a:bodyPr>
          <a:lstStyle/>
          <a:p>
            <a:pPr algn="ctr"/>
            <a:r>
              <a:rPr lang="en-US" altLang="zh-CN" sz="4400" dirty="0">
                <a:solidFill>
                  <a:schemeClr val="bg1"/>
                </a:solidFill>
                <a:latin typeface="Arial"/>
                <a:ea typeface="阿里巴巴普惠体 Medium"/>
                <a:cs typeface="阿里巴巴普惠体 Medium"/>
                <a:sym typeface="Arial"/>
              </a:rPr>
              <a:t>04</a:t>
            </a:r>
          </a:p>
        </p:txBody>
      </p:sp>
      <p:cxnSp>
        <p:nvCxnSpPr>
          <p:cNvPr id="28" name="直接连接符 27"/>
          <p:cNvCxnSpPr/>
          <p:nvPr/>
        </p:nvCxnSpPr>
        <p:spPr>
          <a:xfrm>
            <a:off x="9619191" y="4112759"/>
            <a:ext cx="4392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8922050" y="4315678"/>
            <a:ext cx="1881967" cy="460375"/>
          </a:xfrm>
          <a:prstGeom prst="rect">
            <a:avLst/>
          </a:prstGeom>
          <a:noFill/>
        </p:spPr>
        <p:txBody>
          <a:bodyPr wrap="square" rtlCol="0">
            <a:spAutoFit/>
          </a:bodyPr>
          <a:lstStyle>
            <a:defPPr>
              <a:defRPr lang="zh-CN"/>
            </a:defPPr>
            <a:lvl1pPr algn="ctr">
              <a:defRPr sz="2400">
                <a:solidFill>
                  <a:schemeClr val="bg1"/>
                </a:solidFill>
                <a:latin typeface="阿里巴巴普惠体 Heavy" pitchFamily="18" charset="-122"/>
                <a:ea typeface="阿里巴巴普惠体 Heavy" pitchFamily="18" charset="-122"/>
                <a:cs typeface="阿里巴巴普惠体 Heavy" pitchFamily="18" charset="-122"/>
              </a:defRPr>
            </a:lvl1pPr>
          </a:lstStyle>
          <a:p>
            <a:r>
              <a:rPr lang="zh-CN" altLang="en-US" dirty="0">
                <a:sym typeface="Arial"/>
              </a:rPr>
              <a:t>谢谢观赏</a:t>
            </a:r>
          </a:p>
        </p:txBody>
      </p:sp>
      <p:sp>
        <p:nvSpPr>
          <p:cNvPr id="30" name="TextBox 3">
            <a:extLst>
              <a:ext uri="{FF2B5EF4-FFF2-40B4-BE49-F238E27FC236}">
                <a16:creationId xmlns:a16="http://schemas.microsoft.com/office/drawing/2014/main" id="{0E1C5434-DA25-B420-5682-E39DEFD708B8}"/>
              </a:ext>
            </a:extLst>
          </p:cNvPr>
          <p:cNvSpPr txBox="1"/>
          <p:nvPr/>
        </p:nvSpPr>
        <p:spPr>
          <a:xfrm>
            <a:off x="18997" y="0"/>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randombar(horizontal)">
                                      <p:cBhvr>
                                        <p:cTn id="14" dur="500"/>
                                        <p:tgtEl>
                                          <p:spTgt spid="4"/>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left)">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randombar(horizontal)">
                                      <p:cBhvr>
                                        <p:cTn id="33" dur="500"/>
                                        <p:tgtEl>
                                          <p:spTgt spid="18"/>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1000"/>
                                        <p:tgtEl>
                                          <p:spTgt spid="20"/>
                                        </p:tgtEl>
                                      </p:cBhvr>
                                    </p:animEffect>
                                    <p:anim calcmode="lin" valueType="num">
                                      <p:cBhvr>
                                        <p:cTn id="42" dur="1000" fill="hold"/>
                                        <p:tgtEl>
                                          <p:spTgt spid="20"/>
                                        </p:tgtEl>
                                        <p:attrNameLst>
                                          <p:attrName>ppt_x</p:attrName>
                                        </p:attrNameLst>
                                      </p:cBhvr>
                                      <p:tavLst>
                                        <p:tav tm="0">
                                          <p:val>
                                            <p:strVal val="#ppt_x"/>
                                          </p:val>
                                        </p:tav>
                                        <p:tav tm="100000">
                                          <p:val>
                                            <p:strVal val="#ppt_x"/>
                                          </p:val>
                                        </p:tav>
                                      </p:tavLst>
                                    </p:anim>
                                    <p:anim calcmode="lin" valueType="num">
                                      <p:cBhvr>
                                        <p:cTn id="43" dur="1000" fill="hold"/>
                                        <p:tgtEl>
                                          <p:spTgt spid="20"/>
                                        </p:tgtEl>
                                        <p:attrNameLst>
                                          <p:attrName>ppt_y</p:attrName>
                                        </p:attrNameLst>
                                      </p:cBhvr>
                                      <p:tavLst>
                                        <p:tav tm="0">
                                          <p:val>
                                            <p:strVal val="#ppt_y+.1"/>
                                          </p:val>
                                        </p:tav>
                                        <p:tav tm="100000">
                                          <p:val>
                                            <p:strVal val="#ppt_y"/>
                                          </p:val>
                                        </p:tav>
                                      </p:tavLst>
                                    </p:anim>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randombar(horizontal)">
                                      <p:cBhvr>
                                        <p:cTn id="52" dur="500"/>
                                        <p:tgtEl>
                                          <p:spTgt spid="22"/>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left)">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1000"/>
                                        <p:tgtEl>
                                          <p:spTgt spid="24"/>
                                        </p:tgtEl>
                                      </p:cBhvr>
                                    </p:animEffect>
                                    <p:anim calcmode="lin" valueType="num">
                                      <p:cBhvr>
                                        <p:cTn id="61" dur="1000" fill="hold"/>
                                        <p:tgtEl>
                                          <p:spTgt spid="24"/>
                                        </p:tgtEl>
                                        <p:attrNameLst>
                                          <p:attrName>ppt_x</p:attrName>
                                        </p:attrNameLst>
                                      </p:cBhvr>
                                      <p:tavLst>
                                        <p:tav tm="0">
                                          <p:val>
                                            <p:strVal val="#ppt_x"/>
                                          </p:val>
                                        </p:tav>
                                        <p:tav tm="100000">
                                          <p:val>
                                            <p:strVal val="#ppt_x"/>
                                          </p:val>
                                        </p:tav>
                                      </p:tavLst>
                                    </p:anim>
                                    <p:anim calcmode="lin" valueType="num">
                                      <p:cBhvr>
                                        <p:cTn id="62" dur="1000" fill="hold"/>
                                        <p:tgtEl>
                                          <p:spTgt spid="24"/>
                                        </p:tgtEl>
                                        <p:attrNameLst>
                                          <p:attrName>ppt_y</p:attrName>
                                        </p:attrNameLst>
                                      </p:cBhvr>
                                      <p:tavLst>
                                        <p:tav tm="0">
                                          <p:val>
                                            <p:strVal val="#ppt_y+.1"/>
                                          </p:val>
                                        </p:tav>
                                        <p:tav tm="100000">
                                          <p:val>
                                            <p:strVal val="#ppt_y"/>
                                          </p:val>
                                        </p:tav>
                                      </p:tavLst>
                                    </p:anim>
                                  </p:childTnLst>
                                </p:cTn>
                              </p:par>
                            </p:childTnLst>
                          </p:cTn>
                        </p:par>
                        <p:par>
                          <p:cTn id="63" fill="hold">
                            <p:stCondLst>
                              <p:cond delay="1000"/>
                            </p:stCondLst>
                            <p:childTnLst>
                              <p:par>
                                <p:cTn id="64" presetID="22" presetClass="entr" presetSubtype="8" fill="hold" grpId="0" nodeType="after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left)">
                                      <p:cBhvr>
                                        <p:cTn id="66" dur="500"/>
                                        <p:tgtEl>
                                          <p:spTgt spid="25"/>
                                        </p:tgtEl>
                                      </p:cBhvr>
                                    </p:animEffect>
                                  </p:childTnLst>
                                </p:cTn>
                              </p:par>
                            </p:childTnLst>
                          </p:cTn>
                        </p:par>
                      </p:childTnLst>
                    </p:cTn>
                  </p:par>
                  <p:par>
                    <p:cTn id="67" fill="hold">
                      <p:stCondLst>
                        <p:cond delay="indefinite"/>
                      </p:stCondLst>
                      <p:childTnLst>
                        <p:par>
                          <p:cTn id="68" fill="hold">
                            <p:stCondLst>
                              <p:cond delay="0"/>
                            </p:stCondLst>
                            <p:childTnLst>
                              <p:par>
                                <p:cTn id="69" presetID="14" presetClass="entr" presetSubtype="10"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randombar(horizontal)">
                                      <p:cBhvr>
                                        <p:cTn id="71" dur="500"/>
                                        <p:tgtEl>
                                          <p:spTgt spid="26"/>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wipe(left)">
                                      <p:cBhvr>
                                        <p:cTn id="74" dur="500"/>
                                        <p:tgtEl>
                                          <p:spTgt spid="27"/>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1000"/>
                                        <p:tgtEl>
                                          <p:spTgt spid="28"/>
                                        </p:tgtEl>
                                      </p:cBhvr>
                                    </p:animEffect>
                                    <p:anim calcmode="lin" valueType="num">
                                      <p:cBhvr>
                                        <p:cTn id="80" dur="1000" fill="hold"/>
                                        <p:tgtEl>
                                          <p:spTgt spid="28"/>
                                        </p:tgtEl>
                                        <p:attrNameLst>
                                          <p:attrName>ppt_x</p:attrName>
                                        </p:attrNameLst>
                                      </p:cBhvr>
                                      <p:tavLst>
                                        <p:tav tm="0">
                                          <p:val>
                                            <p:strVal val="#ppt_x"/>
                                          </p:val>
                                        </p:tav>
                                        <p:tav tm="100000">
                                          <p:val>
                                            <p:strVal val="#ppt_x"/>
                                          </p:val>
                                        </p:tav>
                                      </p:tavLst>
                                    </p:anim>
                                    <p:anim calcmode="lin" valueType="num">
                                      <p:cBhvr>
                                        <p:cTn id="81" dur="1000" fill="hold"/>
                                        <p:tgtEl>
                                          <p:spTgt spid="28"/>
                                        </p:tgtEl>
                                        <p:attrNameLst>
                                          <p:attrName>ppt_y</p:attrName>
                                        </p:attrNameLst>
                                      </p:cBhvr>
                                      <p:tavLst>
                                        <p:tav tm="0">
                                          <p:val>
                                            <p:strVal val="#ppt_y+.1"/>
                                          </p:val>
                                        </p:tav>
                                        <p:tav tm="100000">
                                          <p:val>
                                            <p:strVal val="#ppt_y"/>
                                          </p:val>
                                        </p:tav>
                                      </p:tavLst>
                                    </p:anim>
                                  </p:childTnLst>
                                </p:cTn>
                              </p:par>
                            </p:childTnLst>
                          </p:cTn>
                        </p:par>
                        <p:par>
                          <p:cTn id="82" fill="hold">
                            <p:stCondLst>
                              <p:cond delay="1000"/>
                            </p:stCondLst>
                            <p:childTnLst>
                              <p:par>
                                <p:cTn id="83" presetID="22" presetClass="entr" presetSubtype="8" fill="hold" grpId="0" nodeType="after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wipe(left)">
                                      <p:cBhvr>
                                        <p:cTn id="8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1" grpId="0"/>
      <p:bldP spid="12" grpId="0"/>
      <p:bldP spid="15" grpId="0"/>
      <p:bldP spid="18" grpId="0" bldLvl="0" animBg="1"/>
      <p:bldP spid="19" grpId="0"/>
      <p:bldP spid="21" grpId="0"/>
      <p:bldP spid="22" grpId="0" bldLvl="0" animBg="1"/>
      <p:bldP spid="23" grpId="0"/>
      <p:bldP spid="25" grpId="0"/>
      <p:bldP spid="26" grpId="0" bldLvl="0" animBg="1"/>
      <p:bldP spid="27"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7727" y="2403868"/>
            <a:ext cx="3870091" cy="923330"/>
          </a:xfrm>
          <a:prstGeom prst="rect">
            <a:avLst/>
          </a:prstGeom>
          <a:noFill/>
        </p:spPr>
        <p:txBody>
          <a:bodyPr wrap="square" rtlCol="0">
            <a:spAutoFit/>
          </a:bodyPr>
          <a:lstStyle>
            <a:defPPr>
              <a:defRPr lang="zh-CN"/>
            </a:defPPr>
            <a:lvl1pPr algn="dist">
              <a:defRPr sz="5400">
                <a:solidFill>
                  <a:schemeClr val="bg1"/>
                </a:solidFill>
                <a:latin typeface="阿里巴巴普惠体 Heavy" pitchFamily="18" charset="-122"/>
                <a:ea typeface="阿里巴巴普惠体 Heavy" pitchFamily="18" charset="-122"/>
                <a:cs typeface="阿里巴巴普惠体 Heavy" pitchFamily="18" charset="-122"/>
              </a:defRPr>
            </a:lvl1pPr>
          </a:lstStyle>
          <a:p>
            <a:r>
              <a:rPr lang="zh-CN" altLang="en-US" b="1" dirty="0">
                <a:sym typeface="Arial"/>
              </a:rPr>
              <a:t>为什么</a:t>
            </a:r>
          </a:p>
        </p:txBody>
      </p:sp>
      <p:sp>
        <p:nvSpPr>
          <p:cNvPr id="6" name="平行四边形 5"/>
          <p:cNvSpPr/>
          <p:nvPr/>
        </p:nvSpPr>
        <p:spPr>
          <a:xfrm flipH="1">
            <a:off x="881143" y="13882"/>
            <a:ext cx="5137269" cy="6858001"/>
          </a:xfrm>
          <a:prstGeom prst="parallelogram">
            <a:avLst>
              <a:gd name="adj" fmla="val 40381"/>
            </a:avLst>
          </a:prstGeom>
          <a:solidFill>
            <a:srgbClr val="FBF1E9">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10" name="文本框 9"/>
          <p:cNvSpPr txBox="1"/>
          <p:nvPr/>
        </p:nvSpPr>
        <p:spPr>
          <a:xfrm>
            <a:off x="1514733" y="1570812"/>
            <a:ext cx="3870091" cy="3154710"/>
          </a:xfrm>
          <a:prstGeom prst="rect">
            <a:avLst/>
          </a:prstGeom>
          <a:noFill/>
        </p:spPr>
        <p:txBody>
          <a:bodyPr wrap="square" rtlCol="0">
            <a:spAutoFit/>
          </a:bodyPr>
          <a:lstStyle/>
          <a:p>
            <a:pPr algn="ctr"/>
            <a:r>
              <a:rPr lang="en-US" altLang="zh-CN" sz="19900" b="1" dirty="0">
                <a:solidFill>
                  <a:schemeClr val="bg1"/>
                </a:solidFill>
                <a:latin typeface="Arial"/>
                <a:ea typeface="阿里巴巴普惠体 Medium"/>
                <a:cs typeface="阿里巴巴普惠体 Medium"/>
                <a:sym typeface="Arial"/>
              </a:rPr>
              <a:t>01</a:t>
            </a:r>
          </a:p>
        </p:txBody>
      </p:sp>
      <p:sp>
        <p:nvSpPr>
          <p:cNvPr id="11" name="文本框 10"/>
          <p:cNvSpPr txBox="1"/>
          <p:nvPr/>
        </p:nvSpPr>
        <p:spPr>
          <a:xfrm>
            <a:off x="5438421" y="3442882"/>
            <a:ext cx="4054713" cy="375552"/>
          </a:xfrm>
          <a:prstGeom prst="rect">
            <a:avLst/>
          </a:prstGeom>
          <a:noFill/>
        </p:spPr>
        <p:txBody>
          <a:bodyPr wrap="square" rtlCol="0">
            <a:spAutoFit/>
          </a:bodyPr>
          <a:lstStyle/>
          <a:p>
            <a:pPr>
              <a:lnSpc>
                <a:spcPct val="150000"/>
              </a:lnSpc>
            </a:pPr>
            <a:r>
              <a:rPr lang="en-US" altLang="zh-CN" sz="1400" dirty="0">
                <a:solidFill>
                  <a:schemeClr val="bg1"/>
                </a:solidFill>
                <a:latin typeface="Arial"/>
                <a:ea typeface="阿里巴巴普惠体 Medium"/>
                <a:cs typeface="阿里巴巴普惠体 Medium"/>
                <a:sym typeface="Arial"/>
              </a:rPr>
              <a:t> </a:t>
            </a:r>
            <a:r>
              <a:rPr lang="zh-CN" altLang="en-US" sz="1400" dirty="0">
                <a:solidFill>
                  <a:schemeClr val="bg1"/>
                </a:solidFill>
                <a:latin typeface="Arial"/>
                <a:ea typeface="阿里巴巴普惠体 Medium"/>
                <a:cs typeface="阿里巴巴普惠体 Medium"/>
                <a:sym typeface="Arial"/>
              </a:rPr>
              <a:t>为什么是编译器？</a:t>
            </a:r>
            <a:endParaRPr lang="en-US" altLang="zh-CN" sz="1400" dirty="0">
              <a:solidFill>
                <a:schemeClr val="bg1"/>
              </a:solidFill>
              <a:latin typeface="Arial"/>
              <a:ea typeface="阿里巴巴普惠体 Medium"/>
              <a:cs typeface="阿里巴巴普惠体 Medium"/>
              <a:sym typeface="Arial"/>
            </a:endParaRPr>
          </a:p>
        </p:txBody>
      </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randombar(horizont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ldLvl="0" animBg="1"/>
      <p:bldP spid="10"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C4A06E54-0DB1-C0DB-162C-772A132CDBD5}"/>
              </a:ext>
            </a:extLst>
          </p:cNvPr>
          <p:cNvPicPr>
            <a:picLocks noChangeAspect="1"/>
          </p:cNvPicPr>
          <p:nvPr/>
        </p:nvPicPr>
        <p:blipFill>
          <a:blip r:embed="rId2"/>
          <a:stretch>
            <a:fillRect/>
          </a:stretch>
        </p:blipFill>
        <p:spPr>
          <a:xfrm>
            <a:off x="7221995" y="1126787"/>
            <a:ext cx="4970005" cy="1961843"/>
          </a:xfrm>
          <a:prstGeom prst="rect">
            <a:avLst/>
          </a:prstGeom>
        </p:spPr>
      </p:pic>
      <p:grpSp>
        <p:nvGrpSpPr>
          <p:cNvPr id="3" name="组合 2"/>
          <p:cNvGrpSpPr/>
          <p:nvPr/>
        </p:nvGrpSpPr>
        <p:grpSpPr>
          <a:xfrm>
            <a:off x="1811257" y="1928120"/>
            <a:ext cx="3586395" cy="3206630"/>
            <a:chOff x="789606" y="1491467"/>
            <a:chExt cx="4314120" cy="3857296"/>
          </a:xfrm>
        </p:grpSpPr>
        <p:pic>
          <p:nvPicPr>
            <p:cNvPr id="4" name="图片 3"/>
            <p:cNvPicPr>
              <a:picLocks noChangeAspect="1"/>
            </p:cNvPicPr>
            <p:nvPr/>
          </p:nvPicPr>
          <p:blipFill rotWithShape="1">
            <a:blip r:embed="rId3" cstate="email">
              <a:extLst>
                <a:ext uri="{28A0092B-C50C-407E-A947-70E740481C1C}">
                  <a14:useLocalDpi xmlns:a14="http://schemas.microsoft.com/office/drawing/2010/main"/>
                </a:ext>
              </a:extLst>
            </a:blip>
            <a:srcRect/>
            <a:stretch>
              <a:fillRect/>
            </a:stretch>
          </p:blipFill>
          <p:spPr>
            <a:xfrm rot="7431029">
              <a:off x="1246430" y="1491467"/>
              <a:ext cx="3857296" cy="3857296"/>
            </a:xfrm>
            <a:prstGeom prst="ellipse">
              <a:avLst/>
            </a:prstGeom>
            <a:effectLst>
              <a:outerShdw blurRad="635000" dist="254000" dir="3000000" algn="ctr" rotWithShape="0">
                <a:schemeClr val="tx1">
                  <a:lumMod val="75000"/>
                  <a:lumOff val="25000"/>
                  <a:alpha val="30000"/>
                </a:schemeClr>
              </a:outerShdw>
            </a:effectLst>
          </p:spPr>
        </p:pic>
        <p:sp>
          <p:nvSpPr>
            <p:cNvPr id="5" name="泪滴形 4"/>
            <p:cNvSpPr/>
            <p:nvPr/>
          </p:nvSpPr>
          <p:spPr>
            <a:xfrm rot="4070460">
              <a:off x="777305" y="1703571"/>
              <a:ext cx="922918" cy="898316"/>
            </a:xfrm>
            <a:prstGeom prst="teardrop">
              <a:avLst>
                <a:gd name="adj" fmla="val 180000"/>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grpSp>
      <p:grpSp>
        <p:nvGrpSpPr>
          <p:cNvPr id="6" name="组合 5"/>
          <p:cNvGrpSpPr/>
          <p:nvPr/>
        </p:nvGrpSpPr>
        <p:grpSpPr>
          <a:xfrm rot="4116357">
            <a:off x="1031518" y="4884235"/>
            <a:ext cx="1001745" cy="895671"/>
            <a:chOff x="789606" y="1491467"/>
            <a:chExt cx="4314120" cy="3857296"/>
          </a:xfrm>
        </p:grpSpPr>
        <p:pic>
          <p:nvPicPr>
            <p:cNvPr id="7" name="图片 6"/>
            <p:cNvPicPr>
              <a:picLocks noChangeAspect="1"/>
            </p:cNvPicPr>
            <p:nvPr/>
          </p:nvPicPr>
          <p:blipFill rotWithShape="1">
            <a:blip r:embed="rId4" cstate="email">
              <a:extLst>
                <a:ext uri="{28A0092B-C50C-407E-A947-70E740481C1C}">
                  <a14:useLocalDpi xmlns:a14="http://schemas.microsoft.com/office/drawing/2010/main"/>
                </a:ext>
              </a:extLst>
            </a:blip>
            <a:srcRect/>
            <a:stretch>
              <a:fillRect/>
            </a:stretch>
          </p:blipFill>
          <p:spPr>
            <a:xfrm rot="7431029">
              <a:off x="1246430" y="1491467"/>
              <a:ext cx="3857296" cy="3857296"/>
            </a:xfrm>
            <a:prstGeom prst="ellipse">
              <a:avLst/>
            </a:prstGeom>
            <a:effectLst>
              <a:outerShdw blurRad="635000" dist="254000" dir="3000000" algn="ctr" rotWithShape="0">
                <a:schemeClr val="tx1">
                  <a:lumMod val="75000"/>
                  <a:lumOff val="25000"/>
                  <a:alpha val="30000"/>
                </a:schemeClr>
              </a:outerShdw>
            </a:effectLst>
          </p:spPr>
        </p:pic>
        <p:sp>
          <p:nvSpPr>
            <p:cNvPr id="8" name="泪滴形 7"/>
            <p:cNvSpPr/>
            <p:nvPr/>
          </p:nvSpPr>
          <p:spPr>
            <a:xfrm rot="4070460">
              <a:off x="777305" y="1703571"/>
              <a:ext cx="922918" cy="898316"/>
            </a:xfrm>
            <a:prstGeom prst="teardrop">
              <a:avLst>
                <a:gd name="adj" fmla="val 180000"/>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grpSp>
      <p:sp>
        <p:nvSpPr>
          <p:cNvPr id="9" name="TextBox 7"/>
          <p:cNvSpPr txBox="1"/>
          <p:nvPr/>
        </p:nvSpPr>
        <p:spPr>
          <a:xfrm>
            <a:off x="6578292" y="2324847"/>
            <a:ext cx="3057247" cy="584775"/>
          </a:xfrm>
          <a:prstGeom prst="rect">
            <a:avLst/>
          </a:prstGeom>
          <a:noFill/>
        </p:spPr>
        <p:txBody>
          <a:bodyPr wrap="none" rtlCol="0">
            <a:spAutoFit/>
          </a:bodyPr>
          <a:lstStyle/>
          <a:p>
            <a:r>
              <a:rPr lang="zh-CN" altLang="en-US" sz="3200" dirty="0">
                <a:solidFill>
                  <a:schemeClr val="bg1"/>
                </a:solidFill>
                <a:latin typeface="Arial"/>
                <a:ea typeface="阿里巴巴普惠体 Medium"/>
                <a:cs typeface="阿里巴巴普惠体 Medium"/>
                <a:sym typeface="Arial"/>
              </a:rPr>
              <a:t>编译器与虚拟机</a:t>
            </a:r>
          </a:p>
        </p:txBody>
      </p:sp>
      <p:sp>
        <p:nvSpPr>
          <p:cNvPr id="10" name="Google Shape;86;p19"/>
          <p:cNvSpPr txBox="1"/>
          <p:nvPr/>
        </p:nvSpPr>
        <p:spPr>
          <a:xfrm>
            <a:off x="6578293" y="1890575"/>
            <a:ext cx="3183655" cy="4342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2400" b="0" i="0" u="none" strike="noStrike" cap="none" dirty="0">
                <a:solidFill>
                  <a:schemeClr val="bg1"/>
                </a:solidFill>
                <a:latin typeface="Arial"/>
                <a:ea typeface="阿里巴巴普惠体 Medium"/>
                <a:cs typeface="阿里巴巴普惠体 Medium"/>
                <a:sym typeface="Arial"/>
              </a:rPr>
              <a:t>为什么要做</a:t>
            </a:r>
            <a:r>
              <a:rPr lang="zh-CN" altLang="en-US" sz="800" b="0" i="0" u="none" strike="noStrike" cap="none" dirty="0">
                <a:solidFill>
                  <a:schemeClr val="bg1"/>
                </a:solidFill>
                <a:latin typeface="Arial"/>
                <a:ea typeface="阿里巴巴普惠体 Medium"/>
                <a:cs typeface="阿里巴巴普惠体 Medium"/>
                <a:sym typeface="Arial"/>
              </a:rPr>
              <a:t>（编译器的过程还是不够具体）</a:t>
            </a:r>
            <a:endParaRPr lang="en-US" sz="800" b="0" i="0" u="none" strike="noStrike" cap="none" dirty="0">
              <a:solidFill>
                <a:schemeClr val="bg1"/>
              </a:solidFill>
              <a:latin typeface="Arial"/>
              <a:ea typeface="阿里巴巴普惠体 Medium"/>
              <a:cs typeface="阿里巴巴普惠体 Medium"/>
              <a:sym typeface="Arial"/>
            </a:endParaRPr>
          </a:p>
        </p:txBody>
      </p:sp>
      <p:sp>
        <p:nvSpPr>
          <p:cNvPr id="11" name="TextBox 24"/>
          <p:cNvSpPr txBox="1"/>
          <p:nvPr/>
        </p:nvSpPr>
        <p:spPr>
          <a:xfrm>
            <a:off x="6578293" y="3023329"/>
            <a:ext cx="4681003" cy="3284281"/>
          </a:xfrm>
          <a:prstGeom prst="rect">
            <a:avLst/>
          </a:prstGeom>
          <a:noFill/>
        </p:spPr>
        <p:txBody>
          <a:bodyPr wrap="square" lIns="91423" tIns="45712" rIns="91423" bIns="45712" rtlCol="0">
            <a:spAutoFit/>
          </a:bodyPr>
          <a:lstStyle/>
          <a:p>
            <a:pPr marL="0" marR="0" lvl="0" indent="0" algn="l" defTabSz="1217930" rtl="0" eaLnBrk="1" fontAlgn="auto" latinLnBrk="0" hangingPunct="1">
              <a:lnSpc>
                <a:spcPct val="150000"/>
              </a:lnSpc>
              <a:spcBef>
                <a:spcPts val="0"/>
              </a:spcBef>
              <a:spcAft>
                <a:spcPts val="0"/>
              </a:spcAft>
              <a:buClrTx/>
              <a:buSzTx/>
              <a:buFontTx/>
              <a:buNone/>
              <a:defRPr/>
            </a:pPr>
            <a:r>
              <a:rPr lang="zh-CN" altLang="en-US" sz="1400" dirty="0">
                <a:solidFill>
                  <a:schemeClr val="bg1"/>
                </a:solidFill>
                <a:latin typeface="Arial"/>
                <a:ea typeface="阿里巴巴普惠体 Medium"/>
                <a:cs typeface="阿里巴巴普惠体 Medium"/>
                <a:sym typeface="Arial"/>
              </a:rPr>
              <a:t>在我的项目中集成了两个东西一个是编译器另一个是虚拟机。从编译器上来讲，从字符流转变为二进制流的这个过程仅仅只是编译链接就可以描述的完吗？我觉得不是，而我的东西里面又提到了一个虚拟机，虚拟机又是什么东西呢？在我使用的编译器将其下降为二进制代码之后，这个二进制代码由于也是拟造的，所以呢它并不能在实际的硬件上工作，但是有了虚拟机的加持它便能真正的运行。而真正的</a:t>
            </a:r>
            <a:r>
              <a:rPr lang="en-US" altLang="zh-CN" sz="1400" dirty="0">
                <a:solidFill>
                  <a:schemeClr val="bg1"/>
                </a:solidFill>
                <a:latin typeface="Arial"/>
                <a:ea typeface="阿里巴巴普惠体 Medium"/>
                <a:cs typeface="阿里巴巴普惠体 Medium"/>
                <a:sym typeface="Arial"/>
              </a:rPr>
              <a:t>01</a:t>
            </a:r>
            <a:r>
              <a:rPr lang="zh-CN" altLang="en-US" sz="1400" dirty="0">
                <a:solidFill>
                  <a:schemeClr val="bg1"/>
                </a:solidFill>
                <a:latin typeface="Arial"/>
                <a:ea typeface="阿里巴巴普惠体 Medium"/>
                <a:cs typeface="阿里巴巴普惠体 Medium"/>
                <a:sym typeface="Arial"/>
              </a:rPr>
              <a:t>代码它不需要虚拟机是因为他们真正就是工作在实际的电路部件上你就像双目运算符它一定是要用到</a:t>
            </a:r>
            <a:r>
              <a:rPr lang="en-US" altLang="zh-CN" sz="1400" dirty="0">
                <a:solidFill>
                  <a:schemeClr val="bg1"/>
                </a:solidFill>
                <a:latin typeface="Arial"/>
                <a:ea typeface="阿里巴巴普惠体 Medium"/>
                <a:cs typeface="阿里巴巴普惠体 Medium"/>
                <a:sym typeface="Arial"/>
              </a:rPr>
              <a:t>ALU</a:t>
            </a:r>
            <a:r>
              <a:rPr lang="zh-CN" altLang="en-US" sz="1400" dirty="0">
                <a:solidFill>
                  <a:schemeClr val="bg1"/>
                </a:solidFill>
                <a:latin typeface="Arial"/>
                <a:ea typeface="阿里巴巴普惠体 Medium"/>
                <a:cs typeface="阿里巴巴普惠体 Medium"/>
                <a:sym typeface="Arial"/>
              </a:rPr>
              <a:t>的内存运算它一定是要用到总线和译码器的</a:t>
            </a:r>
            <a:r>
              <a:rPr lang="en-US" altLang="zh-CN" sz="1400" dirty="0">
                <a:solidFill>
                  <a:schemeClr val="bg1"/>
                </a:solidFill>
                <a:latin typeface="Arial"/>
                <a:ea typeface="阿里巴巴普惠体 Medium"/>
                <a:cs typeface="阿里巴巴普惠体 Medium"/>
                <a:sym typeface="Arial"/>
              </a:rPr>
              <a:t>.</a:t>
            </a:r>
            <a:endParaRPr kumimoji="0" lang="zh-CN" alt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advTm="0">
        <p:dissolve/>
      </p:transition>
    </mc:Choice>
    <mc:Fallback xmlns="">
      <p:transition spd="slow" advTm="0">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22" presetClass="entr" presetSubtype="8"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7727" y="2403868"/>
            <a:ext cx="3870091" cy="923330"/>
          </a:xfrm>
          <a:prstGeom prst="rect">
            <a:avLst/>
          </a:prstGeom>
          <a:noFill/>
        </p:spPr>
        <p:txBody>
          <a:bodyPr wrap="square" rtlCol="0">
            <a:spAutoFit/>
          </a:bodyPr>
          <a:lstStyle/>
          <a:p>
            <a:pPr algn="dist"/>
            <a:r>
              <a:rPr lang="zh-CN" altLang="en-US" sz="5400" b="1" dirty="0">
                <a:solidFill>
                  <a:schemeClr val="bg1"/>
                </a:solidFill>
                <a:latin typeface="阿里巴巴普惠体 Heavy" pitchFamily="18" charset="-122"/>
                <a:ea typeface="阿里巴巴普惠体 Heavy" pitchFamily="18" charset="-122"/>
                <a:cs typeface="阿里巴巴普惠体 Heavy" pitchFamily="18" charset="-122"/>
                <a:sym typeface="Arial"/>
              </a:rPr>
              <a:t>介绍</a:t>
            </a:r>
          </a:p>
        </p:txBody>
      </p:sp>
      <p:sp>
        <p:nvSpPr>
          <p:cNvPr id="6" name="平行四边形 5"/>
          <p:cNvSpPr/>
          <p:nvPr/>
        </p:nvSpPr>
        <p:spPr>
          <a:xfrm flipH="1">
            <a:off x="881143" y="13882"/>
            <a:ext cx="5137269" cy="6858001"/>
          </a:xfrm>
          <a:prstGeom prst="parallelogram">
            <a:avLst>
              <a:gd name="adj" fmla="val 40381"/>
            </a:avLst>
          </a:prstGeom>
          <a:solidFill>
            <a:srgbClr val="FBF1E9">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10" name="文本框 9"/>
          <p:cNvSpPr txBox="1"/>
          <p:nvPr/>
        </p:nvSpPr>
        <p:spPr>
          <a:xfrm>
            <a:off x="1514733" y="1570812"/>
            <a:ext cx="3870091" cy="3154710"/>
          </a:xfrm>
          <a:prstGeom prst="rect">
            <a:avLst/>
          </a:prstGeom>
          <a:noFill/>
        </p:spPr>
        <p:txBody>
          <a:bodyPr wrap="square" rtlCol="0">
            <a:spAutoFit/>
          </a:bodyPr>
          <a:lstStyle/>
          <a:p>
            <a:pPr algn="ctr"/>
            <a:r>
              <a:rPr lang="en-US" altLang="zh-CN" sz="19900" b="1" dirty="0">
                <a:solidFill>
                  <a:schemeClr val="bg1"/>
                </a:solidFill>
                <a:latin typeface="Arial"/>
                <a:ea typeface="阿里巴巴普惠体 Medium"/>
                <a:cs typeface="阿里巴巴普惠体 Medium"/>
                <a:sym typeface="Arial"/>
              </a:rPr>
              <a:t>02</a:t>
            </a:r>
          </a:p>
        </p:txBody>
      </p:sp>
      <p:sp>
        <p:nvSpPr>
          <p:cNvPr id="11" name="文本框 10"/>
          <p:cNvSpPr txBox="1"/>
          <p:nvPr/>
        </p:nvSpPr>
        <p:spPr>
          <a:xfrm>
            <a:off x="5438421" y="3442882"/>
            <a:ext cx="4054713" cy="698717"/>
          </a:xfrm>
          <a:prstGeom prst="rect">
            <a:avLst/>
          </a:prstGeom>
          <a:noFill/>
        </p:spPr>
        <p:txBody>
          <a:bodyPr wrap="square" rtlCol="0">
            <a:spAutoFit/>
          </a:bodyPr>
          <a:lstStyle/>
          <a:p>
            <a:pPr>
              <a:lnSpc>
                <a:spcPct val="150000"/>
              </a:lnSpc>
            </a:pPr>
            <a:r>
              <a:rPr lang="en-US" altLang="zh-CN" sz="1400" dirty="0">
                <a:solidFill>
                  <a:schemeClr val="bg1"/>
                </a:solidFill>
                <a:latin typeface="Arial"/>
                <a:ea typeface="阿里巴巴普惠体 Medium"/>
                <a:cs typeface="阿里巴巴普惠体 Medium"/>
                <a:sym typeface="Arial"/>
              </a:rPr>
              <a:t> </a:t>
            </a:r>
            <a:r>
              <a:rPr lang="zh-CN" altLang="en-US" sz="1400" dirty="0">
                <a:solidFill>
                  <a:schemeClr val="bg1"/>
                </a:solidFill>
                <a:latin typeface="Arial"/>
                <a:ea typeface="阿里巴巴普惠体 Medium"/>
                <a:cs typeface="阿里巴巴普惠体 Medium"/>
                <a:sym typeface="Arial"/>
              </a:rPr>
              <a:t>在我眼中什么是编译器？我的编译器算法与结构是什么？</a:t>
            </a:r>
            <a:endParaRPr lang="en-US" altLang="zh-CN" sz="1400" dirty="0">
              <a:solidFill>
                <a:schemeClr val="bg1"/>
              </a:solidFill>
              <a:latin typeface="Arial"/>
              <a:ea typeface="阿里巴巴普惠体 Medium"/>
              <a:cs typeface="阿里巴巴普惠体 Medium"/>
              <a:sym typeface="Arial"/>
            </a:endParaRPr>
          </a:p>
        </p:txBody>
      </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randombar(horizont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ldLvl="0" animBg="1"/>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cstate="email">
            <a:extLst>
              <a:ext uri="{28A0092B-C50C-407E-A947-70E740481C1C}">
                <a14:useLocalDpi xmlns:a14="http://schemas.microsoft.com/office/drawing/2010/main"/>
              </a:ext>
            </a:extLst>
          </a:blip>
          <a:srcRect b="-247"/>
          <a:stretch>
            <a:fillRect/>
          </a:stretch>
        </p:blipFill>
        <p:spPr>
          <a:xfrm>
            <a:off x="2" y="-25006"/>
            <a:ext cx="3106615" cy="6883006"/>
          </a:xfrm>
          <a:prstGeom prst="rect">
            <a:avLst/>
          </a:prstGeom>
        </p:spPr>
      </p:pic>
      <p:sp>
        <p:nvSpPr>
          <p:cNvPr id="4" name="泪滴形 3"/>
          <p:cNvSpPr/>
          <p:nvPr/>
        </p:nvSpPr>
        <p:spPr>
          <a:xfrm rot="11908126">
            <a:off x="3042432" y="583410"/>
            <a:ext cx="885013" cy="868754"/>
          </a:xfrm>
          <a:prstGeom prst="teardrop">
            <a:avLst>
              <a:gd name="adj" fmla="val 180000"/>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11" name="TextBox 7"/>
          <p:cNvSpPr txBox="1"/>
          <p:nvPr/>
        </p:nvSpPr>
        <p:spPr>
          <a:xfrm>
            <a:off x="6401151" y="578685"/>
            <a:ext cx="3057247" cy="677108"/>
          </a:xfrm>
          <a:prstGeom prst="rect">
            <a:avLst/>
          </a:prstGeom>
          <a:noFill/>
        </p:spPr>
        <p:txBody>
          <a:bodyPr wrap="square" rtlCol="0">
            <a:spAutoFit/>
          </a:bodyPr>
          <a:lstStyle/>
          <a:p>
            <a:pPr algn="ctr"/>
            <a:r>
              <a:rPr lang="zh-CN" altLang="en-US" sz="3200" b="1" dirty="0">
                <a:solidFill>
                  <a:schemeClr val="bg1"/>
                </a:solidFill>
                <a:latin typeface="Arial"/>
                <a:ea typeface="阿里巴巴普惠体 Medium"/>
                <a:cs typeface="阿里巴巴普惠体 Medium"/>
                <a:sym typeface="Arial"/>
              </a:rPr>
              <a:t>什么是编译器？</a:t>
            </a:r>
            <a:endParaRPr lang="en-US" altLang="zh-CN" sz="500" b="1" dirty="0">
              <a:solidFill>
                <a:schemeClr val="bg1"/>
              </a:solidFill>
              <a:latin typeface="Arial"/>
              <a:ea typeface="阿里巴巴普惠体 Medium"/>
              <a:cs typeface="阿里巴巴普惠体 Medium"/>
              <a:sym typeface="Arial"/>
            </a:endParaRPr>
          </a:p>
          <a:p>
            <a:pPr algn="ctr"/>
            <a:r>
              <a:rPr lang="en-US" altLang="zh-CN" sz="500" dirty="0">
                <a:solidFill>
                  <a:schemeClr val="bg1"/>
                </a:solidFill>
                <a:latin typeface="Arial"/>
                <a:ea typeface="阿里巴巴普惠体 Medium"/>
                <a:cs typeface="阿里巴巴普惠体 Medium"/>
                <a:sym typeface="Arial"/>
              </a:rPr>
              <a:t>(</a:t>
            </a:r>
            <a:r>
              <a:rPr lang="zh-CN" altLang="en-US" sz="600" dirty="0">
                <a:solidFill>
                  <a:schemeClr val="bg1"/>
                </a:solidFill>
                <a:latin typeface="Arial"/>
                <a:ea typeface="阿里巴巴普惠体 Medium"/>
                <a:cs typeface="阿里巴巴普惠体 Medium"/>
                <a:sym typeface="Arial"/>
              </a:rPr>
              <a:t>与其诞生的是</a:t>
            </a:r>
            <a:r>
              <a:rPr lang="en-US" altLang="zh-CN" sz="600" dirty="0" err="1">
                <a:solidFill>
                  <a:schemeClr val="bg1"/>
                </a:solidFill>
                <a:latin typeface="Arial"/>
                <a:ea typeface="阿里巴巴普惠体 Medium"/>
                <a:cs typeface="阿里巴巴普惠体 Medium"/>
                <a:sym typeface="Arial"/>
              </a:rPr>
              <a:t>lian</a:t>
            </a:r>
            <a:r>
              <a:rPr lang="zh-CN" altLang="en-US" sz="600" dirty="0">
                <a:solidFill>
                  <a:schemeClr val="bg1"/>
                </a:solidFill>
                <a:latin typeface="Arial"/>
                <a:ea typeface="阿里巴巴普惠体 Medium"/>
                <a:cs typeface="阿里巴巴普惠体 Medium"/>
                <a:sym typeface="Arial"/>
              </a:rPr>
              <a:t>语言</a:t>
            </a:r>
            <a:r>
              <a:rPr lang="en-US" altLang="zh-CN" sz="600" dirty="0">
                <a:solidFill>
                  <a:schemeClr val="bg1"/>
                </a:solidFill>
                <a:latin typeface="Arial"/>
                <a:ea typeface="阿里巴巴普惠体 Medium"/>
                <a:cs typeface="阿里巴巴普惠体 Medium"/>
                <a:sym typeface="Arial"/>
              </a:rPr>
              <a:t>)</a:t>
            </a:r>
            <a:endParaRPr lang="zh-CN" altLang="en-US" sz="500" dirty="0">
              <a:solidFill>
                <a:schemeClr val="bg1"/>
              </a:solidFill>
              <a:latin typeface="Arial"/>
              <a:ea typeface="阿里巴巴普惠体 Medium"/>
              <a:cs typeface="阿里巴巴普惠体 Medium"/>
              <a:sym typeface="Arial"/>
            </a:endParaRPr>
          </a:p>
        </p:txBody>
      </p:sp>
      <p:sp>
        <p:nvSpPr>
          <p:cNvPr id="13" name="TextBox 24"/>
          <p:cNvSpPr txBox="1"/>
          <p:nvPr/>
        </p:nvSpPr>
        <p:spPr>
          <a:xfrm>
            <a:off x="5189850" y="1232537"/>
            <a:ext cx="5327640" cy="1800990"/>
          </a:xfrm>
          <a:prstGeom prst="rect">
            <a:avLst/>
          </a:prstGeom>
          <a:noFill/>
        </p:spPr>
        <p:txBody>
          <a:bodyPr wrap="square" lIns="91423" tIns="45712" rIns="91423" bIns="45712" rtlCol="0">
            <a:spAutoFit/>
          </a:bodyPr>
          <a:lstStyle/>
          <a:p>
            <a:pPr marL="0" marR="0" lvl="0" indent="0" algn="ctr" defTabSz="1217930" rtl="0" eaLnBrk="1" fontAlgn="auto" latinLnBrk="0" hangingPunct="1">
              <a:lnSpc>
                <a:spcPct val="150000"/>
              </a:lnSpc>
              <a:spcBef>
                <a:spcPts val="0"/>
              </a:spcBef>
              <a:spcAft>
                <a:spcPts val="0"/>
              </a:spcAft>
              <a:buClrTx/>
              <a:buSzTx/>
              <a:buFontTx/>
              <a:buNone/>
              <a:defRPr/>
            </a:pPr>
            <a:endParaRPr lang="en-US" altLang="zh-CN" sz="1600" dirty="0">
              <a:solidFill>
                <a:schemeClr val="bg1"/>
              </a:solidFill>
              <a:latin typeface="Arial"/>
              <a:ea typeface="阿里巴巴普惠体 Medium"/>
              <a:cs typeface="阿里巴巴普惠体 Medium"/>
              <a:sym typeface="Arial"/>
            </a:endParaRPr>
          </a:p>
          <a:p>
            <a:pPr marL="0" marR="0" lvl="0" indent="0" algn="ctr" defTabSz="1217930" rtl="0" eaLnBrk="1" fontAlgn="auto" latinLnBrk="0" hangingPunct="1">
              <a:lnSpc>
                <a:spcPct val="150000"/>
              </a:lnSpc>
              <a:spcBef>
                <a:spcPts val="0"/>
              </a:spcBef>
              <a:spcAft>
                <a:spcPts val="0"/>
              </a:spcAft>
              <a:buClrTx/>
              <a:buSzTx/>
              <a:buFontTx/>
              <a:buNone/>
              <a:defRPr/>
            </a:pPr>
            <a:r>
              <a:rPr lang="en-US" altLang="zh-CN" sz="1600" b="1" dirty="0">
                <a:solidFill>
                  <a:schemeClr val="bg1"/>
                </a:solidFill>
                <a:latin typeface="Arial"/>
                <a:ea typeface="阿里巴巴普惠体 Medium"/>
                <a:cs typeface="阿里巴巴普惠体 Medium"/>
                <a:sym typeface="Arial"/>
              </a:rPr>
              <a:t>If-else</a:t>
            </a:r>
            <a:r>
              <a:rPr lang="zh-CN" altLang="en-US" sz="1600" b="1" dirty="0">
                <a:solidFill>
                  <a:schemeClr val="bg1"/>
                </a:solidFill>
                <a:latin typeface="Arial"/>
                <a:ea typeface="阿里巴巴普惠体 Medium"/>
                <a:cs typeface="阿里巴巴普惠体 Medium"/>
                <a:sym typeface="Arial"/>
              </a:rPr>
              <a:t>是吗？</a:t>
            </a:r>
            <a:endParaRPr lang="en-US" altLang="zh-CN" sz="1600" b="1" dirty="0">
              <a:solidFill>
                <a:schemeClr val="bg1"/>
              </a:solidFill>
              <a:latin typeface="Arial"/>
              <a:ea typeface="阿里巴巴普惠体 Medium"/>
              <a:cs typeface="阿里巴巴普惠体 Medium"/>
              <a:sym typeface="Arial"/>
            </a:endParaRPr>
          </a:p>
          <a:p>
            <a:pPr marL="0" marR="0" lvl="0" indent="0" algn="ctr" defTabSz="1217930" rtl="0" eaLnBrk="1" fontAlgn="auto" latinLnBrk="0" hangingPunct="1">
              <a:lnSpc>
                <a:spcPct val="150000"/>
              </a:lnSpc>
              <a:spcBef>
                <a:spcPts val="0"/>
              </a:spcBef>
              <a:spcAft>
                <a:spcPts val="0"/>
              </a:spcAft>
              <a:buClrTx/>
              <a:buSzTx/>
              <a:buFontTx/>
              <a:buNone/>
              <a:defRPr/>
            </a:pPr>
            <a:r>
              <a:rPr lang="zh-CN" altLang="en-US" sz="600" dirty="0">
                <a:solidFill>
                  <a:schemeClr val="bg1"/>
                </a:solidFill>
                <a:latin typeface="Arial"/>
                <a:ea typeface="阿里巴巴普惠体 Medium"/>
                <a:cs typeface="阿里巴巴普惠体 Medium"/>
                <a:sym typeface="Arial"/>
              </a:rPr>
              <a:t>（即使是状态自动机也本质是</a:t>
            </a:r>
            <a:r>
              <a:rPr lang="en-US" altLang="zh-CN" sz="600" dirty="0">
                <a:solidFill>
                  <a:schemeClr val="bg1"/>
                </a:solidFill>
                <a:latin typeface="Arial"/>
                <a:ea typeface="阿里巴巴普惠体 Medium"/>
                <a:cs typeface="阿里巴巴普惠体 Medium"/>
                <a:sym typeface="Arial"/>
              </a:rPr>
              <a:t>while</a:t>
            </a:r>
            <a:r>
              <a:rPr lang="zh-CN" altLang="en-US" sz="600" dirty="0">
                <a:solidFill>
                  <a:schemeClr val="bg1"/>
                </a:solidFill>
                <a:latin typeface="Arial"/>
                <a:ea typeface="阿里巴巴普惠体 Medium"/>
                <a:cs typeface="阿里巴巴普惠体 Medium"/>
                <a:sym typeface="Arial"/>
              </a:rPr>
              <a:t>和分支加一个控制结构）</a:t>
            </a:r>
            <a:endParaRPr lang="en-US" altLang="zh-CN" sz="600" dirty="0">
              <a:solidFill>
                <a:schemeClr val="bg1"/>
              </a:solidFill>
              <a:latin typeface="Arial"/>
              <a:ea typeface="阿里巴巴普惠体 Medium"/>
              <a:cs typeface="阿里巴巴普惠体 Medium"/>
              <a:sym typeface="Arial"/>
            </a:endParaRPr>
          </a:p>
          <a:p>
            <a:pPr marL="0" marR="0" lvl="0" indent="0" algn="ctr" defTabSz="1217930" rtl="0" eaLnBrk="1" fontAlgn="auto" latinLnBrk="0" hangingPunct="1">
              <a:lnSpc>
                <a:spcPct val="150000"/>
              </a:lnSpc>
              <a:spcBef>
                <a:spcPts val="0"/>
              </a:spcBef>
              <a:spcAft>
                <a:spcPts val="0"/>
              </a:spcAft>
              <a:buClrTx/>
              <a:buSzTx/>
              <a:buFontTx/>
              <a:buNone/>
              <a:defRPr/>
            </a:pPr>
            <a:r>
              <a:rPr lang="zh-CN" altLang="en-US" sz="1600" b="1" dirty="0">
                <a:solidFill>
                  <a:schemeClr val="bg1"/>
                </a:solidFill>
                <a:latin typeface="Arial"/>
                <a:ea typeface="阿里巴巴普惠体 Medium"/>
                <a:cs typeface="阿里巴巴普惠体 Medium"/>
                <a:sym typeface="Arial"/>
              </a:rPr>
              <a:t>复杂的字符串函数？</a:t>
            </a:r>
            <a:endParaRPr lang="en-US" altLang="zh-CN" sz="1600" b="1" dirty="0">
              <a:solidFill>
                <a:schemeClr val="bg1"/>
              </a:solidFill>
              <a:latin typeface="Arial"/>
              <a:ea typeface="阿里巴巴普惠体 Medium"/>
              <a:cs typeface="阿里巴巴普惠体 Medium"/>
              <a:sym typeface="Arial"/>
            </a:endParaRPr>
          </a:p>
          <a:p>
            <a:pPr marL="0" marR="0" lvl="0" indent="0" algn="ctr" defTabSz="1217930" rtl="0" eaLnBrk="1" fontAlgn="auto" latinLnBrk="0" hangingPunct="1">
              <a:lnSpc>
                <a:spcPct val="150000"/>
              </a:lnSpc>
              <a:spcBef>
                <a:spcPts val="0"/>
              </a:spcBef>
              <a:spcAft>
                <a:spcPts val="0"/>
              </a:spcAft>
              <a:buClrTx/>
              <a:buSzTx/>
              <a:buFontTx/>
              <a:buNone/>
              <a:defRPr/>
            </a:pPr>
            <a:r>
              <a:rPr lang="zh-CN" altLang="en-US" sz="600" dirty="0">
                <a:solidFill>
                  <a:schemeClr val="bg1"/>
                </a:solidFill>
                <a:latin typeface="Arial"/>
                <a:ea typeface="阿里巴巴普惠体 Medium"/>
                <a:cs typeface="阿里巴巴普惠体 Medium"/>
                <a:sym typeface="Arial"/>
              </a:rPr>
              <a:t>（尽管只是个汇编语言编译器但是高级语言编译器核心大致也是如此的因为不谈及什么各种优化的）</a:t>
            </a:r>
            <a:endParaRPr lang="en-US" altLang="zh-CN" sz="600" dirty="0">
              <a:solidFill>
                <a:schemeClr val="bg1"/>
              </a:solidFill>
              <a:latin typeface="Arial"/>
              <a:ea typeface="阿里巴巴普惠体 Medium"/>
              <a:cs typeface="阿里巴巴普惠体 Medium"/>
              <a:sym typeface="Arial"/>
            </a:endParaRPr>
          </a:p>
          <a:p>
            <a:pPr marL="0" marR="0" lvl="0" indent="0" algn="ctr" defTabSz="1217930" rtl="0" eaLnBrk="1" fontAlgn="auto" latinLnBrk="0" hangingPunct="1">
              <a:lnSpc>
                <a:spcPct val="15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endParaRPr>
          </a:p>
        </p:txBody>
      </p:sp>
      <p:sp>
        <p:nvSpPr>
          <p:cNvPr id="15" name="Google Shape;86;p19"/>
          <p:cNvSpPr txBox="1"/>
          <p:nvPr/>
        </p:nvSpPr>
        <p:spPr>
          <a:xfrm>
            <a:off x="4383001" y="4765861"/>
            <a:ext cx="1862410" cy="43426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zh-CN" altLang="en-US" sz="2000" b="0" i="0" u="none" strike="noStrike" cap="none" dirty="0">
                <a:solidFill>
                  <a:schemeClr val="bg1"/>
                </a:solidFill>
                <a:latin typeface="Arial"/>
                <a:ea typeface="阿里巴巴普惠体 Medium"/>
                <a:cs typeface="阿里巴巴普惠体 Medium"/>
                <a:sym typeface="Arial"/>
              </a:rPr>
              <a:t>本质算法：</a:t>
            </a:r>
            <a:endParaRPr lang="en-US" altLang="zh-CN" sz="2000" b="0" i="0" u="none" strike="noStrike" cap="none" dirty="0">
              <a:solidFill>
                <a:schemeClr val="bg1"/>
              </a:solidFill>
              <a:latin typeface="Arial"/>
              <a:ea typeface="阿里巴巴普惠体 Medium"/>
              <a:cs typeface="阿里巴巴普惠体 Medium"/>
              <a:sym typeface="Arial"/>
            </a:endParaRPr>
          </a:p>
          <a:p>
            <a:pPr marL="0" marR="0" lvl="0" indent="0" algn="ctr" rtl="0">
              <a:spcBef>
                <a:spcPts val="0"/>
              </a:spcBef>
              <a:spcAft>
                <a:spcPts val="0"/>
              </a:spcAft>
              <a:buNone/>
            </a:pPr>
            <a:r>
              <a:rPr lang="zh-CN" altLang="en-US" sz="2000" b="1" i="0" u="none" strike="noStrike" cap="none" dirty="0">
                <a:solidFill>
                  <a:schemeClr val="bg1"/>
                </a:solidFill>
                <a:latin typeface="Arial"/>
                <a:ea typeface="阿里巴巴普惠体 Medium"/>
                <a:cs typeface="阿里巴巴普惠体 Medium"/>
                <a:sym typeface="Arial"/>
              </a:rPr>
              <a:t>暴力与搜索</a:t>
            </a:r>
            <a:endParaRPr lang="en-US" sz="2000" b="1" i="0" u="none" strike="noStrike" cap="none" dirty="0">
              <a:solidFill>
                <a:schemeClr val="bg1"/>
              </a:solidFill>
              <a:latin typeface="Arial"/>
              <a:ea typeface="阿里巴巴普惠体 Medium"/>
              <a:cs typeface="阿里巴巴普惠体 Medium"/>
              <a:sym typeface="Arial"/>
            </a:endParaRPr>
          </a:p>
        </p:txBody>
      </p:sp>
      <p:sp>
        <p:nvSpPr>
          <p:cNvPr id="16" name="文本框 15"/>
          <p:cNvSpPr txBox="1"/>
          <p:nvPr/>
        </p:nvSpPr>
        <p:spPr>
          <a:xfrm>
            <a:off x="4350909" y="5344049"/>
            <a:ext cx="2211825" cy="567271"/>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zh-CN" altLang="en-US" sz="1050" dirty="0">
                <a:solidFill>
                  <a:schemeClr val="bg1"/>
                </a:solidFill>
                <a:latin typeface="Arial"/>
                <a:ea typeface="阿里巴巴普惠体 Medium"/>
                <a:cs typeface="阿里巴巴普惠体 Medium"/>
                <a:sym typeface="Arial"/>
              </a:rPr>
              <a:t>通过暴力比对与暴力搜索完成语法分析</a:t>
            </a:r>
            <a:endParaRPr lang="en-US" altLang="zh-CN" sz="1050" dirty="0">
              <a:solidFill>
                <a:schemeClr val="bg1"/>
              </a:solidFill>
              <a:latin typeface="Arial"/>
              <a:ea typeface="阿里巴巴普惠体 Medium"/>
              <a:cs typeface="阿里巴巴普惠体 Medium"/>
              <a:sym typeface="Arial"/>
            </a:endParaRPr>
          </a:p>
        </p:txBody>
      </p:sp>
      <p:sp>
        <p:nvSpPr>
          <p:cNvPr id="17" name="Google Shape;86;p19"/>
          <p:cNvSpPr txBox="1"/>
          <p:nvPr/>
        </p:nvSpPr>
        <p:spPr>
          <a:xfrm>
            <a:off x="6718852" y="5002874"/>
            <a:ext cx="2240731" cy="4342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2000" b="1" i="0" u="none" strike="noStrike" cap="none" dirty="0">
                <a:solidFill>
                  <a:schemeClr val="bg1"/>
                </a:solidFill>
                <a:latin typeface="Arial"/>
                <a:ea typeface="阿里巴巴普惠体 Medium"/>
                <a:cs typeface="阿里巴巴普惠体 Medium"/>
                <a:sym typeface="Arial"/>
              </a:rPr>
              <a:t>最简单的动态结构</a:t>
            </a:r>
            <a:endParaRPr lang="en-US" sz="2000" b="1" i="0" u="none" strike="noStrike" cap="none" dirty="0">
              <a:solidFill>
                <a:schemeClr val="bg1"/>
              </a:solidFill>
              <a:latin typeface="Arial"/>
              <a:ea typeface="阿里巴巴普惠体 Medium"/>
              <a:cs typeface="阿里巴巴普惠体 Medium"/>
              <a:sym typeface="Arial"/>
            </a:endParaRPr>
          </a:p>
        </p:txBody>
      </p:sp>
      <p:sp>
        <p:nvSpPr>
          <p:cNvPr id="18" name="文本框 17"/>
          <p:cNvSpPr txBox="1"/>
          <p:nvPr/>
        </p:nvSpPr>
        <p:spPr>
          <a:xfrm>
            <a:off x="6747758" y="5344049"/>
            <a:ext cx="2211825" cy="547137"/>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zh-CN" altLang="en-US" sz="1050" dirty="0">
                <a:solidFill>
                  <a:schemeClr val="bg1"/>
                </a:solidFill>
                <a:latin typeface="Arial"/>
                <a:ea typeface="阿里巴巴普惠体 Medium"/>
                <a:cs typeface="阿里巴巴普惠体 Medium"/>
                <a:sym typeface="Arial"/>
              </a:rPr>
              <a:t>链表</a:t>
            </a:r>
            <a:r>
              <a:rPr lang="en-US" altLang="zh-CN" sz="1050" dirty="0">
                <a:solidFill>
                  <a:schemeClr val="bg1"/>
                </a:solidFill>
                <a:latin typeface="Arial"/>
                <a:ea typeface="阿里巴巴普惠体 Medium"/>
                <a:cs typeface="阿里巴巴普惠体 Medium"/>
                <a:sym typeface="Arial"/>
              </a:rPr>
              <a:t>+</a:t>
            </a:r>
            <a:r>
              <a:rPr lang="zh-CN" altLang="en-US" sz="1050" dirty="0">
                <a:solidFill>
                  <a:schemeClr val="bg1"/>
                </a:solidFill>
                <a:latin typeface="Arial"/>
                <a:ea typeface="阿里巴巴普惠体 Medium"/>
                <a:cs typeface="阿里巴巴普惠体 Medium"/>
                <a:sym typeface="Arial"/>
              </a:rPr>
              <a:t>结构体</a:t>
            </a:r>
            <a:endParaRPr lang="en-US" altLang="zh-CN" sz="1050" dirty="0">
              <a:solidFill>
                <a:schemeClr val="bg1"/>
              </a:solidFill>
              <a:latin typeface="Arial"/>
              <a:ea typeface="阿里巴巴普惠体 Medium"/>
              <a:cs typeface="阿里巴巴普惠体 Medium"/>
              <a:sym typeface="Arial"/>
            </a:endParaRPr>
          </a:p>
          <a:p>
            <a:pPr>
              <a:lnSpc>
                <a:spcPct val="150000"/>
              </a:lnSpc>
            </a:pPr>
            <a:r>
              <a:rPr lang="en-US" altLang="zh-CN" sz="1050" dirty="0">
                <a:solidFill>
                  <a:schemeClr val="bg1"/>
                </a:solidFill>
                <a:latin typeface="Arial"/>
                <a:ea typeface="阿里巴巴普惠体 Medium"/>
                <a:cs typeface="阿里巴巴普惠体 Medium"/>
                <a:sym typeface="Arial"/>
              </a:rPr>
              <a:t>(</a:t>
            </a:r>
            <a:r>
              <a:rPr lang="zh-CN" altLang="en-US" sz="1050" dirty="0">
                <a:solidFill>
                  <a:schemeClr val="bg1"/>
                </a:solidFill>
                <a:latin typeface="Arial"/>
                <a:ea typeface="阿里巴巴普惠体 Medium"/>
                <a:cs typeface="阿里巴巴普惠体 Medium"/>
                <a:sym typeface="Arial"/>
              </a:rPr>
              <a:t>即使是语法树用的也是静态数组</a:t>
            </a:r>
            <a:r>
              <a:rPr lang="en-US" altLang="zh-CN" sz="1050" dirty="0">
                <a:solidFill>
                  <a:schemeClr val="bg1"/>
                </a:solidFill>
                <a:latin typeface="Arial"/>
                <a:ea typeface="阿里巴巴普惠体 Medium"/>
                <a:cs typeface="阿里巴巴普惠体 Medium"/>
                <a:sym typeface="Arial"/>
              </a:rPr>
              <a:t>)</a:t>
            </a:r>
          </a:p>
        </p:txBody>
      </p:sp>
      <p:sp>
        <p:nvSpPr>
          <p:cNvPr id="19" name="Google Shape;86;p19"/>
          <p:cNvSpPr txBox="1"/>
          <p:nvPr/>
        </p:nvSpPr>
        <p:spPr>
          <a:xfrm>
            <a:off x="9059060" y="4748434"/>
            <a:ext cx="2211825" cy="43426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zh-CN" altLang="en-US" sz="2000" dirty="0">
                <a:solidFill>
                  <a:schemeClr val="bg1"/>
                </a:solidFill>
                <a:latin typeface="Arial"/>
                <a:ea typeface="阿里巴巴普惠体 Medium"/>
                <a:cs typeface="阿里巴巴普惠体 Medium"/>
                <a:sym typeface="Arial"/>
              </a:rPr>
              <a:t>大量</a:t>
            </a:r>
            <a:endParaRPr lang="en-US" altLang="zh-CN" sz="2000" dirty="0">
              <a:solidFill>
                <a:schemeClr val="bg1"/>
              </a:solidFill>
              <a:latin typeface="Arial"/>
              <a:ea typeface="阿里巴巴普惠体 Medium"/>
              <a:cs typeface="阿里巴巴普惠体 Medium"/>
              <a:sym typeface="Arial"/>
            </a:endParaRPr>
          </a:p>
          <a:p>
            <a:pPr marL="0" marR="0" lvl="0" indent="0" algn="ctr" rtl="0">
              <a:spcBef>
                <a:spcPts val="0"/>
              </a:spcBef>
              <a:spcAft>
                <a:spcPts val="0"/>
              </a:spcAft>
              <a:buNone/>
            </a:pPr>
            <a:r>
              <a:rPr lang="zh-CN" altLang="en-US" sz="2000" b="1" dirty="0">
                <a:solidFill>
                  <a:schemeClr val="bg1"/>
                </a:solidFill>
                <a:latin typeface="Arial"/>
                <a:ea typeface="阿里巴巴普惠体 Medium"/>
                <a:cs typeface="阿里巴巴普惠体 Medium"/>
                <a:sym typeface="Arial"/>
              </a:rPr>
              <a:t>控制结构</a:t>
            </a:r>
            <a:endParaRPr lang="en-US" altLang="zh-CN" sz="2000" b="1" i="0" u="none" strike="noStrike" cap="none" dirty="0">
              <a:solidFill>
                <a:schemeClr val="bg1"/>
              </a:solidFill>
              <a:latin typeface="Arial"/>
              <a:ea typeface="阿里巴巴普惠体 Medium"/>
              <a:cs typeface="阿里巴巴普惠体 Medium"/>
              <a:sym typeface="Arial"/>
            </a:endParaRPr>
          </a:p>
          <a:p>
            <a:pPr marL="0" marR="0" lvl="0" indent="0" algn="ctr" rtl="0">
              <a:spcBef>
                <a:spcPts val="0"/>
              </a:spcBef>
              <a:spcAft>
                <a:spcPts val="0"/>
              </a:spcAft>
              <a:buNone/>
            </a:pPr>
            <a:endParaRPr lang="en-US" sz="2000" b="0" i="0" u="none" strike="noStrike" cap="none" dirty="0">
              <a:solidFill>
                <a:schemeClr val="bg1"/>
              </a:solidFill>
              <a:latin typeface="Arial"/>
              <a:ea typeface="阿里巴巴普惠体 Medium"/>
              <a:cs typeface="阿里巴巴普惠体 Medium"/>
              <a:sym typeface="Arial"/>
            </a:endParaRPr>
          </a:p>
        </p:txBody>
      </p:sp>
      <p:sp>
        <p:nvSpPr>
          <p:cNvPr id="20" name="文本框 19"/>
          <p:cNvSpPr txBox="1"/>
          <p:nvPr/>
        </p:nvSpPr>
        <p:spPr>
          <a:xfrm>
            <a:off x="9144609" y="5344049"/>
            <a:ext cx="2211825" cy="622543"/>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zh-CN" altLang="en-US" sz="800" dirty="0">
                <a:solidFill>
                  <a:schemeClr val="bg1"/>
                </a:solidFill>
                <a:latin typeface="Arial"/>
                <a:ea typeface="阿里巴巴普惠体 Medium"/>
                <a:cs typeface="阿里巴巴普惠体 Medium"/>
                <a:sym typeface="Arial"/>
              </a:rPr>
              <a:t>词法分析</a:t>
            </a:r>
            <a:r>
              <a:rPr lang="en-US" altLang="zh-CN" sz="800" dirty="0">
                <a:solidFill>
                  <a:schemeClr val="bg1"/>
                </a:solidFill>
                <a:latin typeface="Arial"/>
                <a:ea typeface="阿里巴巴普惠体 Medium"/>
                <a:cs typeface="阿里巴巴普惠体 Medium"/>
                <a:sym typeface="Arial"/>
              </a:rPr>
              <a:t>block</a:t>
            </a:r>
            <a:r>
              <a:rPr lang="zh-CN" altLang="en-US" sz="800" dirty="0">
                <a:solidFill>
                  <a:schemeClr val="bg1"/>
                </a:solidFill>
                <a:latin typeface="Arial"/>
                <a:ea typeface="阿里巴巴普惠体 Medium"/>
                <a:cs typeface="阿里巴巴普惠体 Medium"/>
                <a:sym typeface="Arial"/>
              </a:rPr>
              <a:t>，字符串分析</a:t>
            </a:r>
            <a:r>
              <a:rPr lang="en-US" altLang="zh-CN" sz="800" dirty="0">
                <a:solidFill>
                  <a:schemeClr val="bg1"/>
                </a:solidFill>
                <a:latin typeface="Arial"/>
                <a:ea typeface="阿里巴巴普惠体 Medium"/>
                <a:cs typeface="阿里巴巴普惠体 Medium"/>
                <a:sym typeface="Arial"/>
              </a:rPr>
              <a:t>block</a:t>
            </a:r>
            <a:r>
              <a:rPr lang="zh-CN" altLang="en-US" sz="800" dirty="0">
                <a:solidFill>
                  <a:schemeClr val="bg1"/>
                </a:solidFill>
                <a:latin typeface="Arial"/>
                <a:ea typeface="阿里巴巴普惠体 Medium"/>
                <a:cs typeface="阿里巴巴普惠体 Medium"/>
                <a:sym typeface="Arial"/>
              </a:rPr>
              <a:t>，语法分析</a:t>
            </a:r>
            <a:r>
              <a:rPr lang="en-US" altLang="zh-CN" sz="800" dirty="0">
                <a:solidFill>
                  <a:schemeClr val="bg1"/>
                </a:solidFill>
                <a:latin typeface="Arial"/>
                <a:ea typeface="阿里巴巴普惠体 Medium"/>
                <a:cs typeface="阿里巴巴普惠体 Medium"/>
                <a:sym typeface="Arial"/>
              </a:rPr>
              <a:t>block</a:t>
            </a:r>
            <a:r>
              <a:rPr lang="zh-CN" altLang="en-US" sz="800" dirty="0">
                <a:solidFill>
                  <a:schemeClr val="bg1"/>
                </a:solidFill>
                <a:latin typeface="Arial"/>
                <a:ea typeface="阿里巴巴普惠体 Medium"/>
                <a:cs typeface="阿里巴巴普惠体 Medium"/>
                <a:sym typeface="Arial"/>
              </a:rPr>
              <a:t>，函数分析</a:t>
            </a:r>
            <a:r>
              <a:rPr lang="en-US" altLang="zh-CN" sz="800" dirty="0">
                <a:solidFill>
                  <a:schemeClr val="bg1"/>
                </a:solidFill>
                <a:latin typeface="Arial"/>
                <a:ea typeface="阿里巴巴普惠体 Medium"/>
                <a:cs typeface="阿里巴巴普惠体 Medium"/>
                <a:sym typeface="Arial"/>
              </a:rPr>
              <a:t>block</a:t>
            </a:r>
            <a:r>
              <a:rPr lang="zh-CN" altLang="en-US" sz="800" dirty="0">
                <a:solidFill>
                  <a:schemeClr val="bg1"/>
                </a:solidFill>
                <a:latin typeface="Arial"/>
                <a:ea typeface="阿里巴巴普惠体 Medium"/>
                <a:cs typeface="阿里巴巴普惠体 Medium"/>
                <a:sym typeface="Arial"/>
              </a:rPr>
              <a:t>，等各种控制结构不仅有助于完成汇编还有助于我调试</a:t>
            </a:r>
            <a:r>
              <a:rPr lang="en-US" altLang="zh-CN" sz="800" dirty="0">
                <a:solidFill>
                  <a:schemeClr val="bg1"/>
                </a:solidFill>
                <a:latin typeface="Arial"/>
                <a:ea typeface="阿里巴巴普惠体 Medium"/>
                <a:cs typeface="阿里巴巴普惠体 Medium"/>
                <a:sym typeface="Arial"/>
              </a:rPr>
              <a:t>bug</a:t>
            </a:r>
          </a:p>
        </p:txBody>
      </p:sp>
      <p:sp>
        <p:nvSpPr>
          <p:cNvPr id="21" name="椭圆 20"/>
          <p:cNvSpPr/>
          <p:nvPr/>
        </p:nvSpPr>
        <p:spPr>
          <a:xfrm>
            <a:off x="4998819" y="4223300"/>
            <a:ext cx="566535" cy="566534"/>
          </a:xfrm>
          <a:prstGeom prst="ellipse">
            <a:avLst/>
          </a:prstGeom>
          <a:solidFill>
            <a:srgbClr val="FBFBFB"/>
          </a:solidFill>
          <a:ln w="19050">
            <a:solidFill>
              <a:srgbClr val="CB6E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24" name="文本框 23"/>
          <p:cNvSpPr txBox="1"/>
          <p:nvPr/>
        </p:nvSpPr>
        <p:spPr>
          <a:xfrm>
            <a:off x="4990506" y="4296188"/>
            <a:ext cx="573279" cy="400110"/>
          </a:xfrm>
          <a:prstGeom prst="rect">
            <a:avLst/>
          </a:prstGeom>
          <a:noFill/>
        </p:spPr>
        <p:txBody>
          <a:bodyPr wrap="square" rtlCol="0">
            <a:spAutoFit/>
          </a:bodyPr>
          <a:lstStyle/>
          <a:p>
            <a:pPr algn="ctr"/>
            <a:r>
              <a:rPr lang="en-US" altLang="zh-CN" sz="2000" dirty="0">
                <a:solidFill>
                  <a:schemeClr val="bg1"/>
                </a:solidFill>
                <a:latin typeface="Arial"/>
                <a:ea typeface="阿里巴巴普惠体 Medium"/>
                <a:cs typeface="阿里巴巴普惠体 Medium"/>
                <a:sym typeface="Arial"/>
              </a:rPr>
              <a:t>01</a:t>
            </a:r>
          </a:p>
        </p:txBody>
      </p:sp>
      <p:sp>
        <p:nvSpPr>
          <p:cNvPr id="27" name="椭圆 26"/>
          <p:cNvSpPr/>
          <p:nvPr/>
        </p:nvSpPr>
        <p:spPr>
          <a:xfrm>
            <a:off x="7447674" y="4223300"/>
            <a:ext cx="566535" cy="566534"/>
          </a:xfrm>
          <a:prstGeom prst="ellipse">
            <a:avLst/>
          </a:prstGeom>
          <a:solidFill>
            <a:srgbClr val="FBFBFB"/>
          </a:solidFill>
          <a:ln w="19050">
            <a:solidFill>
              <a:srgbClr val="CB6E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28" name="文本框 27"/>
          <p:cNvSpPr txBox="1"/>
          <p:nvPr/>
        </p:nvSpPr>
        <p:spPr>
          <a:xfrm>
            <a:off x="7439362" y="4296188"/>
            <a:ext cx="573279" cy="400110"/>
          </a:xfrm>
          <a:prstGeom prst="rect">
            <a:avLst/>
          </a:prstGeom>
          <a:noFill/>
        </p:spPr>
        <p:txBody>
          <a:bodyPr wrap="square" rtlCol="0">
            <a:spAutoFit/>
          </a:bodyPr>
          <a:lstStyle/>
          <a:p>
            <a:pPr algn="ctr"/>
            <a:r>
              <a:rPr lang="en-US" altLang="zh-CN" sz="2000" dirty="0">
                <a:solidFill>
                  <a:schemeClr val="bg1"/>
                </a:solidFill>
                <a:latin typeface="Arial"/>
                <a:ea typeface="阿里巴巴普惠体 Medium"/>
                <a:cs typeface="阿里巴巴普惠体 Medium"/>
                <a:sym typeface="Arial"/>
              </a:rPr>
              <a:t>02</a:t>
            </a:r>
          </a:p>
        </p:txBody>
      </p:sp>
      <p:sp>
        <p:nvSpPr>
          <p:cNvPr id="29" name="椭圆 28"/>
          <p:cNvSpPr/>
          <p:nvPr/>
        </p:nvSpPr>
        <p:spPr>
          <a:xfrm>
            <a:off x="9886646" y="4223300"/>
            <a:ext cx="566535" cy="566534"/>
          </a:xfrm>
          <a:prstGeom prst="ellipse">
            <a:avLst/>
          </a:prstGeom>
          <a:solidFill>
            <a:srgbClr val="FBFBFB"/>
          </a:solidFill>
          <a:ln w="19050">
            <a:solidFill>
              <a:srgbClr val="CB6E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30" name="文本框 29"/>
          <p:cNvSpPr txBox="1"/>
          <p:nvPr/>
        </p:nvSpPr>
        <p:spPr>
          <a:xfrm>
            <a:off x="9878334" y="4296188"/>
            <a:ext cx="573279" cy="400110"/>
          </a:xfrm>
          <a:prstGeom prst="rect">
            <a:avLst/>
          </a:prstGeom>
          <a:noFill/>
        </p:spPr>
        <p:txBody>
          <a:bodyPr wrap="square" rtlCol="0">
            <a:spAutoFit/>
          </a:bodyPr>
          <a:lstStyle/>
          <a:p>
            <a:pPr algn="ctr"/>
            <a:r>
              <a:rPr lang="en-US" altLang="zh-CN" sz="2000" dirty="0">
                <a:solidFill>
                  <a:schemeClr val="bg1"/>
                </a:solidFill>
                <a:latin typeface="Arial"/>
                <a:ea typeface="阿里巴巴普惠体 Medium"/>
                <a:cs typeface="阿里巴巴普惠体 Medium"/>
                <a:sym typeface="Arial"/>
              </a:rPr>
              <a:t>03</a:t>
            </a:r>
          </a:p>
        </p:txBody>
      </p:sp>
      <p:sp>
        <p:nvSpPr>
          <p:cNvPr id="2" name="TextBox 7">
            <a:extLst>
              <a:ext uri="{FF2B5EF4-FFF2-40B4-BE49-F238E27FC236}">
                <a16:creationId xmlns:a16="http://schemas.microsoft.com/office/drawing/2014/main" id="{5A51BAF9-1C79-922F-7A6B-6D28F4AC98CB}"/>
              </a:ext>
            </a:extLst>
          </p:cNvPr>
          <p:cNvSpPr txBox="1"/>
          <p:nvPr/>
        </p:nvSpPr>
        <p:spPr>
          <a:xfrm>
            <a:off x="5990786" y="3278753"/>
            <a:ext cx="3877985" cy="745653"/>
          </a:xfrm>
          <a:prstGeom prst="rect">
            <a:avLst/>
          </a:prstGeom>
          <a:noFill/>
        </p:spPr>
        <p:txBody>
          <a:bodyPr wrap="none" rtlCol="0">
            <a:spAutoFit/>
          </a:bodyPr>
          <a:lstStyle/>
          <a:p>
            <a:pPr algn="ctr"/>
            <a:r>
              <a:rPr lang="zh-CN" altLang="en-US" sz="3200" b="1" dirty="0">
                <a:solidFill>
                  <a:schemeClr val="bg1"/>
                </a:solidFill>
                <a:latin typeface="Arial"/>
                <a:ea typeface="阿里巴巴普惠体 Medium"/>
                <a:cs typeface="阿里巴巴普惠体 Medium"/>
                <a:sym typeface="Arial"/>
              </a:rPr>
              <a:t>所使用的算法与结构</a:t>
            </a:r>
            <a:endParaRPr lang="en-US" altLang="zh-CN" sz="3200" b="1" dirty="0">
              <a:solidFill>
                <a:schemeClr val="bg1"/>
              </a:solidFill>
              <a:latin typeface="Arial"/>
              <a:ea typeface="阿里巴巴普惠体 Medium"/>
              <a:cs typeface="阿里巴巴普惠体 Medium"/>
              <a:sym typeface="Arial"/>
            </a:endParaRPr>
          </a:p>
          <a:p>
            <a:pPr marL="0" marR="0" lvl="0" indent="0" algn="ctr" defTabSz="1217930" rtl="0" eaLnBrk="1" fontAlgn="auto" latinLnBrk="0" hangingPunct="1">
              <a:lnSpc>
                <a:spcPct val="150000"/>
              </a:lnSpc>
              <a:spcBef>
                <a:spcPts val="0"/>
              </a:spcBef>
              <a:spcAft>
                <a:spcPts val="0"/>
              </a:spcAft>
              <a:buClrTx/>
              <a:buSzTx/>
              <a:buFontTx/>
              <a:buNone/>
              <a:defRPr/>
            </a:pPr>
            <a:r>
              <a:rPr lang="zh-CN" altLang="en-US" sz="800" dirty="0">
                <a:solidFill>
                  <a:schemeClr val="bg1"/>
                </a:solidFill>
                <a:latin typeface="Arial"/>
                <a:ea typeface="阿里巴巴普惠体 Medium"/>
                <a:cs typeface="阿里巴巴普惠体 Medium"/>
                <a:sym typeface="Arial"/>
              </a:rPr>
              <a:t>（一切一定有其最简化的模型）</a:t>
            </a:r>
            <a:endParaRPr lang="en-US" altLang="zh-CN" sz="800" dirty="0">
              <a:solidFill>
                <a:schemeClr val="bg1"/>
              </a:solidFill>
              <a:latin typeface="Arial"/>
              <a:ea typeface="阿里巴巴普惠体 Medium"/>
              <a:cs typeface="阿里巴巴普惠体 Medium"/>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400" advTm="0">
        <p14:ripp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par>
                          <p:cTn id="13" fill="hold">
                            <p:stCondLst>
                              <p:cond delay="500"/>
                            </p:stCondLst>
                            <p:childTnLst>
                              <p:par>
                                <p:cTn id="14" presetID="12" presetClass="entr" presetSubtype="4"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p:tgtEl>
                                          <p:spTgt spid="16"/>
                                        </p:tgtEl>
                                        <p:attrNameLst>
                                          <p:attrName>ppt_y</p:attrName>
                                        </p:attrNameLst>
                                      </p:cBhvr>
                                      <p:tavLst>
                                        <p:tav tm="0">
                                          <p:val>
                                            <p:strVal val="#ppt_y+#ppt_h*1.125000"/>
                                          </p:val>
                                        </p:tav>
                                        <p:tav tm="100000">
                                          <p:val>
                                            <p:strVal val="#ppt_y"/>
                                          </p:val>
                                        </p:tav>
                                      </p:tavLst>
                                    </p:anim>
                                    <p:animEffect transition="in" filter="wipe(up)">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par>
                          <p:cTn id="23" fill="hold">
                            <p:stCondLst>
                              <p:cond delay="500"/>
                            </p:stCondLst>
                            <p:childTnLst>
                              <p:par>
                                <p:cTn id="24" presetID="12" presetClass="entr" presetSubtype="4"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additive="base">
                                        <p:cTn id="26" dur="500"/>
                                        <p:tgtEl>
                                          <p:spTgt spid="18"/>
                                        </p:tgtEl>
                                        <p:attrNameLst>
                                          <p:attrName>ppt_y</p:attrName>
                                        </p:attrNameLst>
                                      </p:cBhvr>
                                      <p:tavLst>
                                        <p:tav tm="0">
                                          <p:val>
                                            <p:strVal val="#ppt_y+#ppt_h*1.125000"/>
                                          </p:val>
                                        </p:tav>
                                        <p:tav tm="100000">
                                          <p:val>
                                            <p:strVal val="#ppt_y"/>
                                          </p:val>
                                        </p:tav>
                                      </p:tavLst>
                                    </p:anim>
                                    <p:animEffect transition="in" filter="wipe(up)">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par>
                          <p:cTn id="33" fill="hold">
                            <p:stCondLst>
                              <p:cond delay="500"/>
                            </p:stCondLst>
                            <p:childTnLst>
                              <p:par>
                                <p:cTn id="34" presetID="12" presetClass="entr" presetSubtype="4" fill="hold" grpId="0" nodeType="after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additive="base">
                                        <p:cTn id="36" dur="500"/>
                                        <p:tgtEl>
                                          <p:spTgt spid="20"/>
                                        </p:tgtEl>
                                        <p:attrNameLst>
                                          <p:attrName>ppt_y</p:attrName>
                                        </p:attrNameLst>
                                      </p:cBhvr>
                                      <p:tavLst>
                                        <p:tav tm="0">
                                          <p:val>
                                            <p:strVal val="#ppt_y+#ppt_h*1.125000"/>
                                          </p:val>
                                        </p:tav>
                                        <p:tav tm="100000">
                                          <p:val>
                                            <p:strVal val="#ppt_y"/>
                                          </p:val>
                                        </p:tav>
                                      </p:tavLst>
                                    </p:anim>
                                    <p:animEffect transition="in" filter="wipe(up)">
                                      <p:cBhvr>
                                        <p:cTn id="37" dur="500"/>
                                        <p:tgtEl>
                                          <p:spTgt spid="20"/>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left)">
                                      <p:cBhvr>
                                        <p:cTn id="40" dur="500"/>
                                        <p:tgtEl>
                                          <p:spTgt spid="24"/>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left)">
                                      <p:cBhvr>
                                        <p:cTn id="43" dur="500"/>
                                        <p:tgtEl>
                                          <p:spTgt spid="28"/>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left)">
                                      <p:cBhvr>
                                        <p:cTn id="4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bldLvl="0"/>
      <p:bldP spid="17" grpId="0"/>
      <p:bldP spid="18" grpId="0" bldLvl="0"/>
      <p:bldP spid="19" grpId="0"/>
      <p:bldP spid="20" grpId="0" bldLvl="0"/>
      <p:bldP spid="24" grpId="0"/>
      <p:bldP spid="28"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11429"/>
            <a:ext cx="6432707" cy="6858001"/>
            <a:chOff x="0" y="-1"/>
            <a:chExt cx="6833062" cy="6858001"/>
          </a:xfrm>
        </p:grpSpPr>
        <p:sp>
          <p:nvSpPr>
            <p:cNvPr id="2" name="矩形 1"/>
            <p:cNvSpPr/>
            <p:nvPr/>
          </p:nvSpPr>
          <p:spPr>
            <a:xfrm>
              <a:off x="0" y="0"/>
              <a:ext cx="3873731" cy="6858000"/>
            </a:xfrm>
            <a:prstGeom prst="rect">
              <a:avLst/>
            </a:prstGeom>
            <a:solidFill>
              <a:srgbClr val="FBF1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3" name="直角三角形 2"/>
            <p:cNvSpPr/>
            <p:nvPr/>
          </p:nvSpPr>
          <p:spPr>
            <a:xfrm flipV="1">
              <a:off x="3873731" y="-1"/>
              <a:ext cx="2959331" cy="6858001"/>
            </a:xfrm>
            <a:prstGeom prst="rtTriangle">
              <a:avLst/>
            </a:prstGeom>
            <a:solidFill>
              <a:srgbClr val="FBF1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grpSp>
      <p:pic>
        <p:nvPicPr>
          <p:cNvPr id="6" name="图片 5"/>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a:off x="5921686" y="2464723"/>
            <a:ext cx="1127175" cy="698269"/>
          </a:xfrm>
          <a:prstGeom prst="parallelogram">
            <a:avLst>
              <a:gd name="adj" fmla="val 42080"/>
            </a:avLst>
          </a:prstGeom>
        </p:spPr>
      </p:pic>
      <p:pic>
        <p:nvPicPr>
          <p:cNvPr id="7" name="图片 6"/>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a:off x="5358099" y="3699161"/>
            <a:ext cx="1127175" cy="698269"/>
          </a:xfrm>
          <a:prstGeom prst="parallelogram">
            <a:avLst>
              <a:gd name="adj" fmla="val 42080"/>
            </a:avLst>
          </a:prstGeom>
        </p:spPr>
      </p:pic>
      <p:pic>
        <p:nvPicPr>
          <p:cNvPr id="8" name="图片 7"/>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a:off x="4848797" y="5070762"/>
            <a:ext cx="1127175" cy="698269"/>
          </a:xfrm>
          <a:prstGeom prst="parallelogram">
            <a:avLst>
              <a:gd name="adj" fmla="val 42080"/>
            </a:avLst>
          </a:prstGeom>
        </p:spPr>
      </p:pic>
      <p:pic>
        <p:nvPicPr>
          <p:cNvPr id="9" name="图片 8"/>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a:off x="6432706" y="1230285"/>
            <a:ext cx="1127175" cy="698269"/>
          </a:xfrm>
          <a:prstGeom prst="parallelogram">
            <a:avLst>
              <a:gd name="adj" fmla="val 42080"/>
            </a:avLst>
          </a:prstGeom>
        </p:spPr>
      </p:pic>
      <p:cxnSp>
        <p:nvCxnSpPr>
          <p:cNvPr id="11" name="直接连接符 10"/>
          <p:cNvCxnSpPr/>
          <p:nvPr/>
        </p:nvCxnSpPr>
        <p:spPr>
          <a:xfrm flipH="1">
            <a:off x="5921685" y="5769028"/>
            <a:ext cx="541687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6267132" y="4397428"/>
            <a:ext cx="507142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6782522" y="3162990"/>
            <a:ext cx="455603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7281285" y="1928552"/>
            <a:ext cx="405727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6643002" y="1262729"/>
            <a:ext cx="706583" cy="584775"/>
          </a:xfrm>
          <a:prstGeom prst="rect">
            <a:avLst/>
          </a:prstGeom>
          <a:noFill/>
        </p:spPr>
        <p:txBody>
          <a:bodyPr wrap="square" rtlCol="0">
            <a:spAutoFit/>
          </a:bodyPr>
          <a:lstStyle/>
          <a:p>
            <a:pPr algn="ctr"/>
            <a:r>
              <a:rPr lang="en-US" altLang="zh-CN" sz="3200" dirty="0">
                <a:solidFill>
                  <a:schemeClr val="bg1"/>
                </a:solidFill>
                <a:latin typeface="Arial"/>
                <a:ea typeface="阿里巴巴普惠体 Medium"/>
                <a:cs typeface="阿里巴巴普惠体 Medium"/>
                <a:sym typeface="Arial"/>
              </a:rPr>
              <a:t>1</a:t>
            </a:r>
          </a:p>
        </p:txBody>
      </p:sp>
      <p:sp>
        <p:nvSpPr>
          <p:cNvPr id="25" name="文本框 24"/>
          <p:cNvSpPr txBox="1"/>
          <p:nvPr/>
        </p:nvSpPr>
        <p:spPr>
          <a:xfrm>
            <a:off x="6150414" y="2489660"/>
            <a:ext cx="706583" cy="584775"/>
          </a:xfrm>
          <a:prstGeom prst="rect">
            <a:avLst/>
          </a:prstGeom>
          <a:noFill/>
        </p:spPr>
        <p:txBody>
          <a:bodyPr wrap="square" rtlCol="0">
            <a:spAutoFit/>
          </a:bodyPr>
          <a:lstStyle/>
          <a:p>
            <a:pPr algn="ctr"/>
            <a:r>
              <a:rPr lang="en-US" altLang="zh-CN" sz="3200" dirty="0">
                <a:solidFill>
                  <a:schemeClr val="bg1"/>
                </a:solidFill>
                <a:latin typeface="Arial"/>
                <a:ea typeface="阿里巴巴普惠体 Medium"/>
                <a:cs typeface="阿里巴巴普惠体 Medium"/>
                <a:sym typeface="Arial"/>
              </a:rPr>
              <a:t>2</a:t>
            </a:r>
          </a:p>
        </p:txBody>
      </p:sp>
      <p:sp>
        <p:nvSpPr>
          <p:cNvPr id="26" name="文本框 25"/>
          <p:cNvSpPr txBox="1"/>
          <p:nvPr/>
        </p:nvSpPr>
        <p:spPr>
          <a:xfrm>
            <a:off x="5583974" y="3739280"/>
            <a:ext cx="706583" cy="584775"/>
          </a:xfrm>
          <a:prstGeom prst="rect">
            <a:avLst/>
          </a:prstGeom>
          <a:noFill/>
        </p:spPr>
        <p:txBody>
          <a:bodyPr wrap="square" rtlCol="0">
            <a:spAutoFit/>
          </a:bodyPr>
          <a:lstStyle/>
          <a:p>
            <a:pPr algn="ctr"/>
            <a:r>
              <a:rPr lang="en-US" altLang="zh-CN" sz="3200" dirty="0">
                <a:solidFill>
                  <a:schemeClr val="bg1"/>
                </a:solidFill>
                <a:latin typeface="Arial"/>
                <a:ea typeface="阿里巴巴普惠体 Medium"/>
                <a:cs typeface="阿里巴巴普惠体 Medium"/>
                <a:sym typeface="Arial"/>
              </a:rPr>
              <a:t>3</a:t>
            </a:r>
          </a:p>
        </p:txBody>
      </p:sp>
      <p:sp>
        <p:nvSpPr>
          <p:cNvPr id="27" name="文本框 26"/>
          <p:cNvSpPr txBox="1"/>
          <p:nvPr/>
        </p:nvSpPr>
        <p:spPr>
          <a:xfrm>
            <a:off x="5059093" y="5127508"/>
            <a:ext cx="706583" cy="584775"/>
          </a:xfrm>
          <a:prstGeom prst="rect">
            <a:avLst/>
          </a:prstGeom>
          <a:noFill/>
        </p:spPr>
        <p:txBody>
          <a:bodyPr wrap="square" rtlCol="0">
            <a:spAutoFit/>
          </a:bodyPr>
          <a:lstStyle/>
          <a:p>
            <a:pPr algn="ctr"/>
            <a:r>
              <a:rPr lang="en-US" altLang="zh-CN" sz="3200" dirty="0">
                <a:solidFill>
                  <a:schemeClr val="bg1"/>
                </a:solidFill>
                <a:latin typeface="Arial"/>
                <a:ea typeface="阿里巴巴普惠体 Medium"/>
                <a:cs typeface="阿里巴巴普惠体 Medium"/>
                <a:sym typeface="Arial"/>
              </a:rPr>
              <a:t>4</a:t>
            </a:r>
          </a:p>
        </p:txBody>
      </p:sp>
      <p:grpSp>
        <p:nvGrpSpPr>
          <p:cNvPr id="17" name="组合 16"/>
          <p:cNvGrpSpPr/>
          <p:nvPr/>
        </p:nvGrpSpPr>
        <p:grpSpPr>
          <a:xfrm>
            <a:off x="7791422" y="1124229"/>
            <a:ext cx="3315599" cy="619659"/>
            <a:chOff x="3406158" y="4356524"/>
            <a:chExt cx="5050152" cy="619659"/>
          </a:xfrm>
        </p:grpSpPr>
        <p:sp>
          <p:nvSpPr>
            <p:cNvPr id="19" name="文本框 18"/>
            <p:cNvSpPr txBox="1"/>
            <p:nvPr/>
          </p:nvSpPr>
          <p:spPr>
            <a:xfrm>
              <a:off x="3406158" y="4699184"/>
              <a:ext cx="5050152" cy="276999"/>
            </a:xfrm>
            <a:prstGeom prst="rect">
              <a:avLst/>
            </a:prstGeom>
            <a:noFill/>
          </p:spPr>
          <p:txBody>
            <a:bodyPr wrap="square" rtlCol="0">
              <a:spAutoFit/>
            </a:bodyPr>
            <a:lstStyle/>
            <a:p>
              <a:r>
                <a:rPr lang="zh-CN" altLang="en-US" sz="1200" dirty="0">
                  <a:solidFill>
                    <a:schemeClr val="bg1"/>
                  </a:solidFill>
                  <a:latin typeface="Arial"/>
                  <a:ea typeface="阿里巴巴普惠体 Medium"/>
                  <a:cs typeface="阿里巴巴普惠体 Medium"/>
                  <a:sym typeface="Arial"/>
                </a:rPr>
                <a:t>文件标准化，资源管理</a:t>
              </a:r>
            </a:p>
          </p:txBody>
        </p:sp>
        <p:sp>
          <p:nvSpPr>
            <p:cNvPr id="21" name="文本框 20"/>
            <p:cNvSpPr txBox="1"/>
            <p:nvPr/>
          </p:nvSpPr>
          <p:spPr>
            <a:xfrm>
              <a:off x="3406158" y="4356524"/>
              <a:ext cx="1453247" cy="400110"/>
            </a:xfrm>
            <a:prstGeom prst="rect">
              <a:avLst/>
            </a:prstGeom>
            <a:noFill/>
          </p:spPr>
          <p:txBody>
            <a:bodyPr wrap="none" rtlCol="0">
              <a:spAutoFit/>
            </a:bodyPr>
            <a:lstStyle/>
            <a:p>
              <a:r>
                <a:rPr lang="zh-CN" altLang="en-US" sz="2000" dirty="0">
                  <a:solidFill>
                    <a:schemeClr val="bg1"/>
                  </a:solidFill>
                  <a:latin typeface="Arial"/>
                  <a:ea typeface="阿里巴巴普惠体 Medium"/>
                  <a:cs typeface="阿里巴巴普惠体 Medium"/>
                  <a:sym typeface="Arial"/>
                </a:rPr>
                <a:t>预处理</a:t>
              </a:r>
            </a:p>
          </p:txBody>
        </p:sp>
      </p:grpSp>
      <p:grpSp>
        <p:nvGrpSpPr>
          <p:cNvPr id="22" name="组合 21"/>
          <p:cNvGrpSpPr/>
          <p:nvPr/>
        </p:nvGrpSpPr>
        <p:grpSpPr>
          <a:xfrm>
            <a:off x="7206811" y="2358402"/>
            <a:ext cx="4057275" cy="619659"/>
            <a:chOff x="3406158" y="4356524"/>
            <a:chExt cx="6179834" cy="619659"/>
          </a:xfrm>
        </p:grpSpPr>
        <p:sp>
          <p:nvSpPr>
            <p:cNvPr id="23" name="文本框 22"/>
            <p:cNvSpPr txBox="1"/>
            <p:nvPr/>
          </p:nvSpPr>
          <p:spPr>
            <a:xfrm>
              <a:off x="3406158" y="4699184"/>
              <a:ext cx="6179834" cy="276999"/>
            </a:xfrm>
            <a:prstGeom prst="rect">
              <a:avLst/>
            </a:prstGeom>
            <a:noFill/>
          </p:spPr>
          <p:txBody>
            <a:bodyPr wrap="square" rtlCol="0">
              <a:spAutoFit/>
            </a:bodyPr>
            <a:lstStyle/>
            <a:p>
              <a:r>
                <a:rPr lang="en-US" altLang="zh-CN" sz="1200" dirty="0">
                  <a:solidFill>
                    <a:schemeClr val="bg1"/>
                  </a:solidFill>
                  <a:latin typeface="Arial"/>
                  <a:ea typeface="阿里巴巴普惠体 Medium"/>
                  <a:cs typeface="阿里巴巴普惠体 Medium"/>
                  <a:sym typeface="Arial"/>
                </a:rPr>
                <a:t>Lexeme</a:t>
              </a:r>
              <a:r>
                <a:rPr lang="zh-CN" altLang="en-US" sz="1200" dirty="0">
                  <a:solidFill>
                    <a:schemeClr val="bg1"/>
                  </a:solidFill>
                  <a:latin typeface="Arial"/>
                  <a:ea typeface="阿里巴巴普惠体 Medium"/>
                  <a:cs typeface="阿里巴巴普惠体 Medium"/>
                  <a:sym typeface="Arial"/>
                </a:rPr>
                <a:t>（词素），</a:t>
              </a:r>
              <a:r>
                <a:rPr lang="en-US" altLang="zh-CN" sz="1200" dirty="0">
                  <a:solidFill>
                    <a:schemeClr val="bg1"/>
                  </a:solidFill>
                  <a:latin typeface="Arial"/>
                  <a:ea typeface="阿里巴巴普惠体 Medium"/>
                  <a:cs typeface="阿里巴巴普惠体 Medium"/>
                  <a:sym typeface="Arial"/>
                </a:rPr>
                <a:t>token</a:t>
              </a:r>
              <a:r>
                <a:rPr lang="zh-CN" altLang="en-US" sz="1200" dirty="0">
                  <a:solidFill>
                    <a:schemeClr val="bg1"/>
                  </a:solidFill>
                  <a:latin typeface="Arial"/>
                  <a:ea typeface="阿里巴巴普惠体 Medium"/>
                  <a:cs typeface="阿里巴巴普惠体 Medium"/>
                  <a:sym typeface="Arial"/>
                </a:rPr>
                <a:t>（模式）</a:t>
              </a:r>
            </a:p>
          </p:txBody>
        </p:sp>
        <p:sp>
          <p:nvSpPr>
            <p:cNvPr id="28" name="文本框 27"/>
            <p:cNvSpPr txBox="1"/>
            <p:nvPr/>
          </p:nvSpPr>
          <p:spPr>
            <a:xfrm>
              <a:off x="3406158" y="4356524"/>
              <a:ext cx="1875647" cy="400110"/>
            </a:xfrm>
            <a:prstGeom prst="rect">
              <a:avLst/>
            </a:prstGeom>
            <a:noFill/>
          </p:spPr>
          <p:txBody>
            <a:bodyPr wrap="none" rtlCol="0">
              <a:spAutoFit/>
            </a:bodyPr>
            <a:lstStyle/>
            <a:p>
              <a:r>
                <a:rPr lang="zh-CN" altLang="en-US" sz="2000" dirty="0">
                  <a:solidFill>
                    <a:schemeClr val="bg1"/>
                  </a:solidFill>
                  <a:latin typeface="Arial"/>
                  <a:ea typeface="阿里巴巴普惠体 Medium"/>
                  <a:cs typeface="阿里巴巴普惠体 Medium"/>
                  <a:sym typeface="Arial"/>
                </a:rPr>
                <a:t>词法分析</a:t>
              </a:r>
            </a:p>
          </p:txBody>
        </p:sp>
      </p:grpSp>
      <p:grpSp>
        <p:nvGrpSpPr>
          <p:cNvPr id="29" name="组合 28"/>
          <p:cNvGrpSpPr/>
          <p:nvPr/>
        </p:nvGrpSpPr>
        <p:grpSpPr>
          <a:xfrm>
            <a:off x="6711148" y="3588951"/>
            <a:ext cx="4546547" cy="619659"/>
            <a:chOff x="3406158" y="4356524"/>
            <a:chExt cx="6925068" cy="619659"/>
          </a:xfrm>
        </p:grpSpPr>
        <p:sp>
          <p:nvSpPr>
            <p:cNvPr id="30" name="文本框 29"/>
            <p:cNvSpPr txBox="1"/>
            <p:nvPr/>
          </p:nvSpPr>
          <p:spPr>
            <a:xfrm>
              <a:off x="3406158" y="4699184"/>
              <a:ext cx="6925068" cy="276999"/>
            </a:xfrm>
            <a:prstGeom prst="rect">
              <a:avLst/>
            </a:prstGeom>
            <a:noFill/>
          </p:spPr>
          <p:txBody>
            <a:bodyPr wrap="square" rtlCol="0">
              <a:spAutoFit/>
            </a:bodyPr>
            <a:lstStyle/>
            <a:p>
              <a:r>
                <a:rPr lang="zh-CN" altLang="en-US" sz="1200" dirty="0">
                  <a:solidFill>
                    <a:schemeClr val="bg1"/>
                  </a:solidFill>
                  <a:latin typeface="Arial"/>
                  <a:ea typeface="阿里巴巴普惠体 Medium"/>
                  <a:cs typeface="阿里巴巴普惠体 Medium"/>
                  <a:sym typeface="Arial"/>
                </a:rPr>
                <a:t>语法树（字典），报错处理</a:t>
              </a:r>
            </a:p>
          </p:txBody>
        </p:sp>
        <p:sp>
          <p:nvSpPr>
            <p:cNvPr id="31" name="文本框 30"/>
            <p:cNvSpPr txBox="1"/>
            <p:nvPr/>
          </p:nvSpPr>
          <p:spPr>
            <a:xfrm>
              <a:off x="3406158" y="4356524"/>
              <a:ext cx="1843906" cy="400110"/>
            </a:xfrm>
            <a:prstGeom prst="rect">
              <a:avLst/>
            </a:prstGeom>
            <a:noFill/>
          </p:spPr>
          <p:txBody>
            <a:bodyPr wrap="none" rtlCol="0">
              <a:spAutoFit/>
            </a:bodyPr>
            <a:lstStyle/>
            <a:p>
              <a:r>
                <a:rPr lang="zh-CN" altLang="en-US" sz="2000" dirty="0">
                  <a:solidFill>
                    <a:schemeClr val="bg1"/>
                  </a:solidFill>
                  <a:latin typeface="Arial"/>
                  <a:ea typeface="阿里巴巴普惠体 Medium"/>
                  <a:cs typeface="阿里巴巴普惠体 Medium"/>
                  <a:sym typeface="Arial"/>
                </a:rPr>
                <a:t>语法分析</a:t>
              </a:r>
            </a:p>
          </p:txBody>
        </p:sp>
      </p:grpSp>
      <p:grpSp>
        <p:nvGrpSpPr>
          <p:cNvPr id="32" name="组合 31"/>
          <p:cNvGrpSpPr/>
          <p:nvPr/>
        </p:nvGrpSpPr>
        <p:grpSpPr>
          <a:xfrm>
            <a:off x="6186266" y="4953166"/>
            <a:ext cx="5071428" cy="619659"/>
            <a:chOff x="3406158" y="4356524"/>
            <a:chExt cx="7724542" cy="619659"/>
          </a:xfrm>
        </p:grpSpPr>
        <p:sp>
          <p:nvSpPr>
            <p:cNvPr id="33" name="文本框 32"/>
            <p:cNvSpPr txBox="1"/>
            <p:nvPr/>
          </p:nvSpPr>
          <p:spPr>
            <a:xfrm>
              <a:off x="3406158" y="4699184"/>
              <a:ext cx="7724542" cy="276999"/>
            </a:xfrm>
            <a:prstGeom prst="rect">
              <a:avLst/>
            </a:prstGeom>
            <a:noFill/>
          </p:spPr>
          <p:txBody>
            <a:bodyPr wrap="square" rtlCol="0">
              <a:spAutoFit/>
            </a:bodyPr>
            <a:lstStyle/>
            <a:p>
              <a:r>
                <a:rPr lang="zh-CN" altLang="en-US" sz="1200" dirty="0">
                  <a:solidFill>
                    <a:schemeClr val="bg1"/>
                  </a:solidFill>
                  <a:latin typeface="Arial"/>
                  <a:ea typeface="阿里巴巴普惠体 Medium"/>
                  <a:cs typeface="阿里巴巴普惠体 Medium"/>
                  <a:sym typeface="Arial"/>
                </a:rPr>
                <a:t>中间代码，资源管理，生效</a:t>
              </a:r>
            </a:p>
          </p:txBody>
        </p:sp>
        <p:sp>
          <p:nvSpPr>
            <p:cNvPr id="34" name="文本框 33"/>
            <p:cNvSpPr txBox="1"/>
            <p:nvPr/>
          </p:nvSpPr>
          <p:spPr>
            <a:xfrm>
              <a:off x="3406158" y="4356524"/>
              <a:ext cx="1062590" cy="400110"/>
            </a:xfrm>
            <a:prstGeom prst="rect">
              <a:avLst/>
            </a:prstGeom>
            <a:noFill/>
          </p:spPr>
          <p:txBody>
            <a:bodyPr wrap="none" rtlCol="0">
              <a:spAutoFit/>
            </a:bodyPr>
            <a:lstStyle/>
            <a:p>
              <a:r>
                <a:rPr lang="zh-CN" altLang="en-US" sz="2000" dirty="0">
                  <a:solidFill>
                    <a:schemeClr val="bg1"/>
                  </a:solidFill>
                  <a:latin typeface="Arial"/>
                  <a:ea typeface="阿里巴巴普惠体 Medium"/>
                  <a:cs typeface="阿里巴巴普惠体 Medium"/>
                  <a:sym typeface="Arial"/>
                </a:rPr>
                <a:t>装载</a:t>
              </a:r>
            </a:p>
          </p:txBody>
        </p:sp>
      </p:grpSp>
      <p:grpSp>
        <p:nvGrpSpPr>
          <p:cNvPr id="35" name="组合 34"/>
          <p:cNvGrpSpPr/>
          <p:nvPr/>
        </p:nvGrpSpPr>
        <p:grpSpPr>
          <a:xfrm>
            <a:off x="807869" y="1122626"/>
            <a:ext cx="4305165" cy="4589798"/>
            <a:chOff x="0" y="-1"/>
            <a:chExt cx="6833062" cy="6858001"/>
          </a:xfrm>
          <a:blipFill dpi="0" rotWithShape="1">
            <a:blip r:embed="rId3">
              <a:extLst>
                <a:ext uri="{28A0092B-C50C-407E-A947-70E740481C1C}">
                  <a14:useLocalDpi xmlns:a14="http://schemas.microsoft.com/office/drawing/2010/main" val="0"/>
                </a:ext>
              </a:extLst>
            </a:blip>
            <a:srcRect/>
            <a:stretch>
              <a:fillRect/>
            </a:stretch>
          </a:blipFill>
        </p:grpSpPr>
        <p:sp>
          <p:nvSpPr>
            <p:cNvPr id="36" name="矩形 35"/>
            <p:cNvSpPr/>
            <p:nvPr/>
          </p:nvSpPr>
          <p:spPr>
            <a:xfrm>
              <a:off x="0" y="0"/>
              <a:ext cx="3873731"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37" name="直角三角形 36"/>
            <p:cNvSpPr/>
            <p:nvPr/>
          </p:nvSpPr>
          <p:spPr>
            <a:xfrm flipV="1">
              <a:off x="3873731" y="-1"/>
              <a:ext cx="2959331" cy="685800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grpSp>
      <p:sp>
        <p:nvSpPr>
          <p:cNvPr id="12" name="文本框 11">
            <a:extLst>
              <a:ext uri="{FF2B5EF4-FFF2-40B4-BE49-F238E27FC236}">
                <a16:creationId xmlns:a16="http://schemas.microsoft.com/office/drawing/2014/main" id="{BAC0C545-4602-E3BE-66CF-1CDC11B8279A}"/>
              </a:ext>
            </a:extLst>
          </p:cNvPr>
          <p:cNvSpPr txBox="1"/>
          <p:nvPr/>
        </p:nvSpPr>
        <p:spPr>
          <a:xfrm>
            <a:off x="6087407" y="979821"/>
            <a:ext cx="3925235" cy="215444"/>
          </a:xfrm>
          <a:prstGeom prst="rect">
            <a:avLst/>
          </a:prstGeom>
          <a:noFill/>
        </p:spPr>
        <p:txBody>
          <a:bodyPr wrap="square" rtlCol="0">
            <a:spAutoFit/>
          </a:bodyPr>
          <a:lstStyle/>
          <a:p>
            <a:r>
              <a:rPr lang="zh-CN" altLang="en-US" sz="800" dirty="0">
                <a:solidFill>
                  <a:schemeClr val="bg1"/>
                </a:solidFill>
              </a:rPr>
              <a:t>功能上就只有以下部分不存在编译优化其他功能</a:t>
            </a:r>
          </a:p>
        </p:txBody>
      </p:sp>
      <p:sp>
        <p:nvSpPr>
          <p:cNvPr id="13" name="TextBox 7">
            <a:extLst>
              <a:ext uri="{FF2B5EF4-FFF2-40B4-BE49-F238E27FC236}">
                <a16:creationId xmlns:a16="http://schemas.microsoft.com/office/drawing/2014/main" id="{A8797A74-2E42-0363-1318-A1733356C9FF}"/>
              </a:ext>
            </a:extLst>
          </p:cNvPr>
          <p:cNvSpPr txBox="1"/>
          <p:nvPr/>
        </p:nvSpPr>
        <p:spPr>
          <a:xfrm>
            <a:off x="6432706" y="160376"/>
            <a:ext cx="3096349" cy="707886"/>
          </a:xfrm>
          <a:prstGeom prst="rect">
            <a:avLst/>
          </a:prstGeom>
          <a:noFill/>
        </p:spPr>
        <p:txBody>
          <a:bodyPr wrap="square" rtlCol="0">
            <a:spAutoFit/>
          </a:bodyPr>
          <a:lstStyle/>
          <a:p>
            <a:pPr algn="ctr"/>
            <a:r>
              <a:rPr lang="zh-CN" altLang="en-US" sz="4000" dirty="0">
                <a:solidFill>
                  <a:schemeClr val="bg1"/>
                </a:solidFill>
                <a:latin typeface="Arial"/>
                <a:ea typeface="阿里巴巴普惠体 Medium"/>
                <a:cs typeface="阿里巴巴普惠体 Medium"/>
                <a:sym typeface="Arial"/>
              </a:rPr>
              <a:t>核心功能</a:t>
            </a:r>
          </a:p>
        </p:txBody>
      </p:sp>
    </p:spTree>
  </p:cSld>
  <p:clrMapOvr>
    <a:masterClrMapping/>
  </p:clrMapOvr>
  <mc:AlternateContent xmlns:mc="http://schemas.openxmlformats.org/markup-compatibility/2006" xmlns:p14="http://schemas.microsoft.com/office/powerpoint/2010/main">
    <mc:Choice Requires="p14">
      <p:transition spd="slow" p14:dur="1400" advTm="0">
        <p14:ripp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500"/>
                                        <p:tgtEl>
                                          <p:spTgt spid="2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1000"/>
                                        <p:tgtEl>
                                          <p:spTgt spid="22"/>
                                        </p:tgtEl>
                                      </p:cBhvr>
                                    </p:animEffect>
                                    <p:anim calcmode="lin" valueType="num">
                                      <p:cBhvr>
                                        <p:cTn id="32" dur="1000" fill="hold"/>
                                        <p:tgtEl>
                                          <p:spTgt spid="22"/>
                                        </p:tgtEl>
                                        <p:attrNameLst>
                                          <p:attrName>ppt_x</p:attrName>
                                        </p:attrNameLst>
                                      </p:cBhvr>
                                      <p:tavLst>
                                        <p:tav tm="0">
                                          <p:val>
                                            <p:strVal val="#ppt_x"/>
                                          </p:val>
                                        </p:tav>
                                        <p:tav tm="100000">
                                          <p:val>
                                            <p:strVal val="#ppt_x"/>
                                          </p:val>
                                        </p:tav>
                                      </p:tavLst>
                                    </p:anim>
                                    <p:anim calcmode="lin" valueType="num">
                                      <p:cBhvr>
                                        <p:cTn id="3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1000"/>
                                        <p:tgtEl>
                                          <p:spTgt spid="29"/>
                                        </p:tgtEl>
                                      </p:cBhvr>
                                    </p:animEffect>
                                    <p:anim calcmode="lin" valueType="num">
                                      <p:cBhvr>
                                        <p:cTn id="39" dur="1000" fill="hold"/>
                                        <p:tgtEl>
                                          <p:spTgt spid="29"/>
                                        </p:tgtEl>
                                        <p:attrNameLst>
                                          <p:attrName>ppt_x</p:attrName>
                                        </p:attrNameLst>
                                      </p:cBhvr>
                                      <p:tavLst>
                                        <p:tav tm="0">
                                          <p:val>
                                            <p:strVal val="#ppt_x"/>
                                          </p:val>
                                        </p:tav>
                                        <p:tav tm="100000">
                                          <p:val>
                                            <p:strVal val="#ppt_x"/>
                                          </p:val>
                                        </p:tav>
                                      </p:tavLst>
                                    </p:anim>
                                    <p:anim calcmode="lin" valueType="num">
                                      <p:cBhvr>
                                        <p:cTn id="4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1000"/>
                                        <p:tgtEl>
                                          <p:spTgt spid="32"/>
                                        </p:tgtEl>
                                      </p:cBhvr>
                                    </p:animEffect>
                                    <p:anim calcmode="lin" valueType="num">
                                      <p:cBhvr>
                                        <p:cTn id="46" dur="1000" fill="hold"/>
                                        <p:tgtEl>
                                          <p:spTgt spid="32"/>
                                        </p:tgtEl>
                                        <p:attrNameLst>
                                          <p:attrName>ppt_x</p:attrName>
                                        </p:attrNameLst>
                                      </p:cBhvr>
                                      <p:tavLst>
                                        <p:tav tm="0">
                                          <p:val>
                                            <p:strVal val="#ppt_x"/>
                                          </p:val>
                                        </p:tav>
                                        <p:tav tm="100000">
                                          <p:val>
                                            <p:strVal val="#ppt_x"/>
                                          </p:val>
                                        </p:tav>
                                      </p:tavLst>
                                    </p:anim>
                                    <p:anim calcmode="lin" valueType="num">
                                      <p:cBhvr>
                                        <p:cTn id="47"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up)">
                                      <p:cBhvr>
                                        <p:cTn id="5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152878" y="442064"/>
            <a:ext cx="3888834" cy="1077218"/>
          </a:xfrm>
          <a:prstGeom prst="rect">
            <a:avLst/>
          </a:prstGeom>
          <a:noFill/>
        </p:spPr>
        <p:txBody>
          <a:bodyPr wrap="square" rtlCol="0">
            <a:spAutoFit/>
          </a:bodyPr>
          <a:lstStyle/>
          <a:p>
            <a:pPr algn="ctr"/>
            <a:r>
              <a:rPr lang="zh-CN" altLang="en-US" sz="3200" dirty="0">
                <a:solidFill>
                  <a:schemeClr val="bg1"/>
                </a:solidFill>
                <a:latin typeface="Arial"/>
                <a:ea typeface="阿里巴巴普惠体 Medium"/>
                <a:cs typeface="阿里巴巴普惠体 Medium"/>
                <a:sym typeface="Arial"/>
              </a:rPr>
              <a:t>指令结构</a:t>
            </a:r>
            <a:endParaRPr lang="en-US" altLang="zh-CN" sz="3200" dirty="0">
              <a:solidFill>
                <a:schemeClr val="bg1"/>
              </a:solidFill>
              <a:latin typeface="Arial"/>
              <a:ea typeface="阿里巴巴普惠体 Medium"/>
              <a:cs typeface="阿里巴巴普惠体 Medium"/>
              <a:sym typeface="Arial"/>
            </a:endParaRPr>
          </a:p>
          <a:p>
            <a:pPr algn="ctr"/>
            <a:r>
              <a:rPr lang="en-US" altLang="zh-CN" sz="3200" dirty="0">
                <a:solidFill>
                  <a:schemeClr val="bg1"/>
                </a:solidFill>
                <a:latin typeface="Arial"/>
                <a:ea typeface="阿里巴巴普惠体 Medium"/>
                <a:cs typeface="阿里巴巴普惠体 Medium"/>
                <a:sym typeface="Arial"/>
              </a:rPr>
              <a:t>Lian</a:t>
            </a:r>
            <a:r>
              <a:rPr lang="zh-CN" altLang="en-US" sz="3200" dirty="0">
                <a:solidFill>
                  <a:schemeClr val="bg1"/>
                </a:solidFill>
                <a:latin typeface="Arial"/>
                <a:ea typeface="阿里巴巴普惠体 Medium"/>
                <a:cs typeface="阿里巴巴普惠体 Medium"/>
                <a:sym typeface="Arial"/>
              </a:rPr>
              <a:t>语言语法展示</a:t>
            </a:r>
            <a:endParaRPr lang="en-US" altLang="zh-CN" sz="3200" dirty="0">
              <a:solidFill>
                <a:schemeClr val="bg1"/>
              </a:solidFill>
              <a:latin typeface="Arial"/>
              <a:ea typeface="阿里巴巴普惠体 Medium"/>
              <a:cs typeface="阿里巴巴普惠体 Medium"/>
              <a:sym typeface="Arial"/>
            </a:endParaRPr>
          </a:p>
        </p:txBody>
      </p:sp>
      <p:sp>
        <p:nvSpPr>
          <p:cNvPr id="9" name="矩形 8"/>
          <p:cNvSpPr/>
          <p:nvPr/>
        </p:nvSpPr>
        <p:spPr>
          <a:xfrm>
            <a:off x="0" y="3836403"/>
            <a:ext cx="12192000" cy="3021599"/>
          </a:xfrm>
          <a:prstGeom prst="rect">
            <a:avLst/>
          </a:prstGeom>
          <a:solidFill>
            <a:srgbClr val="FBF1E9">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grpSp>
        <p:nvGrpSpPr>
          <p:cNvPr id="10" name="组合 9"/>
          <p:cNvGrpSpPr/>
          <p:nvPr/>
        </p:nvGrpSpPr>
        <p:grpSpPr>
          <a:xfrm>
            <a:off x="4026917" y="2115648"/>
            <a:ext cx="3586395" cy="3206630"/>
            <a:chOff x="789606" y="1491467"/>
            <a:chExt cx="4314120" cy="3857296"/>
          </a:xfrm>
        </p:grpSpPr>
        <p:pic>
          <p:nvPicPr>
            <p:cNvPr id="12" name="图片 11"/>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rot="7431029">
              <a:off x="1246430" y="1491467"/>
              <a:ext cx="3857296" cy="3857296"/>
            </a:xfrm>
            <a:prstGeom prst="ellipse">
              <a:avLst/>
            </a:prstGeom>
            <a:effectLst>
              <a:outerShdw blurRad="635000" dist="254000" dir="3000000" algn="ctr" rotWithShape="0">
                <a:schemeClr val="tx1">
                  <a:lumMod val="75000"/>
                  <a:lumOff val="25000"/>
                  <a:alpha val="30000"/>
                </a:schemeClr>
              </a:outerShdw>
            </a:effectLst>
          </p:spPr>
        </p:pic>
        <p:sp>
          <p:nvSpPr>
            <p:cNvPr id="13" name="泪滴形 12"/>
            <p:cNvSpPr/>
            <p:nvPr/>
          </p:nvSpPr>
          <p:spPr>
            <a:xfrm rot="4070460">
              <a:off x="777305" y="1703571"/>
              <a:ext cx="922918" cy="898316"/>
            </a:xfrm>
            <a:prstGeom prst="teardrop">
              <a:avLst>
                <a:gd name="adj" fmla="val 180000"/>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grpSp>
      <p:grpSp>
        <p:nvGrpSpPr>
          <p:cNvPr id="14" name="组合 13"/>
          <p:cNvGrpSpPr/>
          <p:nvPr/>
        </p:nvGrpSpPr>
        <p:grpSpPr>
          <a:xfrm>
            <a:off x="1099826" y="2103675"/>
            <a:ext cx="2685537" cy="794251"/>
            <a:chOff x="3406158" y="4280485"/>
            <a:chExt cx="5050152" cy="794251"/>
          </a:xfrm>
        </p:grpSpPr>
        <p:sp>
          <p:nvSpPr>
            <p:cNvPr id="15" name="文本框 14"/>
            <p:cNvSpPr txBox="1"/>
            <p:nvPr/>
          </p:nvSpPr>
          <p:spPr>
            <a:xfrm>
              <a:off x="3406158" y="4699184"/>
              <a:ext cx="5050152" cy="375552"/>
            </a:xfrm>
            <a:prstGeom prst="rect">
              <a:avLst/>
            </a:prstGeom>
            <a:noFill/>
          </p:spPr>
          <p:txBody>
            <a:bodyPr wrap="square" rtlCol="0">
              <a:spAutoFit/>
            </a:bodyPr>
            <a:lstStyle/>
            <a:p>
              <a:pPr>
                <a:lnSpc>
                  <a:spcPct val="150000"/>
                </a:lnSpc>
              </a:pPr>
              <a:r>
                <a:rPr lang="zh-CN" altLang="en-US" sz="1400" dirty="0">
                  <a:solidFill>
                    <a:schemeClr val="bg1"/>
                  </a:solidFill>
                  <a:latin typeface="Arial"/>
                  <a:ea typeface="阿里巴巴普惠体 Medium"/>
                  <a:cs typeface="阿里巴巴普惠体 Medium"/>
                  <a:sym typeface="Arial"/>
                </a:rPr>
                <a:t>双目</a:t>
              </a:r>
            </a:p>
          </p:txBody>
        </p:sp>
        <p:sp>
          <p:nvSpPr>
            <p:cNvPr id="16" name="文本框 15"/>
            <p:cNvSpPr txBox="1"/>
            <p:nvPr/>
          </p:nvSpPr>
          <p:spPr>
            <a:xfrm>
              <a:off x="3406162" y="4280485"/>
              <a:ext cx="3241134" cy="461665"/>
            </a:xfrm>
            <a:prstGeom prst="rect">
              <a:avLst/>
            </a:prstGeom>
            <a:noFill/>
          </p:spPr>
          <p:txBody>
            <a:bodyPr wrap="none" rtlCol="0">
              <a:spAutoFit/>
            </a:bodyPr>
            <a:lstStyle/>
            <a:p>
              <a:r>
                <a:rPr lang="zh-CN" altLang="en-US" sz="2400" dirty="0">
                  <a:solidFill>
                    <a:schemeClr val="bg1"/>
                  </a:solidFill>
                  <a:latin typeface="Arial"/>
                  <a:ea typeface="阿里巴巴普惠体 Medium"/>
                  <a:cs typeface="阿里巴巴普惠体 Medium"/>
                  <a:sym typeface="Arial"/>
                </a:rPr>
                <a:t>算术运算符</a:t>
              </a:r>
            </a:p>
          </p:txBody>
        </p:sp>
      </p:grpSp>
      <p:grpSp>
        <p:nvGrpSpPr>
          <p:cNvPr id="17" name="组合 16"/>
          <p:cNvGrpSpPr/>
          <p:nvPr/>
        </p:nvGrpSpPr>
        <p:grpSpPr>
          <a:xfrm>
            <a:off x="1099826" y="4240293"/>
            <a:ext cx="2685537" cy="794251"/>
            <a:chOff x="3406158" y="4280485"/>
            <a:chExt cx="5050152" cy="794251"/>
          </a:xfrm>
        </p:grpSpPr>
        <p:sp>
          <p:nvSpPr>
            <p:cNvPr id="18" name="文本框 17"/>
            <p:cNvSpPr txBox="1"/>
            <p:nvPr/>
          </p:nvSpPr>
          <p:spPr>
            <a:xfrm>
              <a:off x="3406158" y="4699184"/>
              <a:ext cx="5050152" cy="375552"/>
            </a:xfrm>
            <a:prstGeom prst="rect">
              <a:avLst/>
            </a:prstGeom>
            <a:noFill/>
          </p:spPr>
          <p:txBody>
            <a:bodyPr wrap="square" rtlCol="0">
              <a:spAutoFit/>
            </a:bodyPr>
            <a:lstStyle/>
            <a:p>
              <a:pPr>
                <a:lnSpc>
                  <a:spcPct val="150000"/>
                </a:lnSpc>
              </a:pPr>
              <a:r>
                <a:rPr lang="zh-CN" altLang="en-US" sz="1400" dirty="0">
                  <a:solidFill>
                    <a:schemeClr val="bg1"/>
                  </a:solidFill>
                  <a:latin typeface="Arial"/>
                  <a:ea typeface="阿里巴巴普惠体 Medium"/>
                  <a:cs typeface="阿里巴巴普惠体 Medium"/>
                  <a:sym typeface="Arial"/>
                </a:rPr>
                <a:t>多目</a:t>
              </a:r>
            </a:p>
          </p:txBody>
        </p:sp>
        <p:sp>
          <p:nvSpPr>
            <p:cNvPr id="19" name="文本框 18"/>
            <p:cNvSpPr txBox="1"/>
            <p:nvPr/>
          </p:nvSpPr>
          <p:spPr>
            <a:xfrm>
              <a:off x="3406162" y="4280485"/>
              <a:ext cx="2662359" cy="461665"/>
            </a:xfrm>
            <a:prstGeom prst="rect">
              <a:avLst/>
            </a:prstGeom>
            <a:noFill/>
          </p:spPr>
          <p:txBody>
            <a:bodyPr wrap="none" rtlCol="0">
              <a:spAutoFit/>
            </a:bodyPr>
            <a:lstStyle/>
            <a:p>
              <a:r>
                <a:rPr lang="zh-CN" altLang="en-US" sz="2400" dirty="0">
                  <a:solidFill>
                    <a:schemeClr val="bg1"/>
                  </a:solidFill>
                  <a:latin typeface="Arial"/>
                  <a:ea typeface="阿里巴巴普惠体 Medium"/>
                  <a:cs typeface="阿里巴巴普惠体 Medium"/>
                  <a:sym typeface="Arial"/>
                </a:rPr>
                <a:t>条件跳转</a:t>
              </a:r>
            </a:p>
          </p:txBody>
        </p:sp>
      </p:grpSp>
      <p:grpSp>
        <p:nvGrpSpPr>
          <p:cNvPr id="20" name="组合 19"/>
          <p:cNvGrpSpPr/>
          <p:nvPr/>
        </p:nvGrpSpPr>
        <p:grpSpPr>
          <a:xfrm>
            <a:off x="8359074" y="2169245"/>
            <a:ext cx="2685537" cy="794251"/>
            <a:chOff x="3406158" y="4280485"/>
            <a:chExt cx="5050152" cy="794251"/>
          </a:xfrm>
        </p:grpSpPr>
        <p:sp>
          <p:nvSpPr>
            <p:cNvPr id="21" name="文本框 20"/>
            <p:cNvSpPr txBox="1"/>
            <p:nvPr/>
          </p:nvSpPr>
          <p:spPr>
            <a:xfrm>
              <a:off x="3406158" y="4699184"/>
              <a:ext cx="5050152" cy="375552"/>
            </a:xfrm>
            <a:prstGeom prst="rect">
              <a:avLst/>
            </a:prstGeom>
            <a:noFill/>
          </p:spPr>
          <p:txBody>
            <a:bodyPr wrap="square" rtlCol="0">
              <a:spAutoFit/>
            </a:bodyPr>
            <a:lstStyle/>
            <a:p>
              <a:pPr>
                <a:lnSpc>
                  <a:spcPct val="150000"/>
                </a:lnSpc>
              </a:pPr>
              <a:r>
                <a:rPr lang="zh-CN" altLang="en-US" sz="1400" dirty="0">
                  <a:solidFill>
                    <a:schemeClr val="bg1"/>
                  </a:solidFill>
                  <a:latin typeface="Arial"/>
                  <a:ea typeface="阿里巴巴普惠体 Medium"/>
                  <a:cs typeface="阿里巴巴普惠体 Medium"/>
                  <a:sym typeface="Arial"/>
                </a:rPr>
                <a:t>单目</a:t>
              </a:r>
            </a:p>
          </p:txBody>
        </p:sp>
        <p:sp>
          <p:nvSpPr>
            <p:cNvPr id="22" name="文本框 21"/>
            <p:cNvSpPr txBox="1"/>
            <p:nvPr/>
          </p:nvSpPr>
          <p:spPr>
            <a:xfrm>
              <a:off x="3406162" y="4280485"/>
              <a:ext cx="2662359" cy="461665"/>
            </a:xfrm>
            <a:prstGeom prst="rect">
              <a:avLst/>
            </a:prstGeom>
            <a:noFill/>
          </p:spPr>
          <p:txBody>
            <a:bodyPr wrap="none" rtlCol="0">
              <a:spAutoFit/>
            </a:bodyPr>
            <a:lstStyle/>
            <a:p>
              <a:r>
                <a:rPr lang="zh-CN" altLang="en-US" sz="2400" dirty="0">
                  <a:solidFill>
                    <a:schemeClr val="bg1"/>
                  </a:solidFill>
                  <a:latin typeface="Arial"/>
                  <a:ea typeface="阿里巴巴普惠体 Medium"/>
                  <a:cs typeface="阿里巴巴普惠体 Medium"/>
                  <a:sym typeface="Arial"/>
                </a:rPr>
                <a:t>堆栈操作</a:t>
              </a:r>
            </a:p>
          </p:txBody>
        </p:sp>
      </p:grpSp>
      <p:grpSp>
        <p:nvGrpSpPr>
          <p:cNvPr id="23" name="组合 22"/>
          <p:cNvGrpSpPr/>
          <p:nvPr/>
        </p:nvGrpSpPr>
        <p:grpSpPr>
          <a:xfrm>
            <a:off x="8359074" y="4305863"/>
            <a:ext cx="2685537" cy="794251"/>
            <a:chOff x="3406158" y="4280485"/>
            <a:chExt cx="5050152" cy="794251"/>
          </a:xfrm>
        </p:grpSpPr>
        <p:sp>
          <p:nvSpPr>
            <p:cNvPr id="24" name="文本框 23"/>
            <p:cNvSpPr txBox="1"/>
            <p:nvPr/>
          </p:nvSpPr>
          <p:spPr>
            <a:xfrm>
              <a:off x="3406158" y="4699184"/>
              <a:ext cx="5050152" cy="375552"/>
            </a:xfrm>
            <a:prstGeom prst="rect">
              <a:avLst/>
            </a:prstGeom>
            <a:noFill/>
          </p:spPr>
          <p:txBody>
            <a:bodyPr wrap="square" rtlCol="0">
              <a:spAutoFit/>
            </a:bodyPr>
            <a:lstStyle/>
            <a:p>
              <a:pPr>
                <a:lnSpc>
                  <a:spcPct val="150000"/>
                </a:lnSpc>
              </a:pPr>
              <a:r>
                <a:rPr lang="zh-CN" altLang="en-US" sz="1400" dirty="0">
                  <a:solidFill>
                    <a:schemeClr val="bg1"/>
                  </a:solidFill>
                  <a:latin typeface="Arial"/>
                  <a:ea typeface="阿里巴巴普惠体 Medium"/>
                  <a:cs typeface="阿里巴巴普惠体 Medium"/>
                  <a:sym typeface="Arial"/>
                </a:rPr>
                <a:t>单目或仅运算</a:t>
              </a:r>
            </a:p>
          </p:txBody>
        </p:sp>
        <p:sp>
          <p:nvSpPr>
            <p:cNvPr id="25" name="文本框 24"/>
            <p:cNvSpPr txBox="1"/>
            <p:nvPr/>
          </p:nvSpPr>
          <p:spPr>
            <a:xfrm>
              <a:off x="3406162" y="4280485"/>
              <a:ext cx="3226061" cy="461665"/>
            </a:xfrm>
            <a:prstGeom prst="rect">
              <a:avLst/>
            </a:prstGeom>
            <a:noFill/>
          </p:spPr>
          <p:txBody>
            <a:bodyPr wrap="none" rtlCol="0">
              <a:spAutoFit/>
            </a:bodyPr>
            <a:lstStyle/>
            <a:p>
              <a:r>
                <a:rPr lang="zh-CN" altLang="en-US" sz="2400" dirty="0">
                  <a:solidFill>
                    <a:schemeClr val="bg1"/>
                  </a:solidFill>
                  <a:latin typeface="Arial"/>
                  <a:ea typeface="阿里巴巴普惠体 Medium"/>
                  <a:cs typeface="阿里巴巴普惠体 Medium"/>
                  <a:sym typeface="Arial"/>
                </a:rPr>
                <a:t>函数与控制</a:t>
              </a:r>
            </a:p>
          </p:txBody>
        </p:sp>
      </p:grpSp>
      <p:pic>
        <p:nvPicPr>
          <p:cNvPr id="5" name="图片 4">
            <a:extLst>
              <a:ext uri="{FF2B5EF4-FFF2-40B4-BE49-F238E27FC236}">
                <a16:creationId xmlns:a16="http://schemas.microsoft.com/office/drawing/2014/main" id="{7668AEE3-FD36-EA8E-08ED-7323BD036FAA}"/>
              </a:ext>
            </a:extLst>
          </p:cNvPr>
          <p:cNvPicPr>
            <a:picLocks noChangeAspect="1"/>
          </p:cNvPicPr>
          <p:nvPr/>
        </p:nvPicPr>
        <p:blipFill>
          <a:blip r:embed="rId3"/>
          <a:stretch>
            <a:fillRect/>
          </a:stretch>
        </p:blipFill>
        <p:spPr>
          <a:xfrm>
            <a:off x="549913" y="963290"/>
            <a:ext cx="2685537" cy="843806"/>
          </a:xfrm>
          <a:prstGeom prst="rect">
            <a:avLst/>
          </a:prstGeom>
        </p:spPr>
      </p:pic>
      <p:pic>
        <p:nvPicPr>
          <p:cNvPr id="3" name="图片 2">
            <a:extLst>
              <a:ext uri="{FF2B5EF4-FFF2-40B4-BE49-F238E27FC236}">
                <a16:creationId xmlns:a16="http://schemas.microsoft.com/office/drawing/2014/main" id="{CB0B5BC2-4B1B-4B9F-594E-EA8D317DBB4D}"/>
              </a:ext>
            </a:extLst>
          </p:cNvPr>
          <p:cNvPicPr>
            <a:picLocks noChangeAspect="1"/>
          </p:cNvPicPr>
          <p:nvPr/>
        </p:nvPicPr>
        <p:blipFill>
          <a:blip r:embed="rId4"/>
          <a:stretch>
            <a:fillRect/>
          </a:stretch>
        </p:blipFill>
        <p:spPr>
          <a:xfrm>
            <a:off x="59530" y="1450328"/>
            <a:ext cx="2080591" cy="631777"/>
          </a:xfrm>
          <a:prstGeom prst="rect">
            <a:avLst/>
          </a:prstGeom>
        </p:spPr>
      </p:pic>
      <p:pic>
        <p:nvPicPr>
          <p:cNvPr id="26" name="图片 25">
            <a:extLst>
              <a:ext uri="{FF2B5EF4-FFF2-40B4-BE49-F238E27FC236}">
                <a16:creationId xmlns:a16="http://schemas.microsoft.com/office/drawing/2014/main" id="{7E419B25-4CFA-6D4D-EF9F-AA43561455BD}"/>
              </a:ext>
            </a:extLst>
          </p:cNvPr>
          <p:cNvPicPr>
            <a:picLocks noChangeAspect="1"/>
          </p:cNvPicPr>
          <p:nvPr/>
        </p:nvPicPr>
        <p:blipFill>
          <a:blip r:embed="rId5"/>
          <a:stretch>
            <a:fillRect/>
          </a:stretch>
        </p:blipFill>
        <p:spPr>
          <a:xfrm>
            <a:off x="1551833" y="3105830"/>
            <a:ext cx="2350951" cy="1061829"/>
          </a:xfrm>
          <a:prstGeom prst="rect">
            <a:avLst/>
          </a:prstGeom>
        </p:spPr>
      </p:pic>
      <p:pic>
        <p:nvPicPr>
          <p:cNvPr id="7" name="图片 6">
            <a:extLst>
              <a:ext uri="{FF2B5EF4-FFF2-40B4-BE49-F238E27FC236}">
                <a16:creationId xmlns:a16="http://schemas.microsoft.com/office/drawing/2014/main" id="{CB02C676-6CC9-0CE4-D5E4-917124FB3CA4}"/>
              </a:ext>
            </a:extLst>
          </p:cNvPr>
          <p:cNvPicPr>
            <a:picLocks noChangeAspect="1"/>
          </p:cNvPicPr>
          <p:nvPr/>
        </p:nvPicPr>
        <p:blipFill>
          <a:blip r:embed="rId6"/>
          <a:stretch>
            <a:fillRect/>
          </a:stretch>
        </p:blipFill>
        <p:spPr>
          <a:xfrm>
            <a:off x="0" y="3537079"/>
            <a:ext cx="1551833" cy="777786"/>
          </a:xfrm>
          <a:prstGeom prst="rect">
            <a:avLst/>
          </a:prstGeom>
        </p:spPr>
      </p:pic>
      <p:pic>
        <p:nvPicPr>
          <p:cNvPr id="30" name="图片 29">
            <a:extLst>
              <a:ext uri="{FF2B5EF4-FFF2-40B4-BE49-F238E27FC236}">
                <a16:creationId xmlns:a16="http://schemas.microsoft.com/office/drawing/2014/main" id="{00E3A4DE-7F56-6736-1E30-1B0A71B59FC5}"/>
              </a:ext>
            </a:extLst>
          </p:cNvPr>
          <p:cNvPicPr>
            <a:picLocks noChangeAspect="1"/>
          </p:cNvPicPr>
          <p:nvPr/>
        </p:nvPicPr>
        <p:blipFill>
          <a:blip r:embed="rId7"/>
          <a:stretch>
            <a:fillRect/>
          </a:stretch>
        </p:blipFill>
        <p:spPr>
          <a:xfrm>
            <a:off x="8935164" y="946710"/>
            <a:ext cx="3256836" cy="954590"/>
          </a:xfrm>
          <a:prstGeom prst="rect">
            <a:avLst/>
          </a:prstGeom>
        </p:spPr>
      </p:pic>
      <p:pic>
        <p:nvPicPr>
          <p:cNvPr id="28" name="图片 27">
            <a:extLst>
              <a:ext uri="{FF2B5EF4-FFF2-40B4-BE49-F238E27FC236}">
                <a16:creationId xmlns:a16="http://schemas.microsoft.com/office/drawing/2014/main" id="{F75CAFC0-1CCB-2D09-B15C-AA932337DF2F}"/>
              </a:ext>
            </a:extLst>
          </p:cNvPr>
          <p:cNvPicPr>
            <a:picLocks noChangeAspect="1"/>
          </p:cNvPicPr>
          <p:nvPr/>
        </p:nvPicPr>
        <p:blipFill>
          <a:blip r:embed="rId8"/>
          <a:stretch>
            <a:fillRect/>
          </a:stretch>
        </p:blipFill>
        <p:spPr>
          <a:xfrm>
            <a:off x="7811339" y="1495495"/>
            <a:ext cx="2692538" cy="539778"/>
          </a:xfrm>
          <a:prstGeom prst="rect">
            <a:avLst/>
          </a:prstGeom>
        </p:spPr>
      </p:pic>
      <p:pic>
        <p:nvPicPr>
          <p:cNvPr id="32" name="图片 31">
            <a:extLst>
              <a:ext uri="{FF2B5EF4-FFF2-40B4-BE49-F238E27FC236}">
                <a16:creationId xmlns:a16="http://schemas.microsoft.com/office/drawing/2014/main" id="{DE02DDCA-D7F2-225F-07DA-A85FE171F81B}"/>
              </a:ext>
            </a:extLst>
          </p:cNvPr>
          <p:cNvPicPr>
            <a:picLocks noChangeAspect="1"/>
          </p:cNvPicPr>
          <p:nvPr/>
        </p:nvPicPr>
        <p:blipFill>
          <a:blip r:embed="rId9"/>
          <a:stretch>
            <a:fillRect/>
          </a:stretch>
        </p:blipFill>
        <p:spPr>
          <a:xfrm>
            <a:off x="9492018" y="3389461"/>
            <a:ext cx="2692538" cy="977778"/>
          </a:xfrm>
          <a:prstGeom prst="rect">
            <a:avLst/>
          </a:prstGeom>
        </p:spPr>
      </p:pic>
      <p:pic>
        <p:nvPicPr>
          <p:cNvPr id="34" name="图片 33">
            <a:extLst>
              <a:ext uri="{FF2B5EF4-FFF2-40B4-BE49-F238E27FC236}">
                <a16:creationId xmlns:a16="http://schemas.microsoft.com/office/drawing/2014/main" id="{948BB552-85C6-7B79-AEA3-33607C0BD978}"/>
              </a:ext>
            </a:extLst>
          </p:cNvPr>
          <p:cNvPicPr>
            <a:picLocks noChangeAspect="1"/>
          </p:cNvPicPr>
          <p:nvPr/>
        </p:nvPicPr>
        <p:blipFill>
          <a:blip r:embed="rId10"/>
          <a:stretch>
            <a:fillRect/>
          </a:stretch>
        </p:blipFill>
        <p:spPr>
          <a:xfrm>
            <a:off x="8041711" y="3637035"/>
            <a:ext cx="1442863" cy="699260"/>
          </a:xfrm>
          <a:prstGeom prst="rect">
            <a:avLst/>
          </a:prstGeom>
        </p:spPr>
      </p:pic>
      <p:sp>
        <p:nvSpPr>
          <p:cNvPr id="35" name="文本框 34">
            <a:extLst>
              <a:ext uri="{FF2B5EF4-FFF2-40B4-BE49-F238E27FC236}">
                <a16:creationId xmlns:a16="http://schemas.microsoft.com/office/drawing/2014/main" id="{52AAA0F3-14FF-397D-DB98-72A1B31DFE0D}"/>
              </a:ext>
            </a:extLst>
          </p:cNvPr>
          <p:cNvSpPr txBox="1"/>
          <p:nvPr/>
        </p:nvSpPr>
        <p:spPr>
          <a:xfrm>
            <a:off x="2455920" y="5459896"/>
            <a:ext cx="7708498" cy="261610"/>
          </a:xfrm>
          <a:prstGeom prst="rect">
            <a:avLst/>
          </a:prstGeom>
          <a:noFill/>
        </p:spPr>
        <p:txBody>
          <a:bodyPr wrap="square" rtlCol="0">
            <a:spAutoFit/>
          </a:bodyPr>
          <a:lstStyle/>
          <a:p>
            <a:pPr algn="ctr"/>
            <a:r>
              <a:rPr lang="zh-CN" altLang="en-US" sz="1100" dirty="0">
                <a:solidFill>
                  <a:schemeClr val="bg1"/>
                </a:solidFill>
              </a:rPr>
              <a:t>添加新指令也非常简单仅仅通过在语义分析阶段加入以及在指令字典</a:t>
            </a:r>
            <a:r>
              <a:rPr lang="en-US" altLang="zh-CN" sz="1100" dirty="0">
                <a:solidFill>
                  <a:schemeClr val="bg1"/>
                </a:solidFill>
              </a:rPr>
              <a:t>(</a:t>
            </a:r>
            <a:r>
              <a:rPr lang="zh-CN" altLang="en-US" sz="1100" dirty="0">
                <a:solidFill>
                  <a:schemeClr val="bg1"/>
                </a:solidFill>
              </a:rPr>
              <a:t>语法树</a:t>
            </a:r>
            <a:r>
              <a:rPr lang="en-US" altLang="zh-CN" sz="1100" dirty="0">
                <a:solidFill>
                  <a:schemeClr val="bg1"/>
                </a:solidFill>
              </a:rPr>
              <a:t>)</a:t>
            </a:r>
            <a:r>
              <a:rPr lang="zh-CN" altLang="en-US" sz="1100" dirty="0">
                <a:solidFill>
                  <a:schemeClr val="bg1"/>
                </a:solidFill>
              </a:rPr>
              <a:t>中进行构造就</a:t>
            </a:r>
            <a:r>
              <a:rPr lang="en-US" altLang="zh-CN" sz="1100" dirty="0">
                <a:solidFill>
                  <a:schemeClr val="bg1"/>
                </a:solidFill>
              </a:rPr>
              <a:t>OK</a:t>
            </a:r>
            <a:r>
              <a:rPr lang="zh-CN" altLang="en-US" sz="1100" dirty="0">
                <a:solidFill>
                  <a:schemeClr val="bg1"/>
                </a:solidFill>
              </a:rPr>
              <a:t>了</a:t>
            </a:r>
          </a:p>
        </p:txBody>
      </p:sp>
    </p:spTree>
  </p:cSld>
  <p:clrMapOvr>
    <a:masterClrMapping/>
  </p:clrMapOvr>
  <mc:AlternateContent xmlns:mc="http://schemas.openxmlformats.org/markup-compatibility/2006" xmlns:p14="http://schemas.microsoft.com/office/powerpoint/2010/main">
    <mc:Choice Requires="p14">
      <p:transition spd="slow" p14:dur="1400" advTm="0">
        <p14:ripp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1000"/>
                                        <p:tgtEl>
                                          <p:spTgt spid="20"/>
                                        </p:tgtEl>
                                      </p:cBhvr>
                                    </p:animEffect>
                                    <p:anim calcmode="lin" valueType="num">
                                      <p:cBhvr>
                                        <p:cTn id="27" dur="1000" fill="hold"/>
                                        <p:tgtEl>
                                          <p:spTgt spid="20"/>
                                        </p:tgtEl>
                                        <p:attrNameLst>
                                          <p:attrName>ppt_x</p:attrName>
                                        </p:attrNameLst>
                                      </p:cBhvr>
                                      <p:tavLst>
                                        <p:tav tm="0">
                                          <p:val>
                                            <p:strVal val="#ppt_x"/>
                                          </p:val>
                                        </p:tav>
                                        <p:tav tm="100000">
                                          <p:val>
                                            <p:strVal val="#ppt_x"/>
                                          </p:val>
                                        </p:tav>
                                      </p:tavLst>
                                    </p:anim>
                                    <p:anim calcmode="lin" valueType="num">
                                      <p:cBhvr>
                                        <p:cTn id="2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1000"/>
                                        <p:tgtEl>
                                          <p:spTgt spid="23"/>
                                        </p:tgtEl>
                                      </p:cBhvr>
                                    </p:animEffect>
                                    <p:anim calcmode="lin" valueType="num">
                                      <p:cBhvr>
                                        <p:cTn id="34" dur="1000" fill="hold"/>
                                        <p:tgtEl>
                                          <p:spTgt spid="23"/>
                                        </p:tgtEl>
                                        <p:attrNameLst>
                                          <p:attrName>ppt_x</p:attrName>
                                        </p:attrNameLst>
                                      </p:cBhvr>
                                      <p:tavLst>
                                        <p:tav tm="0">
                                          <p:val>
                                            <p:strVal val="#ppt_x"/>
                                          </p:val>
                                        </p:tav>
                                        <p:tav tm="100000">
                                          <p:val>
                                            <p:strVal val="#ppt_x"/>
                                          </p:val>
                                        </p:tav>
                                      </p:tavLst>
                                    </p:anim>
                                    <p:anim calcmode="lin" valueType="num">
                                      <p:cBhvr>
                                        <p:cTn id="3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down)">
                                      <p:cBhvr>
                                        <p:cTn id="4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567388" y="2403868"/>
            <a:ext cx="5530770" cy="923330"/>
          </a:xfrm>
          <a:prstGeom prst="rect">
            <a:avLst/>
          </a:prstGeom>
          <a:noFill/>
        </p:spPr>
        <p:txBody>
          <a:bodyPr wrap="square" rtlCol="0">
            <a:spAutoFit/>
          </a:bodyPr>
          <a:lstStyle>
            <a:defPPr>
              <a:defRPr lang="zh-CN"/>
            </a:defPPr>
            <a:lvl1pPr algn="dist">
              <a:defRPr sz="5400">
                <a:solidFill>
                  <a:schemeClr val="bg1"/>
                </a:solidFill>
                <a:latin typeface="阿里巴巴普惠体 Heavy" pitchFamily="18" charset="-122"/>
                <a:ea typeface="阿里巴巴普惠体 Heavy" pitchFamily="18" charset="-122"/>
                <a:cs typeface="阿里巴巴普惠体 Heavy" pitchFamily="18" charset="-122"/>
              </a:defRPr>
            </a:lvl1pPr>
          </a:lstStyle>
          <a:p>
            <a:r>
              <a:rPr lang="zh-CN" altLang="en-US" dirty="0">
                <a:sym typeface="Arial"/>
              </a:rPr>
              <a:t>函数与结构展示</a:t>
            </a:r>
          </a:p>
        </p:txBody>
      </p:sp>
      <p:sp>
        <p:nvSpPr>
          <p:cNvPr id="6" name="平行四边形 5"/>
          <p:cNvSpPr/>
          <p:nvPr/>
        </p:nvSpPr>
        <p:spPr>
          <a:xfrm flipH="1">
            <a:off x="881143" y="13882"/>
            <a:ext cx="5137269" cy="6858001"/>
          </a:xfrm>
          <a:prstGeom prst="parallelogram">
            <a:avLst>
              <a:gd name="adj" fmla="val 40381"/>
            </a:avLst>
          </a:prstGeom>
          <a:solidFill>
            <a:srgbClr val="FBF1E9">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10" name="文本框 9"/>
          <p:cNvSpPr txBox="1"/>
          <p:nvPr/>
        </p:nvSpPr>
        <p:spPr>
          <a:xfrm>
            <a:off x="1514733" y="1570812"/>
            <a:ext cx="3870091" cy="3154710"/>
          </a:xfrm>
          <a:prstGeom prst="rect">
            <a:avLst/>
          </a:prstGeom>
          <a:noFill/>
        </p:spPr>
        <p:txBody>
          <a:bodyPr wrap="square" rtlCol="0">
            <a:spAutoFit/>
          </a:bodyPr>
          <a:lstStyle/>
          <a:p>
            <a:pPr algn="ctr"/>
            <a:r>
              <a:rPr lang="en-US" altLang="zh-CN" sz="19900" b="1" dirty="0">
                <a:solidFill>
                  <a:schemeClr val="bg1"/>
                </a:solidFill>
                <a:latin typeface="Arial"/>
                <a:ea typeface="阿里巴巴普惠体 Medium"/>
                <a:cs typeface="阿里巴巴普惠体 Medium"/>
                <a:sym typeface="Arial"/>
              </a:rPr>
              <a:t>03</a:t>
            </a:r>
          </a:p>
        </p:txBody>
      </p:sp>
      <p:sp>
        <p:nvSpPr>
          <p:cNvPr id="11" name="文本框 10"/>
          <p:cNvSpPr txBox="1"/>
          <p:nvPr/>
        </p:nvSpPr>
        <p:spPr>
          <a:xfrm>
            <a:off x="5438421" y="3442882"/>
            <a:ext cx="4054713" cy="375552"/>
          </a:xfrm>
          <a:prstGeom prst="rect">
            <a:avLst/>
          </a:prstGeom>
          <a:noFill/>
        </p:spPr>
        <p:txBody>
          <a:bodyPr wrap="square" rtlCol="0">
            <a:spAutoFit/>
          </a:bodyPr>
          <a:lstStyle/>
          <a:p>
            <a:pPr>
              <a:lnSpc>
                <a:spcPct val="150000"/>
              </a:lnSpc>
            </a:pPr>
            <a:r>
              <a:rPr lang="en-US" altLang="zh-CN" sz="1400" dirty="0">
                <a:solidFill>
                  <a:schemeClr val="bg1"/>
                </a:solidFill>
                <a:latin typeface="Arial"/>
                <a:ea typeface="阿里巴巴普惠体 Medium"/>
                <a:cs typeface="阿里巴巴普惠体 Medium"/>
                <a:sym typeface="Arial"/>
              </a:rPr>
              <a:t> </a:t>
            </a:r>
            <a:r>
              <a:rPr lang="en-US" altLang="zh-CN" sz="1400" dirty="0" err="1">
                <a:solidFill>
                  <a:schemeClr val="bg1"/>
                </a:solidFill>
                <a:latin typeface="Arial"/>
                <a:ea typeface="阿里巴巴普惠体 Medium"/>
                <a:cs typeface="阿里巴巴普惠体 Medium"/>
                <a:sym typeface="Arial"/>
              </a:rPr>
              <a:t>func</a:t>
            </a:r>
            <a:endParaRPr lang="en-US" altLang="zh-CN" sz="1400" dirty="0">
              <a:solidFill>
                <a:schemeClr val="bg1"/>
              </a:solidFill>
              <a:latin typeface="Arial"/>
              <a:ea typeface="阿里巴巴普惠体 Medium"/>
              <a:cs typeface="阿里巴巴普惠体 Medium"/>
              <a:sym typeface="Arial"/>
            </a:endParaRPr>
          </a:p>
        </p:txBody>
      </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randombar(horizont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ldLvl="0" animBg="1"/>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26835" y="442064"/>
            <a:ext cx="3538330" cy="1323439"/>
          </a:xfrm>
          <a:prstGeom prst="rect">
            <a:avLst/>
          </a:prstGeom>
          <a:noFill/>
        </p:spPr>
        <p:txBody>
          <a:bodyPr wrap="square" rtlCol="0">
            <a:spAutoFit/>
          </a:bodyPr>
          <a:lstStyle/>
          <a:p>
            <a:pPr algn="ctr"/>
            <a:r>
              <a:rPr lang="zh-CN" altLang="en-US" sz="4000" dirty="0">
                <a:solidFill>
                  <a:schemeClr val="bg1"/>
                </a:solidFill>
                <a:latin typeface="Arial"/>
                <a:ea typeface="阿里巴巴普惠体 Medium"/>
                <a:cs typeface="阿里巴巴普惠体 Medium"/>
                <a:sym typeface="Arial"/>
              </a:rPr>
              <a:t>词法分析核心函数</a:t>
            </a:r>
          </a:p>
        </p:txBody>
      </p:sp>
      <p:pic>
        <p:nvPicPr>
          <p:cNvPr id="25" name="图片 24"/>
          <p:cNvPicPr>
            <a:picLocks noChangeAspect="1"/>
          </p:cNvPicPr>
          <p:nvPr/>
        </p:nvPicPr>
        <p:blipFill rotWithShape="1">
          <a:blip r:embed="rId2" cstate="email">
            <a:extLst>
              <a:ext uri="{28A0092B-C50C-407E-A947-70E740481C1C}">
                <a14:useLocalDpi xmlns:a14="http://schemas.microsoft.com/office/drawing/2010/main"/>
              </a:ext>
            </a:extLst>
          </a:blip>
          <a:srcRect l="-34"/>
          <a:stretch>
            <a:fillRect/>
          </a:stretch>
        </p:blipFill>
        <p:spPr>
          <a:xfrm>
            <a:off x="691663" y="1850321"/>
            <a:ext cx="10808676" cy="1256295"/>
          </a:xfrm>
          <a:prstGeom prst="rect">
            <a:avLst/>
          </a:prstGeom>
        </p:spPr>
      </p:pic>
      <p:grpSp>
        <p:nvGrpSpPr>
          <p:cNvPr id="26" name="组合 17"/>
          <p:cNvGrpSpPr/>
          <p:nvPr/>
        </p:nvGrpSpPr>
        <p:grpSpPr>
          <a:xfrm flipH="1">
            <a:off x="1697450" y="4006682"/>
            <a:ext cx="8797103" cy="2523879"/>
            <a:chOff x="1137991" y="2962691"/>
            <a:chExt cx="9796676" cy="2811291"/>
          </a:xfrm>
        </p:grpSpPr>
        <p:sp>
          <p:nvSpPr>
            <p:cNvPr id="27" name="文本框 26"/>
            <p:cNvSpPr txBox="1"/>
            <p:nvPr/>
          </p:nvSpPr>
          <p:spPr>
            <a:xfrm>
              <a:off x="1137991" y="3631201"/>
              <a:ext cx="2771775" cy="411390"/>
            </a:xfrm>
            <a:prstGeom prst="rect">
              <a:avLst/>
            </a:prstGeom>
            <a:noFill/>
          </p:spPr>
          <p:txBody>
            <a:bodyPr wrap="square" rtlCol="0">
              <a:spAutoFit/>
            </a:bodyPr>
            <a:lstStyle/>
            <a:p>
              <a:r>
                <a:rPr lang="en-US" altLang="zh-CN" sz="1800" b="1" dirty="0">
                  <a:solidFill>
                    <a:srgbClr val="0033B3"/>
                  </a:solidFill>
                  <a:effectLst/>
                  <a:latin typeface="Consolas" panose="020B0609020204030204" pitchFamily="49" charset="0"/>
                </a:rPr>
                <a:t>void</a:t>
              </a:r>
              <a:r>
                <a:rPr lang="en-US" altLang="zh-CN" sz="1800" dirty="0">
                  <a:solidFill>
                    <a:srgbClr val="BABABA"/>
                  </a:solidFill>
                  <a:effectLst/>
                  <a:latin typeface="Consolas" panose="020B0609020204030204" pitchFamily="49" charset="0"/>
                </a:rPr>
                <a:t> </a:t>
              </a:r>
              <a:r>
                <a:rPr lang="en-US" altLang="zh-CN" sz="1800" dirty="0" err="1">
                  <a:solidFill>
                    <a:srgbClr val="00627A"/>
                  </a:solidFill>
                  <a:effectLst/>
                  <a:latin typeface="Consolas" panose="020B0609020204030204" pitchFamily="49" charset="0"/>
                </a:rPr>
                <a:t>ResetLexer</a:t>
              </a:r>
              <a:r>
                <a:rPr lang="en-US" altLang="zh-CN" sz="1800" b="1" dirty="0">
                  <a:solidFill>
                    <a:srgbClr val="C10000"/>
                  </a:solidFill>
                  <a:effectLst/>
                  <a:latin typeface="Consolas" panose="020B0609020204030204" pitchFamily="49" charset="0"/>
                </a:rPr>
                <a:t>();</a:t>
              </a:r>
              <a:endParaRPr lang="en-US" altLang="zh-CN" sz="1800" dirty="0">
                <a:solidFill>
                  <a:srgbClr val="000000"/>
                </a:solidFill>
                <a:effectLst/>
                <a:latin typeface="Consolas" panose="020B0609020204030204" pitchFamily="49" charset="0"/>
              </a:endParaRPr>
            </a:p>
          </p:txBody>
        </p:sp>
        <p:sp>
          <p:nvSpPr>
            <p:cNvPr id="28" name="矩形 27"/>
            <p:cNvSpPr/>
            <p:nvPr/>
          </p:nvSpPr>
          <p:spPr>
            <a:xfrm>
              <a:off x="1219063" y="4168345"/>
              <a:ext cx="2609632" cy="373536"/>
            </a:xfrm>
            <a:prstGeom prst="rect">
              <a:avLst/>
            </a:prstGeom>
          </p:spPr>
          <p:txBody>
            <a:bodyPr wrap="square">
              <a:spAutoFit/>
            </a:bodyPr>
            <a:lstStyle/>
            <a:p>
              <a:pPr algn="ctr">
                <a:lnSpc>
                  <a:spcPct val="150000"/>
                </a:lnSpc>
              </a:pPr>
              <a:r>
                <a:rPr lang="zh-CN" altLang="en-US" sz="1200" dirty="0">
                  <a:solidFill>
                    <a:schemeClr val="bg1"/>
                  </a:solidFill>
                  <a:latin typeface="Arial"/>
                  <a:ea typeface="阿里巴巴普惠体 Medium"/>
                  <a:cs typeface="阿里巴巴普惠体 Medium"/>
                  <a:sym typeface="Arial"/>
                </a:rPr>
                <a:t>对词法分析器状态进行重置</a:t>
              </a:r>
            </a:p>
          </p:txBody>
        </p:sp>
        <p:sp>
          <p:nvSpPr>
            <p:cNvPr id="29" name="文本框 28"/>
            <p:cNvSpPr txBox="1"/>
            <p:nvPr/>
          </p:nvSpPr>
          <p:spPr>
            <a:xfrm>
              <a:off x="4600436" y="2962691"/>
              <a:ext cx="2771775" cy="1337019"/>
            </a:xfrm>
            <a:prstGeom prst="rect">
              <a:avLst/>
            </a:prstGeom>
            <a:noFill/>
          </p:spPr>
          <p:txBody>
            <a:bodyPr wrap="square" rtlCol="0">
              <a:spAutoFit/>
            </a:bodyPr>
            <a:lstStyle/>
            <a:p>
              <a:r>
                <a:rPr lang="en-US" altLang="zh-CN" sz="1800" b="1" dirty="0">
                  <a:solidFill>
                    <a:srgbClr val="0033B3"/>
                  </a:solidFill>
                  <a:effectLst/>
                  <a:latin typeface="Consolas" panose="020B0609020204030204" pitchFamily="49" charset="0"/>
                </a:rPr>
                <a:t>int</a:t>
              </a:r>
              <a:r>
                <a:rPr lang="en-US" altLang="zh-CN" sz="1800" dirty="0">
                  <a:solidFill>
                    <a:srgbClr val="BABABA"/>
                  </a:solidFill>
                  <a:effectLst/>
                  <a:latin typeface="Consolas" panose="020B0609020204030204" pitchFamily="49" charset="0"/>
                </a:rPr>
                <a:t> </a:t>
              </a:r>
              <a:r>
                <a:rPr lang="en-US" altLang="zh-CN" sz="1800" dirty="0" err="1">
                  <a:solidFill>
                    <a:srgbClr val="00627A"/>
                  </a:solidFill>
                  <a:effectLst/>
                  <a:latin typeface="Consolas" panose="020B0609020204030204" pitchFamily="49" charset="0"/>
                </a:rPr>
                <a:t>GetInstrByMnemonic</a:t>
              </a:r>
              <a:r>
                <a:rPr lang="en-US" altLang="zh-CN" sz="1800" b="1" dirty="0">
                  <a:solidFill>
                    <a:srgbClr val="C10000"/>
                  </a:solidFill>
                  <a:effectLst/>
                  <a:latin typeface="Consolas" panose="020B0609020204030204" pitchFamily="49" charset="0"/>
                </a:rPr>
                <a:t>(</a:t>
              </a:r>
              <a:r>
                <a:rPr lang="en-US" altLang="zh-CN" sz="1800" dirty="0">
                  <a:solidFill>
                    <a:srgbClr val="008080"/>
                  </a:solidFill>
                  <a:effectLst/>
                  <a:latin typeface="Consolas" panose="020B0609020204030204" pitchFamily="49" charset="0"/>
                </a:rPr>
                <a:t>INSTRDIRNODE</a:t>
              </a:r>
              <a:r>
                <a:rPr lang="en-US" altLang="zh-CN" sz="1800" b="1" dirty="0">
                  <a:solidFill>
                    <a:srgbClr val="C10000"/>
                  </a:solidFill>
                  <a:effectLst/>
                  <a:latin typeface="Consolas" panose="020B0609020204030204" pitchFamily="49" charset="0"/>
                </a:rPr>
                <a:t>*</a:t>
              </a:r>
              <a:r>
                <a:rPr lang="en-US" altLang="zh-CN" sz="1800" dirty="0">
                  <a:solidFill>
                    <a:srgbClr val="BABABA"/>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pInstr</a:t>
              </a:r>
              <a:r>
                <a:rPr lang="en-US" altLang="zh-CN" sz="1800" b="1" dirty="0" err="1">
                  <a:solidFill>
                    <a:srgbClr val="C10000"/>
                  </a:solidFill>
                  <a:effectLst/>
                  <a:latin typeface="Consolas" panose="020B0609020204030204" pitchFamily="49" charset="0"/>
                </a:rPr>
                <a:t>,</a:t>
              </a:r>
              <a:r>
                <a:rPr lang="en-US" altLang="zh-CN" sz="1800" b="1" dirty="0" err="1">
                  <a:solidFill>
                    <a:srgbClr val="0033B3"/>
                  </a:solidFill>
                  <a:effectLst/>
                  <a:latin typeface="Consolas" panose="020B0609020204030204" pitchFamily="49" charset="0"/>
                </a:rPr>
                <a:t>char</a:t>
              </a:r>
              <a:r>
                <a:rPr lang="en-US" altLang="zh-CN" sz="1800" b="1" dirty="0">
                  <a:solidFill>
                    <a:srgbClr val="C10000"/>
                  </a:solidFill>
                  <a:effectLst/>
                  <a:latin typeface="Consolas" panose="020B0609020204030204" pitchFamily="49" charset="0"/>
                </a:rPr>
                <a:t>*</a:t>
              </a:r>
              <a:r>
                <a:rPr lang="en-US" altLang="zh-CN" sz="1800" dirty="0">
                  <a:solidFill>
                    <a:srgbClr val="BABABA"/>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pstrMnemonic</a:t>
              </a:r>
              <a:r>
                <a:rPr lang="en-US" altLang="zh-CN" sz="1800" b="1" dirty="0">
                  <a:solidFill>
                    <a:srgbClr val="C10000"/>
                  </a:solidFill>
                  <a:effectLst/>
                  <a:latin typeface="Consolas" panose="020B0609020204030204" pitchFamily="49" charset="0"/>
                </a:rPr>
                <a:t>);</a:t>
              </a:r>
              <a:endParaRPr lang="en-US" altLang="zh-CN" sz="1800" dirty="0">
                <a:solidFill>
                  <a:srgbClr val="000000"/>
                </a:solidFill>
                <a:effectLst/>
                <a:latin typeface="Consolas" panose="020B0609020204030204" pitchFamily="49" charset="0"/>
              </a:endParaRPr>
            </a:p>
          </p:txBody>
        </p:sp>
        <p:sp>
          <p:nvSpPr>
            <p:cNvPr id="30" name="矩形 29"/>
            <p:cNvSpPr/>
            <p:nvPr/>
          </p:nvSpPr>
          <p:spPr>
            <a:xfrm>
              <a:off x="4700450" y="4168345"/>
              <a:ext cx="2609632" cy="988551"/>
            </a:xfrm>
            <a:prstGeom prst="rect">
              <a:avLst/>
            </a:prstGeom>
          </p:spPr>
          <p:txBody>
            <a:bodyPr wrap="square">
              <a:spAutoFit/>
            </a:bodyPr>
            <a:lstStyle/>
            <a:p>
              <a:pPr algn="ctr">
                <a:lnSpc>
                  <a:spcPct val="150000"/>
                </a:lnSpc>
              </a:pPr>
              <a:r>
                <a:rPr lang="zh-CN" altLang="en-US" sz="1200" dirty="0">
                  <a:solidFill>
                    <a:schemeClr val="bg1"/>
                  </a:solidFill>
                  <a:latin typeface="Arial"/>
                  <a:ea typeface="阿里巴巴普惠体 Medium"/>
                  <a:cs typeface="阿里巴巴普惠体 Medium"/>
                  <a:sym typeface="Arial"/>
                </a:rPr>
                <a:t>验证指令字</a:t>
              </a:r>
              <a:endParaRPr lang="en-US" altLang="zh-CN" sz="1200" dirty="0">
                <a:solidFill>
                  <a:schemeClr val="bg1"/>
                </a:solidFill>
                <a:latin typeface="Arial"/>
                <a:ea typeface="阿里巴巴普惠体 Medium"/>
                <a:cs typeface="阿里巴巴普惠体 Medium"/>
                <a:sym typeface="Arial"/>
              </a:endParaRPr>
            </a:p>
            <a:p>
              <a:pPr algn="ctr">
                <a:lnSpc>
                  <a:spcPct val="150000"/>
                </a:lnSpc>
              </a:pPr>
              <a:r>
                <a:rPr lang="zh-CN" altLang="en-US" sz="1200" dirty="0">
                  <a:solidFill>
                    <a:schemeClr val="bg1"/>
                  </a:solidFill>
                  <a:latin typeface="Arial"/>
                  <a:ea typeface="阿里巴巴普惠体 Medium"/>
                  <a:cs typeface="阿里巴巴普惠体 Medium"/>
                  <a:sym typeface="Arial"/>
                </a:rPr>
                <a:t>传入语法树（指令字典）与指令词素进行比较</a:t>
              </a:r>
            </a:p>
          </p:txBody>
        </p:sp>
        <p:sp>
          <p:nvSpPr>
            <p:cNvPr id="31" name="文本框 30"/>
            <p:cNvSpPr txBox="1"/>
            <p:nvPr/>
          </p:nvSpPr>
          <p:spPr>
            <a:xfrm>
              <a:off x="8162892" y="3631201"/>
              <a:ext cx="2771775" cy="719933"/>
            </a:xfrm>
            <a:prstGeom prst="rect">
              <a:avLst/>
            </a:prstGeom>
            <a:noFill/>
          </p:spPr>
          <p:txBody>
            <a:bodyPr wrap="square" rtlCol="0">
              <a:spAutoFit/>
            </a:bodyPr>
            <a:lstStyle/>
            <a:p>
              <a:r>
                <a:rPr lang="en-US" altLang="zh-CN" sz="1800" dirty="0">
                  <a:solidFill>
                    <a:srgbClr val="008080"/>
                  </a:solidFill>
                  <a:effectLst/>
                  <a:latin typeface="Consolas" panose="020B0609020204030204" pitchFamily="49" charset="0"/>
                </a:rPr>
                <a:t>Token</a:t>
              </a:r>
              <a:r>
                <a:rPr lang="en-US" altLang="zh-CN" sz="1800" dirty="0">
                  <a:solidFill>
                    <a:srgbClr val="BABABA"/>
                  </a:solidFill>
                  <a:effectLst/>
                  <a:latin typeface="Consolas" panose="020B0609020204030204" pitchFamily="49" charset="0"/>
                </a:rPr>
                <a:t> </a:t>
              </a:r>
              <a:r>
                <a:rPr lang="en-US" altLang="zh-CN" sz="1800" dirty="0" err="1">
                  <a:solidFill>
                    <a:srgbClr val="00627A"/>
                  </a:solidFill>
                  <a:effectLst/>
                  <a:latin typeface="Consolas" panose="020B0609020204030204" pitchFamily="49" charset="0"/>
                </a:rPr>
                <a:t>GetNextToken</a:t>
              </a:r>
              <a:r>
                <a:rPr lang="en-US" altLang="zh-CN" sz="1800" b="1" dirty="0">
                  <a:solidFill>
                    <a:srgbClr val="C10000"/>
                  </a:solidFill>
                  <a:effectLst/>
                  <a:latin typeface="Consolas" panose="020B0609020204030204" pitchFamily="49" charset="0"/>
                </a:rPr>
                <a:t>();</a:t>
              </a:r>
              <a:endParaRPr lang="en-US" altLang="zh-CN" sz="1800" dirty="0">
                <a:solidFill>
                  <a:srgbClr val="000000"/>
                </a:solidFill>
                <a:effectLst/>
                <a:latin typeface="Consolas" panose="020B0609020204030204" pitchFamily="49" charset="0"/>
              </a:endParaRPr>
            </a:p>
          </p:txBody>
        </p:sp>
        <p:sp>
          <p:nvSpPr>
            <p:cNvPr id="32" name="矩形 31"/>
            <p:cNvSpPr/>
            <p:nvPr/>
          </p:nvSpPr>
          <p:spPr>
            <a:xfrm>
              <a:off x="8243968" y="4168345"/>
              <a:ext cx="2609632" cy="1605637"/>
            </a:xfrm>
            <a:prstGeom prst="rect">
              <a:avLst/>
            </a:prstGeom>
          </p:spPr>
          <p:txBody>
            <a:bodyPr wrap="square">
              <a:spAutoFit/>
            </a:bodyPr>
            <a:lstStyle/>
            <a:p>
              <a:pPr algn="ctr">
                <a:lnSpc>
                  <a:spcPct val="150000"/>
                </a:lnSpc>
              </a:pPr>
              <a:r>
                <a:rPr lang="zh-CN" altLang="en-US" sz="1200" dirty="0">
                  <a:solidFill>
                    <a:schemeClr val="bg1"/>
                  </a:solidFill>
                  <a:latin typeface="Arial"/>
                  <a:ea typeface="阿里巴巴普惠体 Medium"/>
                  <a:cs typeface="阿里巴巴普惠体 Medium"/>
                  <a:sym typeface="Arial"/>
                </a:rPr>
                <a:t>返回</a:t>
              </a:r>
              <a:r>
                <a:rPr lang="en-US" altLang="zh-CN" sz="1200" dirty="0">
                  <a:solidFill>
                    <a:schemeClr val="bg1"/>
                  </a:solidFill>
                  <a:latin typeface="Arial"/>
                  <a:ea typeface="阿里巴巴普惠体 Medium"/>
                  <a:cs typeface="阿里巴巴普惠体 Medium"/>
                  <a:sym typeface="Arial"/>
                </a:rPr>
                <a:t>token</a:t>
              </a:r>
            </a:p>
            <a:p>
              <a:pPr algn="ctr">
                <a:lnSpc>
                  <a:spcPct val="150000"/>
                </a:lnSpc>
              </a:pPr>
              <a:r>
                <a:rPr lang="zh-CN" altLang="en-US" sz="1200" dirty="0">
                  <a:solidFill>
                    <a:schemeClr val="bg1"/>
                  </a:solidFill>
                  <a:latin typeface="Arial"/>
                  <a:ea typeface="阿里巴巴普惠体 Medium"/>
                  <a:cs typeface="阿里巴巴普惠体 Medium"/>
                  <a:sym typeface="Arial"/>
                </a:rPr>
                <a:t>流判断</a:t>
              </a:r>
              <a:r>
                <a:rPr lang="en-US" altLang="zh-CN" sz="1200" dirty="0">
                  <a:solidFill>
                    <a:schemeClr val="bg1"/>
                  </a:solidFill>
                  <a:latin typeface="Arial"/>
                  <a:ea typeface="阿里巴巴普惠体 Medium"/>
                  <a:cs typeface="阿里巴巴普惠体 Medium"/>
                  <a:sym typeface="Arial"/>
                </a:rPr>
                <a:t>-&gt;</a:t>
              </a:r>
              <a:r>
                <a:rPr lang="zh-CN" altLang="en-US" sz="1200" dirty="0">
                  <a:solidFill>
                    <a:schemeClr val="bg1"/>
                  </a:solidFill>
                  <a:latin typeface="Arial"/>
                  <a:ea typeface="阿里巴巴普惠体 Medium"/>
                  <a:cs typeface="阿里巴巴普惠体 Medium"/>
                  <a:sym typeface="Arial"/>
                </a:rPr>
                <a:t>字符流判断</a:t>
              </a:r>
              <a:endParaRPr lang="en-US" altLang="zh-CN" sz="1200" dirty="0">
                <a:solidFill>
                  <a:schemeClr val="bg1"/>
                </a:solidFill>
                <a:latin typeface="Arial"/>
                <a:ea typeface="阿里巴巴普惠体 Medium"/>
                <a:cs typeface="阿里巴巴普惠体 Medium"/>
                <a:sym typeface="Arial"/>
              </a:endParaRPr>
            </a:p>
            <a:p>
              <a:pPr algn="ctr">
                <a:lnSpc>
                  <a:spcPct val="150000"/>
                </a:lnSpc>
              </a:pPr>
              <a:r>
                <a:rPr lang="en-US" altLang="zh-CN" sz="1200" dirty="0">
                  <a:solidFill>
                    <a:schemeClr val="bg1"/>
                  </a:solidFill>
                  <a:latin typeface="Arial"/>
                  <a:ea typeface="阿里巴巴普惠体 Medium"/>
                  <a:cs typeface="阿里巴巴普惠体 Medium"/>
                  <a:sym typeface="Arial"/>
                </a:rPr>
                <a:t>-&gt;</a:t>
              </a:r>
              <a:r>
                <a:rPr lang="zh-CN" altLang="en-US" sz="1200" dirty="0">
                  <a:solidFill>
                    <a:schemeClr val="bg1"/>
                  </a:solidFill>
                  <a:latin typeface="Arial"/>
                  <a:ea typeface="阿里巴巴普惠体 Medium"/>
                  <a:cs typeface="阿里巴巴普惠体 Medium"/>
                  <a:sym typeface="Arial"/>
                </a:rPr>
                <a:t>字符流提取</a:t>
              </a:r>
              <a:r>
                <a:rPr lang="en-US" altLang="zh-CN" sz="1200" dirty="0">
                  <a:solidFill>
                    <a:schemeClr val="bg1"/>
                  </a:solidFill>
                  <a:latin typeface="Arial"/>
                  <a:ea typeface="阿里巴巴普惠体 Medium"/>
                  <a:cs typeface="阿里巴巴普惠体 Medium"/>
                  <a:sym typeface="Arial"/>
                </a:rPr>
                <a:t>-&gt;</a:t>
              </a:r>
              <a:r>
                <a:rPr lang="zh-CN" altLang="en-US" sz="1200" dirty="0">
                  <a:solidFill>
                    <a:schemeClr val="bg1"/>
                  </a:solidFill>
                  <a:latin typeface="Arial"/>
                  <a:ea typeface="阿里巴巴普惠体 Medium"/>
                  <a:cs typeface="阿里巴巴普惠体 Medium"/>
                  <a:sym typeface="Arial"/>
                </a:rPr>
                <a:t>词素提取</a:t>
              </a:r>
              <a:r>
                <a:rPr lang="en-US" altLang="zh-CN" sz="1200" dirty="0">
                  <a:solidFill>
                    <a:schemeClr val="bg1"/>
                  </a:solidFill>
                  <a:latin typeface="Arial"/>
                  <a:ea typeface="阿里巴巴普惠体 Medium"/>
                  <a:cs typeface="阿里巴巴普惠体 Medium"/>
                  <a:sym typeface="Arial"/>
                </a:rPr>
                <a:t>-&gt;</a:t>
              </a:r>
            </a:p>
            <a:p>
              <a:pPr algn="ctr">
                <a:lnSpc>
                  <a:spcPct val="150000"/>
                </a:lnSpc>
              </a:pPr>
              <a:r>
                <a:rPr lang="zh-CN" altLang="en-US" sz="1200" dirty="0">
                  <a:solidFill>
                    <a:schemeClr val="bg1"/>
                  </a:solidFill>
                  <a:latin typeface="Arial"/>
                  <a:ea typeface="阿里巴巴普惠体 Medium"/>
                  <a:cs typeface="阿里巴巴普惠体 Medium"/>
                  <a:sym typeface="Arial"/>
                </a:rPr>
                <a:t>模式匹配</a:t>
              </a:r>
              <a:r>
                <a:rPr lang="en-US" altLang="zh-CN" sz="1200" dirty="0">
                  <a:solidFill>
                    <a:schemeClr val="bg1"/>
                  </a:solidFill>
                  <a:latin typeface="Arial"/>
                  <a:ea typeface="阿里巴巴普惠体 Medium"/>
                  <a:cs typeface="阿里巴巴普惠体 Medium"/>
                  <a:sym typeface="Arial"/>
                </a:rPr>
                <a:t>-&gt;</a:t>
              </a:r>
              <a:r>
                <a:rPr lang="zh-CN" altLang="en-US" sz="1200" dirty="0">
                  <a:solidFill>
                    <a:schemeClr val="bg1"/>
                  </a:solidFill>
                  <a:latin typeface="Arial"/>
                  <a:ea typeface="阿里巴巴普惠体 Medium"/>
                  <a:cs typeface="阿里巴巴普惠体 Medium"/>
                  <a:sym typeface="Arial"/>
                </a:rPr>
                <a:t>关键字匹配</a:t>
              </a:r>
              <a:r>
                <a:rPr lang="en-US" altLang="zh-CN" sz="1200" dirty="0">
                  <a:solidFill>
                    <a:schemeClr val="bg1"/>
                  </a:solidFill>
                  <a:latin typeface="Arial"/>
                  <a:ea typeface="阿里巴巴普惠体 Medium"/>
                  <a:cs typeface="阿里巴巴普惠体 Medium"/>
                  <a:sym typeface="Arial"/>
                </a:rPr>
                <a:t>-&gt;</a:t>
              </a:r>
              <a:r>
                <a:rPr lang="zh-CN" altLang="en-US" sz="1200" dirty="0">
                  <a:solidFill>
                    <a:schemeClr val="bg1"/>
                  </a:solidFill>
                  <a:latin typeface="Arial"/>
                  <a:ea typeface="阿里巴巴普惠体 Medium"/>
                  <a:cs typeface="阿里巴巴普惠体 Medium"/>
                  <a:sym typeface="Arial"/>
                </a:rPr>
                <a:t>指示词匹配</a:t>
              </a:r>
              <a:r>
                <a:rPr lang="en-US" altLang="zh-CN" sz="1200" dirty="0">
                  <a:solidFill>
                    <a:schemeClr val="bg1"/>
                  </a:solidFill>
                  <a:latin typeface="Arial"/>
                  <a:ea typeface="阿里巴巴普惠体 Medium"/>
                  <a:cs typeface="阿里巴巴普惠体 Medium"/>
                  <a:sym typeface="Arial"/>
                </a:rPr>
                <a:t>-&gt;</a:t>
              </a:r>
              <a:r>
                <a:rPr lang="zh-CN" altLang="en-US" sz="1200" dirty="0">
                  <a:solidFill>
                    <a:schemeClr val="bg1"/>
                  </a:solidFill>
                  <a:latin typeface="Arial"/>
                  <a:ea typeface="阿里巴巴普惠体 Medium"/>
                  <a:cs typeface="阿里巴巴普惠体 Medium"/>
                  <a:sym typeface="Arial"/>
                </a:rPr>
                <a:t>指令字匹配</a:t>
              </a:r>
            </a:p>
          </p:txBody>
        </p:sp>
      </p:grpSp>
      <p:cxnSp>
        <p:nvCxnSpPr>
          <p:cNvPr id="34" name="直接箭头连接符 33"/>
          <p:cNvCxnSpPr/>
          <p:nvPr/>
        </p:nvCxnSpPr>
        <p:spPr>
          <a:xfrm>
            <a:off x="2941931" y="3429000"/>
            <a:ext cx="0" cy="1037492"/>
          </a:xfrm>
          <a:prstGeom prst="straightConnector1">
            <a:avLst/>
          </a:prstGeom>
          <a:ln>
            <a:solidFill>
              <a:srgbClr val="CB6E78"/>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6123892" y="3429000"/>
            <a:ext cx="0" cy="1037492"/>
          </a:xfrm>
          <a:prstGeom prst="straightConnector1">
            <a:avLst/>
          </a:prstGeom>
          <a:ln>
            <a:solidFill>
              <a:srgbClr val="CB6E78"/>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9250068" y="3429000"/>
            <a:ext cx="0" cy="1037492"/>
          </a:xfrm>
          <a:prstGeom prst="straightConnector1">
            <a:avLst/>
          </a:prstGeom>
          <a:ln>
            <a:solidFill>
              <a:srgbClr val="CB6E78"/>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37" name="Freeform 84"/>
          <p:cNvSpPr>
            <a:spLocks noEditPoints="1"/>
          </p:cNvSpPr>
          <p:nvPr/>
        </p:nvSpPr>
        <p:spPr bwMode="auto">
          <a:xfrm>
            <a:off x="2660015" y="2240163"/>
            <a:ext cx="563832" cy="563832"/>
          </a:xfrm>
          <a:custGeom>
            <a:avLst/>
            <a:gdLst>
              <a:gd name="T0" fmla="*/ 1017 w 1019"/>
              <a:gd name="T1" fmla="*/ 375 h 1017"/>
              <a:gd name="T2" fmla="*/ 1014 w 1019"/>
              <a:gd name="T3" fmla="*/ 366 h 1017"/>
              <a:gd name="T4" fmla="*/ 757 w 1019"/>
              <a:gd name="T5" fmla="*/ 13 h 1017"/>
              <a:gd name="T6" fmla="*/ 750 w 1019"/>
              <a:gd name="T7" fmla="*/ 6 h 1017"/>
              <a:gd name="T8" fmla="*/ 749 w 1019"/>
              <a:gd name="T9" fmla="*/ 5 h 1017"/>
              <a:gd name="T10" fmla="*/ 739 w 1019"/>
              <a:gd name="T11" fmla="*/ 1 h 1017"/>
              <a:gd name="T12" fmla="*/ 739 w 1019"/>
              <a:gd name="T13" fmla="*/ 1 h 1017"/>
              <a:gd name="T14" fmla="*/ 286 w 1019"/>
              <a:gd name="T15" fmla="*/ 0 h 1017"/>
              <a:gd name="T16" fmla="*/ 279 w 1019"/>
              <a:gd name="T17" fmla="*/ 1 h 1017"/>
              <a:gd name="T18" fmla="*/ 278 w 1019"/>
              <a:gd name="T19" fmla="*/ 1 h 1017"/>
              <a:gd name="T20" fmla="*/ 269 w 1019"/>
              <a:gd name="T21" fmla="*/ 5 h 1017"/>
              <a:gd name="T22" fmla="*/ 267 w 1019"/>
              <a:gd name="T23" fmla="*/ 6 h 1017"/>
              <a:gd name="T24" fmla="*/ 6 w 1019"/>
              <a:gd name="T25" fmla="*/ 363 h 1017"/>
              <a:gd name="T26" fmla="*/ 5 w 1019"/>
              <a:gd name="T27" fmla="*/ 365 h 1017"/>
              <a:gd name="T28" fmla="*/ 3 w 1019"/>
              <a:gd name="T29" fmla="*/ 369 h 1017"/>
              <a:gd name="T30" fmla="*/ 1 w 1019"/>
              <a:gd name="T31" fmla="*/ 373 h 1017"/>
              <a:gd name="T32" fmla="*/ 0 w 1019"/>
              <a:gd name="T33" fmla="*/ 382 h 1017"/>
              <a:gd name="T34" fmla="*/ 0 w 1019"/>
              <a:gd name="T35" fmla="*/ 386 h 1017"/>
              <a:gd name="T36" fmla="*/ 3 w 1019"/>
              <a:gd name="T37" fmla="*/ 395 h 1017"/>
              <a:gd name="T38" fmla="*/ 4 w 1019"/>
              <a:gd name="T39" fmla="*/ 396 h 1017"/>
              <a:gd name="T40" fmla="*/ 7 w 1019"/>
              <a:gd name="T41" fmla="*/ 401 h 1017"/>
              <a:gd name="T42" fmla="*/ 485 w 1019"/>
              <a:gd name="T43" fmla="*/ 1007 h 1017"/>
              <a:gd name="T44" fmla="*/ 490 w 1019"/>
              <a:gd name="T45" fmla="*/ 1011 h 1017"/>
              <a:gd name="T46" fmla="*/ 493 w 1019"/>
              <a:gd name="T47" fmla="*/ 1013 h 1017"/>
              <a:gd name="T48" fmla="*/ 496 w 1019"/>
              <a:gd name="T49" fmla="*/ 1015 h 1017"/>
              <a:gd name="T50" fmla="*/ 501 w 1019"/>
              <a:gd name="T51" fmla="*/ 1017 h 1017"/>
              <a:gd name="T52" fmla="*/ 509 w 1019"/>
              <a:gd name="T53" fmla="*/ 1017 h 1017"/>
              <a:gd name="T54" fmla="*/ 509 w 1019"/>
              <a:gd name="T55" fmla="*/ 1017 h 1017"/>
              <a:gd name="T56" fmla="*/ 515 w 1019"/>
              <a:gd name="T57" fmla="*/ 1017 h 1017"/>
              <a:gd name="T58" fmla="*/ 518 w 1019"/>
              <a:gd name="T59" fmla="*/ 1016 h 1017"/>
              <a:gd name="T60" fmla="*/ 524 w 1019"/>
              <a:gd name="T61" fmla="*/ 1013 h 1017"/>
              <a:gd name="T62" fmla="*/ 525 w 1019"/>
              <a:gd name="T63" fmla="*/ 1013 h 1017"/>
              <a:gd name="T64" fmla="*/ 532 w 1019"/>
              <a:gd name="T65" fmla="*/ 1007 h 1017"/>
              <a:gd name="T66" fmla="*/ 1008 w 1019"/>
              <a:gd name="T67" fmla="*/ 404 h 1017"/>
              <a:gd name="T68" fmla="*/ 1015 w 1019"/>
              <a:gd name="T69" fmla="*/ 394 h 1017"/>
              <a:gd name="T70" fmla="*/ 1019 w 1019"/>
              <a:gd name="T71" fmla="*/ 382 h 1017"/>
              <a:gd name="T72" fmla="*/ 691 w 1019"/>
              <a:gd name="T73" fmla="*/ 63 h 1017"/>
              <a:gd name="T74" fmla="*/ 327 w 1019"/>
              <a:gd name="T75" fmla="*/ 63 h 1017"/>
              <a:gd name="T76" fmla="*/ 328 w 1019"/>
              <a:gd name="T77" fmla="*/ 350 h 1017"/>
              <a:gd name="T78" fmla="*/ 97 w 1019"/>
              <a:gd name="T79" fmla="*/ 413 h 1017"/>
              <a:gd name="T80" fmla="*/ 97 w 1019"/>
              <a:gd name="T81" fmla="*/ 413 h 1017"/>
              <a:gd name="T82" fmla="*/ 610 w 1019"/>
              <a:gd name="T83" fmla="*/ 413 h 1017"/>
              <a:gd name="T84" fmla="*/ 675 w 1019"/>
              <a:gd name="T85" fmla="*/ 413 h 1017"/>
              <a:gd name="T86" fmla="*/ 689 w 1019"/>
              <a:gd name="T87" fmla="*/ 350 h 1017"/>
              <a:gd name="T88" fmla="*/ 689 w 1019"/>
              <a:gd name="T89" fmla="*/ 35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19" h="1017">
                <a:moveTo>
                  <a:pt x="1018" y="376"/>
                </a:moveTo>
                <a:lnTo>
                  <a:pt x="1018" y="376"/>
                </a:lnTo>
                <a:lnTo>
                  <a:pt x="1017" y="375"/>
                </a:lnTo>
                <a:lnTo>
                  <a:pt x="1017" y="375"/>
                </a:lnTo>
                <a:lnTo>
                  <a:pt x="1015" y="371"/>
                </a:lnTo>
                <a:lnTo>
                  <a:pt x="1014" y="366"/>
                </a:lnTo>
                <a:lnTo>
                  <a:pt x="1011" y="363"/>
                </a:lnTo>
                <a:lnTo>
                  <a:pt x="1008" y="358"/>
                </a:lnTo>
                <a:lnTo>
                  <a:pt x="757" y="13"/>
                </a:lnTo>
                <a:lnTo>
                  <a:pt x="757" y="13"/>
                </a:lnTo>
                <a:lnTo>
                  <a:pt x="754" y="10"/>
                </a:lnTo>
                <a:lnTo>
                  <a:pt x="750" y="6"/>
                </a:lnTo>
                <a:lnTo>
                  <a:pt x="750" y="6"/>
                </a:lnTo>
                <a:lnTo>
                  <a:pt x="749" y="5"/>
                </a:lnTo>
                <a:lnTo>
                  <a:pt x="749" y="5"/>
                </a:lnTo>
                <a:lnTo>
                  <a:pt x="744" y="2"/>
                </a:lnTo>
                <a:lnTo>
                  <a:pt x="739" y="1"/>
                </a:lnTo>
                <a:lnTo>
                  <a:pt x="739" y="1"/>
                </a:lnTo>
                <a:lnTo>
                  <a:pt x="739" y="1"/>
                </a:lnTo>
                <a:lnTo>
                  <a:pt x="739" y="1"/>
                </a:lnTo>
                <a:lnTo>
                  <a:pt x="739" y="1"/>
                </a:lnTo>
                <a:lnTo>
                  <a:pt x="739" y="1"/>
                </a:lnTo>
                <a:lnTo>
                  <a:pt x="731" y="0"/>
                </a:lnTo>
                <a:lnTo>
                  <a:pt x="286" y="0"/>
                </a:lnTo>
                <a:lnTo>
                  <a:pt x="286" y="0"/>
                </a:lnTo>
                <a:lnTo>
                  <a:pt x="279" y="1"/>
                </a:lnTo>
                <a:lnTo>
                  <a:pt x="279" y="1"/>
                </a:lnTo>
                <a:lnTo>
                  <a:pt x="278" y="1"/>
                </a:lnTo>
                <a:lnTo>
                  <a:pt x="278" y="1"/>
                </a:lnTo>
                <a:lnTo>
                  <a:pt x="278" y="1"/>
                </a:lnTo>
                <a:lnTo>
                  <a:pt x="278" y="1"/>
                </a:lnTo>
                <a:lnTo>
                  <a:pt x="273" y="2"/>
                </a:lnTo>
                <a:lnTo>
                  <a:pt x="269" y="5"/>
                </a:lnTo>
                <a:lnTo>
                  <a:pt x="269" y="5"/>
                </a:lnTo>
                <a:lnTo>
                  <a:pt x="267" y="6"/>
                </a:lnTo>
                <a:lnTo>
                  <a:pt x="267" y="6"/>
                </a:lnTo>
                <a:lnTo>
                  <a:pt x="263" y="10"/>
                </a:lnTo>
                <a:lnTo>
                  <a:pt x="260" y="13"/>
                </a:lnTo>
                <a:lnTo>
                  <a:pt x="6" y="363"/>
                </a:lnTo>
                <a:lnTo>
                  <a:pt x="6" y="363"/>
                </a:lnTo>
                <a:lnTo>
                  <a:pt x="5" y="365"/>
                </a:lnTo>
                <a:lnTo>
                  <a:pt x="5" y="365"/>
                </a:lnTo>
                <a:lnTo>
                  <a:pt x="3" y="368"/>
                </a:lnTo>
                <a:lnTo>
                  <a:pt x="3" y="368"/>
                </a:lnTo>
                <a:lnTo>
                  <a:pt x="3" y="369"/>
                </a:lnTo>
                <a:lnTo>
                  <a:pt x="3" y="369"/>
                </a:lnTo>
                <a:lnTo>
                  <a:pt x="1" y="373"/>
                </a:lnTo>
                <a:lnTo>
                  <a:pt x="1" y="373"/>
                </a:lnTo>
                <a:lnTo>
                  <a:pt x="0" y="378"/>
                </a:lnTo>
                <a:lnTo>
                  <a:pt x="0" y="378"/>
                </a:lnTo>
                <a:lnTo>
                  <a:pt x="0" y="382"/>
                </a:lnTo>
                <a:lnTo>
                  <a:pt x="0" y="382"/>
                </a:lnTo>
                <a:lnTo>
                  <a:pt x="0" y="386"/>
                </a:lnTo>
                <a:lnTo>
                  <a:pt x="0" y="386"/>
                </a:lnTo>
                <a:lnTo>
                  <a:pt x="1" y="390"/>
                </a:lnTo>
                <a:lnTo>
                  <a:pt x="1" y="390"/>
                </a:lnTo>
                <a:lnTo>
                  <a:pt x="3" y="395"/>
                </a:lnTo>
                <a:lnTo>
                  <a:pt x="3" y="395"/>
                </a:lnTo>
                <a:lnTo>
                  <a:pt x="4" y="396"/>
                </a:lnTo>
                <a:lnTo>
                  <a:pt x="4" y="396"/>
                </a:lnTo>
                <a:lnTo>
                  <a:pt x="5" y="398"/>
                </a:lnTo>
                <a:lnTo>
                  <a:pt x="5" y="398"/>
                </a:lnTo>
                <a:lnTo>
                  <a:pt x="7" y="401"/>
                </a:lnTo>
                <a:lnTo>
                  <a:pt x="483" y="1005"/>
                </a:lnTo>
                <a:lnTo>
                  <a:pt x="483" y="1005"/>
                </a:lnTo>
                <a:lnTo>
                  <a:pt x="485" y="1007"/>
                </a:lnTo>
                <a:lnTo>
                  <a:pt x="485" y="1007"/>
                </a:lnTo>
                <a:lnTo>
                  <a:pt x="490" y="1011"/>
                </a:lnTo>
                <a:lnTo>
                  <a:pt x="490" y="1011"/>
                </a:lnTo>
                <a:lnTo>
                  <a:pt x="492" y="1013"/>
                </a:lnTo>
                <a:lnTo>
                  <a:pt x="492" y="1013"/>
                </a:lnTo>
                <a:lnTo>
                  <a:pt x="493" y="1013"/>
                </a:lnTo>
                <a:lnTo>
                  <a:pt x="493" y="1013"/>
                </a:lnTo>
                <a:lnTo>
                  <a:pt x="496" y="1015"/>
                </a:lnTo>
                <a:lnTo>
                  <a:pt x="496" y="1015"/>
                </a:lnTo>
                <a:lnTo>
                  <a:pt x="500" y="1016"/>
                </a:lnTo>
                <a:lnTo>
                  <a:pt x="500" y="1016"/>
                </a:lnTo>
                <a:lnTo>
                  <a:pt x="501" y="1017"/>
                </a:lnTo>
                <a:lnTo>
                  <a:pt x="501" y="1017"/>
                </a:lnTo>
                <a:lnTo>
                  <a:pt x="509" y="1017"/>
                </a:lnTo>
                <a:lnTo>
                  <a:pt x="509" y="1017"/>
                </a:lnTo>
                <a:lnTo>
                  <a:pt x="509" y="1017"/>
                </a:lnTo>
                <a:lnTo>
                  <a:pt x="509" y="1017"/>
                </a:lnTo>
                <a:lnTo>
                  <a:pt x="509" y="1017"/>
                </a:lnTo>
                <a:lnTo>
                  <a:pt x="509" y="1017"/>
                </a:lnTo>
                <a:lnTo>
                  <a:pt x="509" y="1017"/>
                </a:lnTo>
                <a:lnTo>
                  <a:pt x="515" y="1017"/>
                </a:lnTo>
                <a:lnTo>
                  <a:pt x="515" y="1017"/>
                </a:lnTo>
                <a:lnTo>
                  <a:pt x="518" y="1016"/>
                </a:lnTo>
                <a:lnTo>
                  <a:pt x="518" y="1016"/>
                </a:lnTo>
                <a:lnTo>
                  <a:pt x="521" y="1015"/>
                </a:lnTo>
                <a:lnTo>
                  <a:pt x="521" y="1015"/>
                </a:lnTo>
                <a:lnTo>
                  <a:pt x="524" y="1013"/>
                </a:lnTo>
                <a:lnTo>
                  <a:pt x="524" y="1013"/>
                </a:lnTo>
                <a:lnTo>
                  <a:pt x="525" y="1013"/>
                </a:lnTo>
                <a:lnTo>
                  <a:pt x="525" y="1013"/>
                </a:lnTo>
                <a:lnTo>
                  <a:pt x="527" y="1011"/>
                </a:lnTo>
                <a:lnTo>
                  <a:pt x="527" y="1011"/>
                </a:lnTo>
                <a:lnTo>
                  <a:pt x="532" y="1007"/>
                </a:lnTo>
                <a:lnTo>
                  <a:pt x="532" y="1007"/>
                </a:lnTo>
                <a:lnTo>
                  <a:pt x="534" y="1005"/>
                </a:lnTo>
                <a:lnTo>
                  <a:pt x="1008" y="404"/>
                </a:lnTo>
                <a:lnTo>
                  <a:pt x="1008" y="404"/>
                </a:lnTo>
                <a:lnTo>
                  <a:pt x="1012" y="400"/>
                </a:lnTo>
                <a:lnTo>
                  <a:pt x="1015" y="394"/>
                </a:lnTo>
                <a:lnTo>
                  <a:pt x="1018" y="388"/>
                </a:lnTo>
                <a:lnTo>
                  <a:pt x="1019" y="382"/>
                </a:lnTo>
                <a:lnTo>
                  <a:pt x="1019" y="382"/>
                </a:lnTo>
                <a:lnTo>
                  <a:pt x="1018" y="376"/>
                </a:lnTo>
                <a:lnTo>
                  <a:pt x="1018" y="376"/>
                </a:lnTo>
                <a:close/>
                <a:moveTo>
                  <a:pt x="691" y="63"/>
                </a:moveTo>
                <a:lnTo>
                  <a:pt x="625" y="350"/>
                </a:lnTo>
                <a:lnTo>
                  <a:pt x="393" y="350"/>
                </a:lnTo>
                <a:lnTo>
                  <a:pt x="327" y="63"/>
                </a:lnTo>
                <a:lnTo>
                  <a:pt x="691" y="63"/>
                </a:lnTo>
                <a:close/>
                <a:moveTo>
                  <a:pt x="271" y="106"/>
                </a:moveTo>
                <a:lnTo>
                  <a:pt x="328" y="350"/>
                </a:lnTo>
                <a:lnTo>
                  <a:pt x="94" y="350"/>
                </a:lnTo>
                <a:lnTo>
                  <a:pt x="271" y="106"/>
                </a:lnTo>
                <a:close/>
                <a:moveTo>
                  <a:pt x="97" y="413"/>
                </a:moveTo>
                <a:lnTo>
                  <a:pt x="343" y="413"/>
                </a:lnTo>
                <a:lnTo>
                  <a:pt x="446" y="854"/>
                </a:lnTo>
                <a:lnTo>
                  <a:pt x="97" y="413"/>
                </a:lnTo>
                <a:close/>
                <a:moveTo>
                  <a:pt x="509" y="845"/>
                </a:moveTo>
                <a:lnTo>
                  <a:pt x="408" y="413"/>
                </a:lnTo>
                <a:lnTo>
                  <a:pt x="610" y="413"/>
                </a:lnTo>
                <a:lnTo>
                  <a:pt x="509" y="845"/>
                </a:lnTo>
                <a:close/>
                <a:moveTo>
                  <a:pt x="572" y="854"/>
                </a:moveTo>
                <a:lnTo>
                  <a:pt x="675" y="413"/>
                </a:lnTo>
                <a:lnTo>
                  <a:pt x="920" y="413"/>
                </a:lnTo>
                <a:lnTo>
                  <a:pt x="572" y="854"/>
                </a:lnTo>
                <a:close/>
                <a:moveTo>
                  <a:pt x="689" y="350"/>
                </a:moveTo>
                <a:lnTo>
                  <a:pt x="746" y="106"/>
                </a:lnTo>
                <a:lnTo>
                  <a:pt x="923" y="350"/>
                </a:lnTo>
                <a:lnTo>
                  <a:pt x="689" y="350"/>
                </a:lnTo>
                <a:close/>
              </a:path>
            </a:pathLst>
          </a:custGeom>
          <a:solidFill>
            <a:schemeClr val="bg1"/>
          </a:solidFill>
          <a:ln>
            <a:noFill/>
          </a:ln>
        </p:spPr>
        <p:txBody>
          <a:bodyPr vert="horz" wrap="square" lIns="91440" tIns="45720" rIns="91440" bIns="45720" numCol="1" anchor="t" anchorCtr="0" compatLnSpc="1"/>
          <a:lstStyle/>
          <a:p>
            <a:endParaRPr lang="zh-CN" altLang="en-US" dirty="0">
              <a:solidFill>
                <a:schemeClr val="bg1"/>
              </a:solidFill>
              <a:latin typeface="Arial"/>
              <a:ea typeface="阿里巴巴普惠体 Medium"/>
              <a:cs typeface="阿里巴巴普惠体 Medium"/>
              <a:sym typeface="Arial"/>
            </a:endParaRPr>
          </a:p>
        </p:txBody>
      </p:sp>
      <p:sp>
        <p:nvSpPr>
          <p:cNvPr id="38" name="Freeform 84"/>
          <p:cNvSpPr>
            <a:spLocks noEditPoints="1"/>
          </p:cNvSpPr>
          <p:nvPr/>
        </p:nvSpPr>
        <p:spPr bwMode="auto">
          <a:xfrm>
            <a:off x="5814084" y="2232377"/>
            <a:ext cx="563832" cy="563832"/>
          </a:xfrm>
          <a:custGeom>
            <a:avLst/>
            <a:gdLst>
              <a:gd name="T0" fmla="*/ 1017 w 1019"/>
              <a:gd name="T1" fmla="*/ 375 h 1017"/>
              <a:gd name="T2" fmla="*/ 1014 w 1019"/>
              <a:gd name="T3" fmla="*/ 366 h 1017"/>
              <a:gd name="T4" fmla="*/ 757 w 1019"/>
              <a:gd name="T5" fmla="*/ 13 h 1017"/>
              <a:gd name="T6" fmla="*/ 750 w 1019"/>
              <a:gd name="T7" fmla="*/ 6 h 1017"/>
              <a:gd name="T8" fmla="*/ 749 w 1019"/>
              <a:gd name="T9" fmla="*/ 5 h 1017"/>
              <a:gd name="T10" fmla="*/ 739 w 1019"/>
              <a:gd name="T11" fmla="*/ 1 h 1017"/>
              <a:gd name="T12" fmla="*/ 739 w 1019"/>
              <a:gd name="T13" fmla="*/ 1 h 1017"/>
              <a:gd name="T14" fmla="*/ 286 w 1019"/>
              <a:gd name="T15" fmla="*/ 0 h 1017"/>
              <a:gd name="T16" fmla="*/ 279 w 1019"/>
              <a:gd name="T17" fmla="*/ 1 h 1017"/>
              <a:gd name="T18" fmla="*/ 278 w 1019"/>
              <a:gd name="T19" fmla="*/ 1 h 1017"/>
              <a:gd name="T20" fmla="*/ 269 w 1019"/>
              <a:gd name="T21" fmla="*/ 5 h 1017"/>
              <a:gd name="T22" fmla="*/ 267 w 1019"/>
              <a:gd name="T23" fmla="*/ 6 h 1017"/>
              <a:gd name="T24" fmla="*/ 6 w 1019"/>
              <a:gd name="T25" fmla="*/ 363 h 1017"/>
              <a:gd name="T26" fmla="*/ 5 w 1019"/>
              <a:gd name="T27" fmla="*/ 365 h 1017"/>
              <a:gd name="T28" fmla="*/ 3 w 1019"/>
              <a:gd name="T29" fmla="*/ 369 h 1017"/>
              <a:gd name="T30" fmla="*/ 1 w 1019"/>
              <a:gd name="T31" fmla="*/ 373 h 1017"/>
              <a:gd name="T32" fmla="*/ 0 w 1019"/>
              <a:gd name="T33" fmla="*/ 382 h 1017"/>
              <a:gd name="T34" fmla="*/ 0 w 1019"/>
              <a:gd name="T35" fmla="*/ 386 h 1017"/>
              <a:gd name="T36" fmla="*/ 3 w 1019"/>
              <a:gd name="T37" fmla="*/ 395 h 1017"/>
              <a:gd name="T38" fmla="*/ 4 w 1019"/>
              <a:gd name="T39" fmla="*/ 396 h 1017"/>
              <a:gd name="T40" fmla="*/ 7 w 1019"/>
              <a:gd name="T41" fmla="*/ 401 h 1017"/>
              <a:gd name="T42" fmla="*/ 485 w 1019"/>
              <a:gd name="T43" fmla="*/ 1007 h 1017"/>
              <a:gd name="T44" fmla="*/ 490 w 1019"/>
              <a:gd name="T45" fmla="*/ 1011 h 1017"/>
              <a:gd name="T46" fmla="*/ 493 w 1019"/>
              <a:gd name="T47" fmla="*/ 1013 h 1017"/>
              <a:gd name="T48" fmla="*/ 496 w 1019"/>
              <a:gd name="T49" fmla="*/ 1015 h 1017"/>
              <a:gd name="T50" fmla="*/ 501 w 1019"/>
              <a:gd name="T51" fmla="*/ 1017 h 1017"/>
              <a:gd name="T52" fmla="*/ 509 w 1019"/>
              <a:gd name="T53" fmla="*/ 1017 h 1017"/>
              <a:gd name="T54" fmla="*/ 509 w 1019"/>
              <a:gd name="T55" fmla="*/ 1017 h 1017"/>
              <a:gd name="T56" fmla="*/ 515 w 1019"/>
              <a:gd name="T57" fmla="*/ 1017 h 1017"/>
              <a:gd name="T58" fmla="*/ 518 w 1019"/>
              <a:gd name="T59" fmla="*/ 1016 h 1017"/>
              <a:gd name="T60" fmla="*/ 524 w 1019"/>
              <a:gd name="T61" fmla="*/ 1013 h 1017"/>
              <a:gd name="T62" fmla="*/ 525 w 1019"/>
              <a:gd name="T63" fmla="*/ 1013 h 1017"/>
              <a:gd name="T64" fmla="*/ 532 w 1019"/>
              <a:gd name="T65" fmla="*/ 1007 h 1017"/>
              <a:gd name="T66" fmla="*/ 1008 w 1019"/>
              <a:gd name="T67" fmla="*/ 404 h 1017"/>
              <a:gd name="T68" fmla="*/ 1015 w 1019"/>
              <a:gd name="T69" fmla="*/ 394 h 1017"/>
              <a:gd name="T70" fmla="*/ 1019 w 1019"/>
              <a:gd name="T71" fmla="*/ 382 h 1017"/>
              <a:gd name="T72" fmla="*/ 691 w 1019"/>
              <a:gd name="T73" fmla="*/ 63 h 1017"/>
              <a:gd name="T74" fmla="*/ 327 w 1019"/>
              <a:gd name="T75" fmla="*/ 63 h 1017"/>
              <a:gd name="T76" fmla="*/ 328 w 1019"/>
              <a:gd name="T77" fmla="*/ 350 h 1017"/>
              <a:gd name="T78" fmla="*/ 97 w 1019"/>
              <a:gd name="T79" fmla="*/ 413 h 1017"/>
              <a:gd name="T80" fmla="*/ 97 w 1019"/>
              <a:gd name="T81" fmla="*/ 413 h 1017"/>
              <a:gd name="T82" fmla="*/ 610 w 1019"/>
              <a:gd name="T83" fmla="*/ 413 h 1017"/>
              <a:gd name="T84" fmla="*/ 675 w 1019"/>
              <a:gd name="T85" fmla="*/ 413 h 1017"/>
              <a:gd name="T86" fmla="*/ 689 w 1019"/>
              <a:gd name="T87" fmla="*/ 350 h 1017"/>
              <a:gd name="T88" fmla="*/ 689 w 1019"/>
              <a:gd name="T89" fmla="*/ 35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19" h="1017">
                <a:moveTo>
                  <a:pt x="1018" y="376"/>
                </a:moveTo>
                <a:lnTo>
                  <a:pt x="1018" y="376"/>
                </a:lnTo>
                <a:lnTo>
                  <a:pt x="1017" y="375"/>
                </a:lnTo>
                <a:lnTo>
                  <a:pt x="1017" y="375"/>
                </a:lnTo>
                <a:lnTo>
                  <a:pt x="1015" y="371"/>
                </a:lnTo>
                <a:lnTo>
                  <a:pt x="1014" y="366"/>
                </a:lnTo>
                <a:lnTo>
                  <a:pt x="1011" y="363"/>
                </a:lnTo>
                <a:lnTo>
                  <a:pt x="1008" y="358"/>
                </a:lnTo>
                <a:lnTo>
                  <a:pt x="757" y="13"/>
                </a:lnTo>
                <a:lnTo>
                  <a:pt x="757" y="13"/>
                </a:lnTo>
                <a:lnTo>
                  <a:pt x="754" y="10"/>
                </a:lnTo>
                <a:lnTo>
                  <a:pt x="750" y="6"/>
                </a:lnTo>
                <a:lnTo>
                  <a:pt x="750" y="6"/>
                </a:lnTo>
                <a:lnTo>
                  <a:pt x="749" y="5"/>
                </a:lnTo>
                <a:lnTo>
                  <a:pt x="749" y="5"/>
                </a:lnTo>
                <a:lnTo>
                  <a:pt x="744" y="2"/>
                </a:lnTo>
                <a:lnTo>
                  <a:pt x="739" y="1"/>
                </a:lnTo>
                <a:lnTo>
                  <a:pt x="739" y="1"/>
                </a:lnTo>
                <a:lnTo>
                  <a:pt x="739" y="1"/>
                </a:lnTo>
                <a:lnTo>
                  <a:pt x="739" y="1"/>
                </a:lnTo>
                <a:lnTo>
                  <a:pt x="739" y="1"/>
                </a:lnTo>
                <a:lnTo>
                  <a:pt x="739" y="1"/>
                </a:lnTo>
                <a:lnTo>
                  <a:pt x="731" y="0"/>
                </a:lnTo>
                <a:lnTo>
                  <a:pt x="286" y="0"/>
                </a:lnTo>
                <a:lnTo>
                  <a:pt x="286" y="0"/>
                </a:lnTo>
                <a:lnTo>
                  <a:pt x="279" y="1"/>
                </a:lnTo>
                <a:lnTo>
                  <a:pt x="279" y="1"/>
                </a:lnTo>
                <a:lnTo>
                  <a:pt x="278" y="1"/>
                </a:lnTo>
                <a:lnTo>
                  <a:pt x="278" y="1"/>
                </a:lnTo>
                <a:lnTo>
                  <a:pt x="278" y="1"/>
                </a:lnTo>
                <a:lnTo>
                  <a:pt x="278" y="1"/>
                </a:lnTo>
                <a:lnTo>
                  <a:pt x="273" y="2"/>
                </a:lnTo>
                <a:lnTo>
                  <a:pt x="269" y="5"/>
                </a:lnTo>
                <a:lnTo>
                  <a:pt x="269" y="5"/>
                </a:lnTo>
                <a:lnTo>
                  <a:pt x="267" y="6"/>
                </a:lnTo>
                <a:lnTo>
                  <a:pt x="267" y="6"/>
                </a:lnTo>
                <a:lnTo>
                  <a:pt x="263" y="10"/>
                </a:lnTo>
                <a:lnTo>
                  <a:pt x="260" y="13"/>
                </a:lnTo>
                <a:lnTo>
                  <a:pt x="6" y="363"/>
                </a:lnTo>
                <a:lnTo>
                  <a:pt x="6" y="363"/>
                </a:lnTo>
                <a:lnTo>
                  <a:pt x="5" y="365"/>
                </a:lnTo>
                <a:lnTo>
                  <a:pt x="5" y="365"/>
                </a:lnTo>
                <a:lnTo>
                  <a:pt x="3" y="368"/>
                </a:lnTo>
                <a:lnTo>
                  <a:pt x="3" y="368"/>
                </a:lnTo>
                <a:lnTo>
                  <a:pt x="3" y="369"/>
                </a:lnTo>
                <a:lnTo>
                  <a:pt x="3" y="369"/>
                </a:lnTo>
                <a:lnTo>
                  <a:pt x="1" y="373"/>
                </a:lnTo>
                <a:lnTo>
                  <a:pt x="1" y="373"/>
                </a:lnTo>
                <a:lnTo>
                  <a:pt x="0" y="378"/>
                </a:lnTo>
                <a:lnTo>
                  <a:pt x="0" y="378"/>
                </a:lnTo>
                <a:lnTo>
                  <a:pt x="0" y="382"/>
                </a:lnTo>
                <a:lnTo>
                  <a:pt x="0" y="382"/>
                </a:lnTo>
                <a:lnTo>
                  <a:pt x="0" y="386"/>
                </a:lnTo>
                <a:lnTo>
                  <a:pt x="0" y="386"/>
                </a:lnTo>
                <a:lnTo>
                  <a:pt x="1" y="390"/>
                </a:lnTo>
                <a:lnTo>
                  <a:pt x="1" y="390"/>
                </a:lnTo>
                <a:lnTo>
                  <a:pt x="3" y="395"/>
                </a:lnTo>
                <a:lnTo>
                  <a:pt x="3" y="395"/>
                </a:lnTo>
                <a:lnTo>
                  <a:pt x="4" y="396"/>
                </a:lnTo>
                <a:lnTo>
                  <a:pt x="4" y="396"/>
                </a:lnTo>
                <a:lnTo>
                  <a:pt x="5" y="398"/>
                </a:lnTo>
                <a:lnTo>
                  <a:pt x="5" y="398"/>
                </a:lnTo>
                <a:lnTo>
                  <a:pt x="7" y="401"/>
                </a:lnTo>
                <a:lnTo>
                  <a:pt x="483" y="1005"/>
                </a:lnTo>
                <a:lnTo>
                  <a:pt x="483" y="1005"/>
                </a:lnTo>
                <a:lnTo>
                  <a:pt x="485" y="1007"/>
                </a:lnTo>
                <a:lnTo>
                  <a:pt x="485" y="1007"/>
                </a:lnTo>
                <a:lnTo>
                  <a:pt x="490" y="1011"/>
                </a:lnTo>
                <a:lnTo>
                  <a:pt x="490" y="1011"/>
                </a:lnTo>
                <a:lnTo>
                  <a:pt x="492" y="1013"/>
                </a:lnTo>
                <a:lnTo>
                  <a:pt x="492" y="1013"/>
                </a:lnTo>
                <a:lnTo>
                  <a:pt x="493" y="1013"/>
                </a:lnTo>
                <a:lnTo>
                  <a:pt x="493" y="1013"/>
                </a:lnTo>
                <a:lnTo>
                  <a:pt x="496" y="1015"/>
                </a:lnTo>
                <a:lnTo>
                  <a:pt x="496" y="1015"/>
                </a:lnTo>
                <a:lnTo>
                  <a:pt x="500" y="1016"/>
                </a:lnTo>
                <a:lnTo>
                  <a:pt x="500" y="1016"/>
                </a:lnTo>
                <a:lnTo>
                  <a:pt x="501" y="1017"/>
                </a:lnTo>
                <a:lnTo>
                  <a:pt x="501" y="1017"/>
                </a:lnTo>
                <a:lnTo>
                  <a:pt x="509" y="1017"/>
                </a:lnTo>
                <a:lnTo>
                  <a:pt x="509" y="1017"/>
                </a:lnTo>
                <a:lnTo>
                  <a:pt x="509" y="1017"/>
                </a:lnTo>
                <a:lnTo>
                  <a:pt x="509" y="1017"/>
                </a:lnTo>
                <a:lnTo>
                  <a:pt x="509" y="1017"/>
                </a:lnTo>
                <a:lnTo>
                  <a:pt x="509" y="1017"/>
                </a:lnTo>
                <a:lnTo>
                  <a:pt x="509" y="1017"/>
                </a:lnTo>
                <a:lnTo>
                  <a:pt x="515" y="1017"/>
                </a:lnTo>
                <a:lnTo>
                  <a:pt x="515" y="1017"/>
                </a:lnTo>
                <a:lnTo>
                  <a:pt x="518" y="1016"/>
                </a:lnTo>
                <a:lnTo>
                  <a:pt x="518" y="1016"/>
                </a:lnTo>
                <a:lnTo>
                  <a:pt x="521" y="1015"/>
                </a:lnTo>
                <a:lnTo>
                  <a:pt x="521" y="1015"/>
                </a:lnTo>
                <a:lnTo>
                  <a:pt x="524" y="1013"/>
                </a:lnTo>
                <a:lnTo>
                  <a:pt x="524" y="1013"/>
                </a:lnTo>
                <a:lnTo>
                  <a:pt x="525" y="1013"/>
                </a:lnTo>
                <a:lnTo>
                  <a:pt x="525" y="1013"/>
                </a:lnTo>
                <a:lnTo>
                  <a:pt x="527" y="1011"/>
                </a:lnTo>
                <a:lnTo>
                  <a:pt x="527" y="1011"/>
                </a:lnTo>
                <a:lnTo>
                  <a:pt x="532" y="1007"/>
                </a:lnTo>
                <a:lnTo>
                  <a:pt x="532" y="1007"/>
                </a:lnTo>
                <a:lnTo>
                  <a:pt x="534" y="1005"/>
                </a:lnTo>
                <a:lnTo>
                  <a:pt x="1008" y="404"/>
                </a:lnTo>
                <a:lnTo>
                  <a:pt x="1008" y="404"/>
                </a:lnTo>
                <a:lnTo>
                  <a:pt x="1012" y="400"/>
                </a:lnTo>
                <a:lnTo>
                  <a:pt x="1015" y="394"/>
                </a:lnTo>
                <a:lnTo>
                  <a:pt x="1018" y="388"/>
                </a:lnTo>
                <a:lnTo>
                  <a:pt x="1019" y="382"/>
                </a:lnTo>
                <a:lnTo>
                  <a:pt x="1019" y="382"/>
                </a:lnTo>
                <a:lnTo>
                  <a:pt x="1018" y="376"/>
                </a:lnTo>
                <a:lnTo>
                  <a:pt x="1018" y="376"/>
                </a:lnTo>
                <a:close/>
                <a:moveTo>
                  <a:pt x="691" y="63"/>
                </a:moveTo>
                <a:lnTo>
                  <a:pt x="625" y="350"/>
                </a:lnTo>
                <a:lnTo>
                  <a:pt x="393" y="350"/>
                </a:lnTo>
                <a:lnTo>
                  <a:pt x="327" y="63"/>
                </a:lnTo>
                <a:lnTo>
                  <a:pt x="691" y="63"/>
                </a:lnTo>
                <a:close/>
                <a:moveTo>
                  <a:pt x="271" y="106"/>
                </a:moveTo>
                <a:lnTo>
                  <a:pt x="328" y="350"/>
                </a:lnTo>
                <a:lnTo>
                  <a:pt x="94" y="350"/>
                </a:lnTo>
                <a:lnTo>
                  <a:pt x="271" y="106"/>
                </a:lnTo>
                <a:close/>
                <a:moveTo>
                  <a:pt x="97" y="413"/>
                </a:moveTo>
                <a:lnTo>
                  <a:pt x="343" y="413"/>
                </a:lnTo>
                <a:lnTo>
                  <a:pt x="446" y="854"/>
                </a:lnTo>
                <a:lnTo>
                  <a:pt x="97" y="413"/>
                </a:lnTo>
                <a:close/>
                <a:moveTo>
                  <a:pt x="509" y="845"/>
                </a:moveTo>
                <a:lnTo>
                  <a:pt x="408" y="413"/>
                </a:lnTo>
                <a:lnTo>
                  <a:pt x="610" y="413"/>
                </a:lnTo>
                <a:lnTo>
                  <a:pt x="509" y="845"/>
                </a:lnTo>
                <a:close/>
                <a:moveTo>
                  <a:pt x="572" y="854"/>
                </a:moveTo>
                <a:lnTo>
                  <a:pt x="675" y="413"/>
                </a:lnTo>
                <a:lnTo>
                  <a:pt x="920" y="413"/>
                </a:lnTo>
                <a:lnTo>
                  <a:pt x="572" y="854"/>
                </a:lnTo>
                <a:close/>
                <a:moveTo>
                  <a:pt x="689" y="350"/>
                </a:moveTo>
                <a:lnTo>
                  <a:pt x="746" y="106"/>
                </a:lnTo>
                <a:lnTo>
                  <a:pt x="923" y="350"/>
                </a:lnTo>
                <a:lnTo>
                  <a:pt x="689" y="350"/>
                </a:lnTo>
                <a:close/>
              </a:path>
            </a:pathLst>
          </a:custGeom>
          <a:solidFill>
            <a:schemeClr val="bg1"/>
          </a:solidFill>
          <a:ln>
            <a:noFill/>
          </a:ln>
        </p:spPr>
        <p:txBody>
          <a:bodyPr vert="horz" wrap="square" lIns="91440" tIns="45720" rIns="91440" bIns="45720" numCol="1" anchor="t" anchorCtr="0" compatLnSpc="1"/>
          <a:lstStyle/>
          <a:p>
            <a:endParaRPr lang="zh-CN" altLang="en-US" dirty="0">
              <a:solidFill>
                <a:schemeClr val="bg1"/>
              </a:solidFill>
              <a:latin typeface="Arial"/>
              <a:ea typeface="阿里巴巴普惠体 Medium"/>
              <a:cs typeface="阿里巴巴普惠体 Medium"/>
              <a:sym typeface="Arial"/>
            </a:endParaRPr>
          </a:p>
        </p:txBody>
      </p:sp>
      <p:sp>
        <p:nvSpPr>
          <p:cNvPr id="39" name="Freeform 84"/>
          <p:cNvSpPr>
            <a:spLocks noEditPoints="1"/>
          </p:cNvSpPr>
          <p:nvPr/>
        </p:nvSpPr>
        <p:spPr bwMode="auto">
          <a:xfrm>
            <a:off x="8968152" y="2241218"/>
            <a:ext cx="563832" cy="563832"/>
          </a:xfrm>
          <a:custGeom>
            <a:avLst/>
            <a:gdLst>
              <a:gd name="T0" fmla="*/ 1017 w 1019"/>
              <a:gd name="T1" fmla="*/ 375 h 1017"/>
              <a:gd name="T2" fmla="*/ 1014 w 1019"/>
              <a:gd name="T3" fmla="*/ 366 h 1017"/>
              <a:gd name="T4" fmla="*/ 757 w 1019"/>
              <a:gd name="T5" fmla="*/ 13 h 1017"/>
              <a:gd name="T6" fmla="*/ 750 w 1019"/>
              <a:gd name="T7" fmla="*/ 6 h 1017"/>
              <a:gd name="T8" fmla="*/ 749 w 1019"/>
              <a:gd name="T9" fmla="*/ 5 h 1017"/>
              <a:gd name="T10" fmla="*/ 739 w 1019"/>
              <a:gd name="T11" fmla="*/ 1 h 1017"/>
              <a:gd name="T12" fmla="*/ 739 w 1019"/>
              <a:gd name="T13" fmla="*/ 1 h 1017"/>
              <a:gd name="T14" fmla="*/ 286 w 1019"/>
              <a:gd name="T15" fmla="*/ 0 h 1017"/>
              <a:gd name="T16" fmla="*/ 279 w 1019"/>
              <a:gd name="T17" fmla="*/ 1 h 1017"/>
              <a:gd name="T18" fmla="*/ 278 w 1019"/>
              <a:gd name="T19" fmla="*/ 1 h 1017"/>
              <a:gd name="T20" fmla="*/ 269 w 1019"/>
              <a:gd name="T21" fmla="*/ 5 h 1017"/>
              <a:gd name="T22" fmla="*/ 267 w 1019"/>
              <a:gd name="T23" fmla="*/ 6 h 1017"/>
              <a:gd name="T24" fmla="*/ 6 w 1019"/>
              <a:gd name="T25" fmla="*/ 363 h 1017"/>
              <a:gd name="T26" fmla="*/ 5 w 1019"/>
              <a:gd name="T27" fmla="*/ 365 h 1017"/>
              <a:gd name="T28" fmla="*/ 3 w 1019"/>
              <a:gd name="T29" fmla="*/ 369 h 1017"/>
              <a:gd name="T30" fmla="*/ 1 w 1019"/>
              <a:gd name="T31" fmla="*/ 373 h 1017"/>
              <a:gd name="T32" fmla="*/ 0 w 1019"/>
              <a:gd name="T33" fmla="*/ 382 h 1017"/>
              <a:gd name="T34" fmla="*/ 0 w 1019"/>
              <a:gd name="T35" fmla="*/ 386 h 1017"/>
              <a:gd name="T36" fmla="*/ 3 w 1019"/>
              <a:gd name="T37" fmla="*/ 395 h 1017"/>
              <a:gd name="T38" fmla="*/ 4 w 1019"/>
              <a:gd name="T39" fmla="*/ 396 h 1017"/>
              <a:gd name="T40" fmla="*/ 7 w 1019"/>
              <a:gd name="T41" fmla="*/ 401 h 1017"/>
              <a:gd name="T42" fmla="*/ 485 w 1019"/>
              <a:gd name="T43" fmla="*/ 1007 h 1017"/>
              <a:gd name="T44" fmla="*/ 490 w 1019"/>
              <a:gd name="T45" fmla="*/ 1011 h 1017"/>
              <a:gd name="T46" fmla="*/ 493 w 1019"/>
              <a:gd name="T47" fmla="*/ 1013 h 1017"/>
              <a:gd name="T48" fmla="*/ 496 w 1019"/>
              <a:gd name="T49" fmla="*/ 1015 h 1017"/>
              <a:gd name="T50" fmla="*/ 501 w 1019"/>
              <a:gd name="T51" fmla="*/ 1017 h 1017"/>
              <a:gd name="T52" fmla="*/ 509 w 1019"/>
              <a:gd name="T53" fmla="*/ 1017 h 1017"/>
              <a:gd name="T54" fmla="*/ 509 w 1019"/>
              <a:gd name="T55" fmla="*/ 1017 h 1017"/>
              <a:gd name="T56" fmla="*/ 515 w 1019"/>
              <a:gd name="T57" fmla="*/ 1017 h 1017"/>
              <a:gd name="T58" fmla="*/ 518 w 1019"/>
              <a:gd name="T59" fmla="*/ 1016 h 1017"/>
              <a:gd name="T60" fmla="*/ 524 w 1019"/>
              <a:gd name="T61" fmla="*/ 1013 h 1017"/>
              <a:gd name="T62" fmla="*/ 525 w 1019"/>
              <a:gd name="T63" fmla="*/ 1013 h 1017"/>
              <a:gd name="T64" fmla="*/ 532 w 1019"/>
              <a:gd name="T65" fmla="*/ 1007 h 1017"/>
              <a:gd name="T66" fmla="*/ 1008 w 1019"/>
              <a:gd name="T67" fmla="*/ 404 h 1017"/>
              <a:gd name="T68" fmla="*/ 1015 w 1019"/>
              <a:gd name="T69" fmla="*/ 394 h 1017"/>
              <a:gd name="T70" fmla="*/ 1019 w 1019"/>
              <a:gd name="T71" fmla="*/ 382 h 1017"/>
              <a:gd name="T72" fmla="*/ 691 w 1019"/>
              <a:gd name="T73" fmla="*/ 63 h 1017"/>
              <a:gd name="T74" fmla="*/ 327 w 1019"/>
              <a:gd name="T75" fmla="*/ 63 h 1017"/>
              <a:gd name="T76" fmla="*/ 328 w 1019"/>
              <a:gd name="T77" fmla="*/ 350 h 1017"/>
              <a:gd name="T78" fmla="*/ 97 w 1019"/>
              <a:gd name="T79" fmla="*/ 413 h 1017"/>
              <a:gd name="T80" fmla="*/ 97 w 1019"/>
              <a:gd name="T81" fmla="*/ 413 h 1017"/>
              <a:gd name="T82" fmla="*/ 610 w 1019"/>
              <a:gd name="T83" fmla="*/ 413 h 1017"/>
              <a:gd name="T84" fmla="*/ 675 w 1019"/>
              <a:gd name="T85" fmla="*/ 413 h 1017"/>
              <a:gd name="T86" fmla="*/ 689 w 1019"/>
              <a:gd name="T87" fmla="*/ 350 h 1017"/>
              <a:gd name="T88" fmla="*/ 689 w 1019"/>
              <a:gd name="T89" fmla="*/ 35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19" h="1017">
                <a:moveTo>
                  <a:pt x="1018" y="376"/>
                </a:moveTo>
                <a:lnTo>
                  <a:pt x="1018" y="376"/>
                </a:lnTo>
                <a:lnTo>
                  <a:pt x="1017" y="375"/>
                </a:lnTo>
                <a:lnTo>
                  <a:pt x="1017" y="375"/>
                </a:lnTo>
                <a:lnTo>
                  <a:pt x="1015" y="371"/>
                </a:lnTo>
                <a:lnTo>
                  <a:pt x="1014" y="366"/>
                </a:lnTo>
                <a:lnTo>
                  <a:pt x="1011" y="363"/>
                </a:lnTo>
                <a:lnTo>
                  <a:pt x="1008" y="358"/>
                </a:lnTo>
                <a:lnTo>
                  <a:pt x="757" y="13"/>
                </a:lnTo>
                <a:lnTo>
                  <a:pt x="757" y="13"/>
                </a:lnTo>
                <a:lnTo>
                  <a:pt x="754" y="10"/>
                </a:lnTo>
                <a:lnTo>
                  <a:pt x="750" y="6"/>
                </a:lnTo>
                <a:lnTo>
                  <a:pt x="750" y="6"/>
                </a:lnTo>
                <a:lnTo>
                  <a:pt x="749" y="5"/>
                </a:lnTo>
                <a:lnTo>
                  <a:pt x="749" y="5"/>
                </a:lnTo>
                <a:lnTo>
                  <a:pt x="744" y="2"/>
                </a:lnTo>
                <a:lnTo>
                  <a:pt x="739" y="1"/>
                </a:lnTo>
                <a:lnTo>
                  <a:pt x="739" y="1"/>
                </a:lnTo>
                <a:lnTo>
                  <a:pt x="739" y="1"/>
                </a:lnTo>
                <a:lnTo>
                  <a:pt x="739" y="1"/>
                </a:lnTo>
                <a:lnTo>
                  <a:pt x="739" y="1"/>
                </a:lnTo>
                <a:lnTo>
                  <a:pt x="739" y="1"/>
                </a:lnTo>
                <a:lnTo>
                  <a:pt x="731" y="0"/>
                </a:lnTo>
                <a:lnTo>
                  <a:pt x="286" y="0"/>
                </a:lnTo>
                <a:lnTo>
                  <a:pt x="286" y="0"/>
                </a:lnTo>
                <a:lnTo>
                  <a:pt x="279" y="1"/>
                </a:lnTo>
                <a:lnTo>
                  <a:pt x="279" y="1"/>
                </a:lnTo>
                <a:lnTo>
                  <a:pt x="278" y="1"/>
                </a:lnTo>
                <a:lnTo>
                  <a:pt x="278" y="1"/>
                </a:lnTo>
                <a:lnTo>
                  <a:pt x="278" y="1"/>
                </a:lnTo>
                <a:lnTo>
                  <a:pt x="278" y="1"/>
                </a:lnTo>
                <a:lnTo>
                  <a:pt x="273" y="2"/>
                </a:lnTo>
                <a:lnTo>
                  <a:pt x="269" y="5"/>
                </a:lnTo>
                <a:lnTo>
                  <a:pt x="269" y="5"/>
                </a:lnTo>
                <a:lnTo>
                  <a:pt x="267" y="6"/>
                </a:lnTo>
                <a:lnTo>
                  <a:pt x="267" y="6"/>
                </a:lnTo>
                <a:lnTo>
                  <a:pt x="263" y="10"/>
                </a:lnTo>
                <a:lnTo>
                  <a:pt x="260" y="13"/>
                </a:lnTo>
                <a:lnTo>
                  <a:pt x="6" y="363"/>
                </a:lnTo>
                <a:lnTo>
                  <a:pt x="6" y="363"/>
                </a:lnTo>
                <a:lnTo>
                  <a:pt x="5" y="365"/>
                </a:lnTo>
                <a:lnTo>
                  <a:pt x="5" y="365"/>
                </a:lnTo>
                <a:lnTo>
                  <a:pt x="3" y="368"/>
                </a:lnTo>
                <a:lnTo>
                  <a:pt x="3" y="368"/>
                </a:lnTo>
                <a:lnTo>
                  <a:pt x="3" y="369"/>
                </a:lnTo>
                <a:lnTo>
                  <a:pt x="3" y="369"/>
                </a:lnTo>
                <a:lnTo>
                  <a:pt x="1" y="373"/>
                </a:lnTo>
                <a:lnTo>
                  <a:pt x="1" y="373"/>
                </a:lnTo>
                <a:lnTo>
                  <a:pt x="0" y="378"/>
                </a:lnTo>
                <a:lnTo>
                  <a:pt x="0" y="378"/>
                </a:lnTo>
                <a:lnTo>
                  <a:pt x="0" y="382"/>
                </a:lnTo>
                <a:lnTo>
                  <a:pt x="0" y="382"/>
                </a:lnTo>
                <a:lnTo>
                  <a:pt x="0" y="386"/>
                </a:lnTo>
                <a:lnTo>
                  <a:pt x="0" y="386"/>
                </a:lnTo>
                <a:lnTo>
                  <a:pt x="1" y="390"/>
                </a:lnTo>
                <a:lnTo>
                  <a:pt x="1" y="390"/>
                </a:lnTo>
                <a:lnTo>
                  <a:pt x="3" y="395"/>
                </a:lnTo>
                <a:lnTo>
                  <a:pt x="3" y="395"/>
                </a:lnTo>
                <a:lnTo>
                  <a:pt x="4" y="396"/>
                </a:lnTo>
                <a:lnTo>
                  <a:pt x="4" y="396"/>
                </a:lnTo>
                <a:lnTo>
                  <a:pt x="5" y="398"/>
                </a:lnTo>
                <a:lnTo>
                  <a:pt x="5" y="398"/>
                </a:lnTo>
                <a:lnTo>
                  <a:pt x="7" y="401"/>
                </a:lnTo>
                <a:lnTo>
                  <a:pt x="483" y="1005"/>
                </a:lnTo>
                <a:lnTo>
                  <a:pt x="483" y="1005"/>
                </a:lnTo>
                <a:lnTo>
                  <a:pt x="485" y="1007"/>
                </a:lnTo>
                <a:lnTo>
                  <a:pt x="485" y="1007"/>
                </a:lnTo>
                <a:lnTo>
                  <a:pt x="490" y="1011"/>
                </a:lnTo>
                <a:lnTo>
                  <a:pt x="490" y="1011"/>
                </a:lnTo>
                <a:lnTo>
                  <a:pt x="492" y="1013"/>
                </a:lnTo>
                <a:lnTo>
                  <a:pt x="492" y="1013"/>
                </a:lnTo>
                <a:lnTo>
                  <a:pt x="493" y="1013"/>
                </a:lnTo>
                <a:lnTo>
                  <a:pt x="493" y="1013"/>
                </a:lnTo>
                <a:lnTo>
                  <a:pt x="496" y="1015"/>
                </a:lnTo>
                <a:lnTo>
                  <a:pt x="496" y="1015"/>
                </a:lnTo>
                <a:lnTo>
                  <a:pt x="500" y="1016"/>
                </a:lnTo>
                <a:lnTo>
                  <a:pt x="500" y="1016"/>
                </a:lnTo>
                <a:lnTo>
                  <a:pt x="501" y="1017"/>
                </a:lnTo>
                <a:lnTo>
                  <a:pt x="501" y="1017"/>
                </a:lnTo>
                <a:lnTo>
                  <a:pt x="509" y="1017"/>
                </a:lnTo>
                <a:lnTo>
                  <a:pt x="509" y="1017"/>
                </a:lnTo>
                <a:lnTo>
                  <a:pt x="509" y="1017"/>
                </a:lnTo>
                <a:lnTo>
                  <a:pt x="509" y="1017"/>
                </a:lnTo>
                <a:lnTo>
                  <a:pt x="509" y="1017"/>
                </a:lnTo>
                <a:lnTo>
                  <a:pt x="509" y="1017"/>
                </a:lnTo>
                <a:lnTo>
                  <a:pt x="509" y="1017"/>
                </a:lnTo>
                <a:lnTo>
                  <a:pt x="515" y="1017"/>
                </a:lnTo>
                <a:lnTo>
                  <a:pt x="515" y="1017"/>
                </a:lnTo>
                <a:lnTo>
                  <a:pt x="518" y="1016"/>
                </a:lnTo>
                <a:lnTo>
                  <a:pt x="518" y="1016"/>
                </a:lnTo>
                <a:lnTo>
                  <a:pt x="521" y="1015"/>
                </a:lnTo>
                <a:lnTo>
                  <a:pt x="521" y="1015"/>
                </a:lnTo>
                <a:lnTo>
                  <a:pt x="524" y="1013"/>
                </a:lnTo>
                <a:lnTo>
                  <a:pt x="524" y="1013"/>
                </a:lnTo>
                <a:lnTo>
                  <a:pt x="525" y="1013"/>
                </a:lnTo>
                <a:lnTo>
                  <a:pt x="525" y="1013"/>
                </a:lnTo>
                <a:lnTo>
                  <a:pt x="527" y="1011"/>
                </a:lnTo>
                <a:lnTo>
                  <a:pt x="527" y="1011"/>
                </a:lnTo>
                <a:lnTo>
                  <a:pt x="532" y="1007"/>
                </a:lnTo>
                <a:lnTo>
                  <a:pt x="532" y="1007"/>
                </a:lnTo>
                <a:lnTo>
                  <a:pt x="534" y="1005"/>
                </a:lnTo>
                <a:lnTo>
                  <a:pt x="1008" y="404"/>
                </a:lnTo>
                <a:lnTo>
                  <a:pt x="1008" y="404"/>
                </a:lnTo>
                <a:lnTo>
                  <a:pt x="1012" y="400"/>
                </a:lnTo>
                <a:lnTo>
                  <a:pt x="1015" y="394"/>
                </a:lnTo>
                <a:lnTo>
                  <a:pt x="1018" y="388"/>
                </a:lnTo>
                <a:lnTo>
                  <a:pt x="1019" y="382"/>
                </a:lnTo>
                <a:lnTo>
                  <a:pt x="1019" y="382"/>
                </a:lnTo>
                <a:lnTo>
                  <a:pt x="1018" y="376"/>
                </a:lnTo>
                <a:lnTo>
                  <a:pt x="1018" y="376"/>
                </a:lnTo>
                <a:close/>
                <a:moveTo>
                  <a:pt x="691" y="63"/>
                </a:moveTo>
                <a:lnTo>
                  <a:pt x="625" y="350"/>
                </a:lnTo>
                <a:lnTo>
                  <a:pt x="393" y="350"/>
                </a:lnTo>
                <a:lnTo>
                  <a:pt x="327" y="63"/>
                </a:lnTo>
                <a:lnTo>
                  <a:pt x="691" y="63"/>
                </a:lnTo>
                <a:close/>
                <a:moveTo>
                  <a:pt x="271" y="106"/>
                </a:moveTo>
                <a:lnTo>
                  <a:pt x="328" y="350"/>
                </a:lnTo>
                <a:lnTo>
                  <a:pt x="94" y="350"/>
                </a:lnTo>
                <a:lnTo>
                  <a:pt x="271" y="106"/>
                </a:lnTo>
                <a:close/>
                <a:moveTo>
                  <a:pt x="97" y="413"/>
                </a:moveTo>
                <a:lnTo>
                  <a:pt x="343" y="413"/>
                </a:lnTo>
                <a:lnTo>
                  <a:pt x="446" y="854"/>
                </a:lnTo>
                <a:lnTo>
                  <a:pt x="97" y="413"/>
                </a:lnTo>
                <a:close/>
                <a:moveTo>
                  <a:pt x="509" y="845"/>
                </a:moveTo>
                <a:lnTo>
                  <a:pt x="408" y="413"/>
                </a:lnTo>
                <a:lnTo>
                  <a:pt x="610" y="413"/>
                </a:lnTo>
                <a:lnTo>
                  <a:pt x="509" y="845"/>
                </a:lnTo>
                <a:close/>
                <a:moveTo>
                  <a:pt x="572" y="854"/>
                </a:moveTo>
                <a:lnTo>
                  <a:pt x="675" y="413"/>
                </a:lnTo>
                <a:lnTo>
                  <a:pt x="920" y="413"/>
                </a:lnTo>
                <a:lnTo>
                  <a:pt x="572" y="854"/>
                </a:lnTo>
                <a:close/>
                <a:moveTo>
                  <a:pt x="689" y="350"/>
                </a:moveTo>
                <a:lnTo>
                  <a:pt x="746" y="106"/>
                </a:lnTo>
                <a:lnTo>
                  <a:pt x="923" y="350"/>
                </a:lnTo>
                <a:lnTo>
                  <a:pt x="689" y="350"/>
                </a:lnTo>
                <a:close/>
              </a:path>
            </a:pathLst>
          </a:custGeom>
          <a:solidFill>
            <a:schemeClr val="bg1"/>
          </a:solidFill>
          <a:ln>
            <a:noFill/>
          </a:ln>
        </p:spPr>
        <p:txBody>
          <a:bodyPr vert="horz" wrap="square" lIns="91440" tIns="45720" rIns="91440" bIns="45720" numCol="1" anchor="t" anchorCtr="0" compatLnSpc="1"/>
          <a:lstStyle/>
          <a:p>
            <a:endParaRPr lang="zh-CN" altLang="en-US" dirty="0">
              <a:solidFill>
                <a:schemeClr val="bg1"/>
              </a:solidFill>
              <a:latin typeface="Arial"/>
              <a:ea typeface="阿里巴巴普惠体 Medium"/>
              <a:cs typeface="阿里巴巴普惠体 Medium"/>
              <a:sym typeface="Arial"/>
            </a:endParaRPr>
          </a:p>
        </p:txBody>
      </p:sp>
      <p:pic>
        <p:nvPicPr>
          <p:cNvPr id="4" name="图片 3">
            <a:extLst>
              <a:ext uri="{FF2B5EF4-FFF2-40B4-BE49-F238E27FC236}">
                <a16:creationId xmlns:a16="http://schemas.microsoft.com/office/drawing/2014/main" id="{FBF416C6-C93C-48F1-6307-B26F9B86EC3A}"/>
              </a:ext>
            </a:extLst>
          </p:cNvPr>
          <p:cNvPicPr>
            <a:picLocks noChangeAspect="1"/>
          </p:cNvPicPr>
          <p:nvPr/>
        </p:nvPicPr>
        <p:blipFill>
          <a:blip r:embed="rId3"/>
          <a:stretch>
            <a:fillRect/>
          </a:stretch>
        </p:blipFill>
        <p:spPr>
          <a:xfrm>
            <a:off x="0" y="-1"/>
            <a:ext cx="1835425" cy="46361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0">
        <p14:ripp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1000"/>
                                        <p:tgtEl>
                                          <p:spTgt spid="26"/>
                                        </p:tgtEl>
                                      </p:cBhvr>
                                    </p:animEffect>
                                    <p:anim calcmode="lin" valueType="num">
                                      <p:cBhvr>
                                        <p:cTn id="12" dur="1000" fill="hold"/>
                                        <p:tgtEl>
                                          <p:spTgt spid="26"/>
                                        </p:tgtEl>
                                        <p:attrNameLst>
                                          <p:attrName>ppt_x</p:attrName>
                                        </p:attrNameLst>
                                      </p:cBhvr>
                                      <p:tavLst>
                                        <p:tav tm="0">
                                          <p:val>
                                            <p:strVal val="#ppt_x"/>
                                          </p:val>
                                        </p:tav>
                                        <p:tav tm="100000">
                                          <p:val>
                                            <p:strVal val="#ppt_x"/>
                                          </p:val>
                                        </p:tav>
                                      </p:tavLst>
                                    </p:anim>
                                    <p:anim calcmode="lin" valueType="num">
                                      <p:cBhvr>
                                        <p:cTn id="1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933164" y="442064"/>
            <a:ext cx="2325672" cy="1200329"/>
          </a:xfrm>
          <a:prstGeom prst="rect">
            <a:avLst/>
          </a:prstGeom>
          <a:noFill/>
        </p:spPr>
        <p:txBody>
          <a:bodyPr wrap="square" rtlCol="0">
            <a:spAutoFit/>
          </a:bodyPr>
          <a:lstStyle/>
          <a:p>
            <a:pPr algn="ctr"/>
            <a:r>
              <a:rPr lang="zh-CN" altLang="en-US" sz="3600" dirty="0">
                <a:solidFill>
                  <a:schemeClr val="bg1"/>
                </a:solidFill>
                <a:latin typeface="Arial"/>
                <a:ea typeface="阿里巴巴普惠体 Medium"/>
                <a:cs typeface="阿里巴巴普惠体 Medium"/>
                <a:sym typeface="Arial"/>
              </a:rPr>
              <a:t>语法分析核心函数</a:t>
            </a:r>
          </a:p>
        </p:txBody>
      </p:sp>
      <p:sp>
        <p:nvSpPr>
          <p:cNvPr id="4" name="平行四边形 3"/>
          <p:cNvSpPr/>
          <p:nvPr/>
        </p:nvSpPr>
        <p:spPr>
          <a:xfrm flipH="1">
            <a:off x="418032" y="1547447"/>
            <a:ext cx="5806923" cy="5310555"/>
          </a:xfrm>
          <a:prstGeom prst="parallelogram">
            <a:avLst>
              <a:gd name="adj" fmla="val 23047"/>
            </a:avLst>
          </a:prstGeom>
          <a:solidFill>
            <a:srgbClr val="FBF1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grpSp>
        <p:nvGrpSpPr>
          <p:cNvPr id="6" name="组合 5"/>
          <p:cNvGrpSpPr/>
          <p:nvPr/>
        </p:nvGrpSpPr>
        <p:grpSpPr>
          <a:xfrm>
            <a:off x="7214254" y="1982456"/>
            <a:ext cx="3885593" cy="794251"/>
            <a:chOff x="3406158" y="4280485"/>
            <a:chExt cx="5050152" cy="794251"/>
          </a:xfrm>
        </p:grpSpPr>
        <p:sp>
          <p:nvSpPr>
            <p:cNvPr id="7" name="文本框 6"/>
            <p:cNvSpPr txBox="1"/>
            <p:nvPr/>
          </p:nvSpPr>
          <p:spPr>
            <a:xfrm>
              <a:off x="3406158" y="4699184"/>
              <a:ext cx="5050152" cy="375552"/>
            </a:xfrm>
            <a:prstGeom prst="rect">
              <a:avLst/>
            </a:prstGeom>
            <a:noFill/>
          </p:spPr>
          <p:txBody>
            <a:bodyPr wrap="square" rtlCol="0">
              <a:spAutoFit/>
            </a:bodyPr>
            <a:lstStyle/>
            <a:p>
              <a:pPr>
                <a:lnSpc>
                  <a:spcPct val="150000"/>
                </a:lnSpc>
              </a:pPr>
              <a:r>
                <a:rPr lang="zh-CN" altLang="en-US" sz="1400" dirty="0">
                  <a:solidFill>
                    <a:schemeClr val="bg1"/>
                  </a:solidFill>
                  <a:latin typeface="Arial"/>
                  <a:ea typeface="阿里巴巴普惠体 Medium"/>
                  <a:cs typeface="阿里巴巴普惠体 Medium"/>
                  <a:sym typeface="Arial"/>
                </a:rPr>
                <a:t>对合法模式（</a:t>
              </a:r>
              <a:r>
                <a:rPr lang="en-US" altLang="zh-CN" sz="1400" dirty="0">
                  <a:solidFill>
                    <a:schemeClr val="bg1"/>
                  </a:solidFill>
                  <a:latin typeface="Arial"/>
                  <a:ea typeface="阿里巴巴普惠体 Medium"/>
                  <a:cs typeface="阿里巴巴普惠体 Medium"/>
                  <a:sym typeface="Arial"/>
                </a:rPr>
                <a:t>token</a:t>
              </a:r>
              <a:r>
                <a:rPr lang="zh-CN" altLang="en-US" sz="1400" dirty="0">
                  <a:solidFill>
                    <a:schemeClr val="bg1"/>
                  </a:solidFill>
                  <a:latin typeface="Arial"/>
                  <a:ea typeface="阿里巴巴普惠体 Medium"/>
                  <a:cs typeface="阿里巴巴普惠体 Medium"/>
                  <a:sym typeface="Arial"/>
                </a:rPr>
                <a:t>）进行语法分析</a:t>
              </a:r>
            </a:p>
          </p:txBody>
        </p:sp>
        <p:sp>
          <p:nvSpPr>
            <p:cNvPr id="8" name="文本框 7"/>
            <p:cNvSpPr txBox="1"/>
            <p:nvPr/>
          </p:nvSpPr>
          <p:spPr>
            <a:xfrm>
              <a:off x="3406161" y="4280485"/>
              <a:ext cx="2544299" cy="369332"/>
            </a:xfrm>
            <a:prstGeom prst="rect">
              <a:avLst/>
            </a:prstGeom>
            <a:noFill/>
          </p:spPr>
          <p:txBody>
            <a:bodyPr wrap="none" rtlCol="0">
              <a:spAutoFit/>
            </a:bodyPr>
            <a:lstStyle/>
            <a:p>
              <a:r>
                <a:rPr lang="en-US" altLang="zh-CN" sz="1800" b="1" dirty="0">
                  <a:solidFill>
                    <a:srgbClr val="0033B3"/>
                  </a:solidFill>
                  <a:effectLst/>
                  <a:latin typeface="Consolas" panose="020B0609020204030204" pitchFamily="49" charset="0"/>
                </a:rPr>
                <a:t>void</a:t>
              </a:r>
              <a:r>
                <a:rPr lang="en-US" altLang="zh-CN" sz="1800" dirty="0">
                  <a:solidFill>
                    <a:srgbClr val="BABABA"/>
                  </a:solidFill>
                  <a:effectLst/>
                  <a:latin typeface="Consolas" panose="020B0609020204030204" pitchFamily="49" charset="0"/>
                </a:rPr>
                <a:t> </a:t>
              </a:r>
              <a:r>
                <a:rPr lang="en-US" altLang="zh-CN" sz="1800" dirty="0">
                  <a:solidFill>
                    <a:srgbClr val="00627A"/>
                  </a:solidFill>
                  <a:effectLst/>
                  <a:latin typeface="Consolas" panose="020B0609020204030204" pitchFamily="49" charset="0"/>
                </a:rPr>
                <a:t>Parsing</a:t>
              </a:r>
              <a:r>
                <a:rPr lang="en-US" altLang="zh-CN" sz="1800" b="1" dirty="0">
                  <a:solidFill>
                    <a:srgbClr val="C10000"/>
                  </a:solidFill>
                  <a:effectLst/>
                  <a:latin typeface="Consolas" panose="020B0609020204030204" pitchFamily="49" charset="0"/>
                </a:rPr>
                <a:t>()</a:t>
              </a:r>
              <a:endParaRPr lang="en-US" altLang="zh-CN" sz="1800" dirty="0">
                <a:solidFill>
                  <a:srgbClr val="000000"/>
                </a:solidFill>
                <a:effectLst/>
                <a:latin typeface="Consolas" panose="020B0609020204030204" pitchFamily="49" charset="0"/>
              </a:endParaRPr>
            </a:p>
          </p:txBody>
        </p:sp>
      </p:grpSp>
      <p:grpSp>
        <p:nvGrpSpPr>
          <p:cNvPr id="9" name="组合 8"/>
          <p:cNvGrpSpPr/>
          <p:nvPr/>
        </p:nvGrpSpPr>
        <p:grpSpPr>
          <a:xfrm>
            <a:off x="7731697" y="4017851"/>
            <a:ext cx="3885593" cy="794251"/>
            <a:chOff x="3406158" y="4280485"/>
            <a:chExt cx="5050152" cy="794251"/>
          </a:xfrm>
        </p:grpSpPr>
        <p:sp>
          <p:nvSpPr>
            <p:cNvPr id="10" name="文本框 9"/>
            <p:cNvSpPr txBox="1"/>
            <p:nvPr/>
          </p:nvSpPr>
          <p:spPr>
            <a:xfrm>
              <a:off x="3406158" y="4699184"/>
              <a:ext cx="5050152" cy="375552"/>
            </a:xfrm>
            <a:prstGeom prst="rect">
              <a:avLst/>
            </a:prstGeom>
            <a:noFill/>
          </p:spPr>
          <p:txBody>
            <a:bodyPr wrap="square" rtlCol="0">
              <a:spAutoFit/>
            </a:bodyPr>
            <a:lstStyle/>
            <a:p>
              <a:pPr>
                <a:lnSpc>
                  <a:spcPct val="150000"/>
                </a:lnSpc>
              </a:pPr>
              <a:r>
                <a:rPr lang="zh-CN" altLang="en-US" sz="1400" dirty="0">
                  <a:solidFill>
                    <a:schemeClr val="bg1"/>
                  </a:solidFill>
                  <a:latin typeface="Arial"/>
                  <a:ea typeface="阿里巴巴普惠体 Medium"/>
                  <a:cs typeface="阿里巴巴普惠体 Medium"/>
                  <a:sym typeface="Arial"/>
                </a:rPr>
                <a:t>返回模式（</a:t>
              </a:r>
              <a:r>
                <a:rPr lang="en-US" altLang="zh-CN" sz="1400" dirty="0">
                  <a:solidFill>
                    <a:schemeClr val="bg1"/>
                  </a:solidFill>
                  <a:latin typeface="Arial"/>
                  <a:ea typeface="阿里巴巴普惠体 Medium"/>
                  <a:cs typeface="阿里巴巴普惠体 Medium"/>
                  <a:sym typeface="Arial"/>
                </a:rPr>
                <a:t>token</a:t>
              </a:r>
              <a:r>
                <a:rPr lang="zh-CN" altLang="en-US" sz="1400" dirty="0">
                  <a:solidFill>
                    <a:schemeClr val="bg1"/>
                  </a:solidFill>
                  <a:latin typeface="Arial"/>
                  <a:ea typeface="阿里巴巴普惠体 Medium"/>
                  <a:cs typeface="阿里巴巴普惠体 Medium"/>
                  <a:sym typeface="Arial"/>
                </a:rPr>
                <a:t>）</a:t>
              </a:r>
            </a:p>
          </p:txBody>
        </p:sp>
        <p:sp>
          <p:nvSpPr>
            <p:cNvPr id="11" name="文本框 10"/>
            <p:cNvSpPr txBox="1"/>
            <p:nvPr/>
          </p:nvSpPr>
          <p:spPr>
            <a:xfrm>
              <a:off x="3406161" y="4280485"/>
              <a:ext cx="3696443" cy="369332"/>
            </a:xfrm>
            <a:prstGeom prst="rect">
              <a:avLst/>
            </a:prstGeom>
            <a:noFill/>
          </p:spPr>
          <p:txBody>
            <a:bodyPr wrap="none" rtlCol="0">
              <a:spAutoFit/>
            </a:bodyPr>
            <a:lstStyle/>
            <a:p>
              <a:r>
                <a:rPr lang="en-US" altLang="zh-CN" sz="1800" dirty="0">
                  <a:solidFill>
                    <a:srgbClr val="008080"/>
                  </a:solidFill>
                  <a:effectLst/>
                  <a:latin typeface="Consolas" panose="020B0609020204030204" pitchFamily="49" charset="0"/>
                </a:rPr>
                <a:t>Token</a:t>
              </a:r>
              <a:r>
                <a:rPr lang="en-US" altLang="zh-CN" sz="1800" dirty="0">
                  <a:solidFill>
                    <a:srgbClr val="BABABA"/>
                  </a:solidFill>
                  <a:effectLst/>
                  <a:latin typeface="Consolas" panose="020B0609020204030204" pitchFamily="49" charset="0"/>
                </a:rPr>
                <a:t> </a:t>
              </a:r>
              <a:r>
                <a:rPr lang="en-US" altLang="zh-CN" sz="1800" dirty="0" err="1">
                  <a:solidFill>
                    <a:srgbClr val="00627A"/>
                  </a:solidFill>
                  <a:effectLst/>
                  <a:latin typeface="Consolas" panose="020B0609020204030204" pitchFamily="49" charset="0"/>
                </a:rPr>
                <a:t>GetNextToken</a:t>
              </a:r>
              <a:r>
                <a:rPr lang="en-US" altLang="zh-CN" sz="1800" b="1" dirty="0">
                  <a:solidFill>
                    <a:srgbClr val="C10000"/>
                  </a:solidFill>
                  <a:effectLst/>
                  <a:latin typeface="Consolas" panose="020B0609020204030204" pitchFamily="49" charset="0"/>
                </a:rPr>
                <a:t>();</a:t>
              </a:r>
              <a:endParaRPr lang="en-US" altLang="zh-CN" sz="1800" dirty="0">
                <a:solidFill>
                  <a:srgbClr val="000000"/>
                </a:solidFill>
                <a:effectLst/>
                <a:latin typeface="Consolas" panose="020B0609020204030204" pitchFamily="49" charset="0"/>
              </a:endParaRPr>
            </a:p>
          </p:txBody>
        </p:sp>
      </p:grpSp>
      <p:pic>
        <p:nvPicPr>
          <p:cNvPr id="12" name="图片 11">
            <a:extLst>
              <a:ext uri="{FF2B5EF4-FFF2-40B4-BE49-F238E27FC236}">
                <a16:creationId xmlns:a16="http://schemas.microsoft.com/office/drawing/2014/main" id="{FFDD754B-5D1A-0E74-E234-7FCCE97D3E8D}"/>
              </a:ext>
            </a:extLst>
          </p:cNvPr>
          <p:cNvPicPr>
            <a:picLocks noChangeAspect="1"/>
          </p:cNvPicPr>
          <p:nvPr/>
        </p:nvPicPr>
        <p:blipFill>
          <a:blip r:embed="rId2"/>
          <a:stretch>
            <a:fillRect/>
          </a:stretch>
        </p:blipFill>
        <p:spPr>
          <a:xfrm>
            <a:off x="1616253" y="1874616"/>
            <a:ext cx="4902452" cy="4286470"/>
          </a:xfrm>
          <a:prstGeom prst="rect">
            <a:avLst/>
          </a:prstGeom>
        </p:spPr>
      </p:pic>
    </p:spTree>
  </p:cSld>
  <p:clrMapOvr>
    <a:masterClrMapping/>
  </p:clrMapOvr>
  <p:transition spd="slow" advTm="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8F09E8C2-AD93-FDBF-8A8F-E6C61B0D5F6C}"/>
              </a:ext>
            </a:extLst>
          </p:cNvPr>
          <p:cNvPicPr>
            <a:picLocks noChangeAspect="1"/>
          </p:cNvPicPr>
          <p:nvPr/>
        </p:nvPicPr>
        <p:blipFill>
          <a:blip r:embed="rId2"/>
          <a:stretch>
            <a:fillRect/>
          </a:stretch>
        </p:blipFill>
        <p:spPr>
          <a:xfrm>
            <a:off x="5865460" y="3845926"/>
            <a:ext cx="3276768" cy="901746"/>
          </a:xfrm>
          <a:prstGeom prst="rect">
            <a:avLst/>
          </a:prstGeom>
        </p:spPr>
      </p:pic>
      <p:pic>
        <p:nvPicPr>
          <p:cNvPr id="20" name="图片 19">
            <a:extLst>
              <a:ext uri="{FF2B5EF4-FFF2-40B4-BE49-F238E27FC236}">
                <a16:creationId xmlns:a16="http://schemas.microsoft.com/office/drawing/2014/main" id="{D8A60102-4651-249B-0A25-806F0DB165B5}"/>
              </a:ext>
            </a:extLst>
          </p:cNvPr>
          <p:cNvPicPr>
            <a:picLocks noChangeAspect="1"/>
          </p:cNvPicPr>
          <p:nvPr/>
        </p:nvPicPr>
        <p:blipFill>
          <a:blip r:embed="rId3"/>
          <a:stretch>
            <a:fillRect/>
          </a:stretch>
        </p:blipFill>
        <p:spPr>
          <a:xfrm>
            <a:off x="267840" y="4179040"/>
            <a:ext cx="4229317" cy="520727"/>
          </a:xfrm>
          <a:prstGeom prst="rect">
            <a:avLst/>
          </a:prstGeom>
        </p:spPr>
      </p:pic>
      <p:pic>
        <p:nvPicPr>
          <p:cNvPr id="18" name="图片 17">
            <a:extLst>
              <a:ext uri="{FF2B5EF4-FFF2-40B4-BE49-F238E27FC236}">
                <a16:creationId xmlns:a16="http://schemas.microsoft.com/office/drawing/2014/main" id="{F1121392-A7D1-E9FE-51EA-4CEC0B38B539}"/>
              </a:ext>
            </a:extLst>
          </p:cNvPr>
          <p:cNvPicPr>
            <a:picLocks noChangeAspect="1"/>
          </p:cNvPicPr>
          <p:nvPr/>
        </p:nvPicPr>
        <p:blipFill>
          <a:blip r:embed="rId4"/>
          <a:stretch>
            <a:fillRect/>
          </a:stretch>
        </p:blipFill>
        <p:spPr>
          <a:xfrm>
            <a:off x="8191588" y="928136"/>
            <a:ext cx="3300883" cy="1358881"/>
          </a:xfrm>
          <a:prstGeom prst="rect">
            <a:avLst/>
          </a:prstGeom>
        </p:spPr>
      </p:pic>
      <p:pic>
        <p:nvPicPr>
          <p:cNvPr id="16" name="图片 15">
            <a:extLst>
              <a:ext uri="{FF2B5EF4-FFF2-40B4-BE49-F238E27FC236}">
                <a16:creationId xmlns:a16="http://schemas.microsoft.com/office/drawing/2014/main" id="{4FC93761-F950-8A75-8751-65234306BF15}"/>
              </a:ext>
            </a:extLst>
          </p:cNvPr>
          <p:cNvPicPr>
            <a:picLocks noChangeAspect="1"/>
          </p:cNvPicPr>
          <p:nvPr/>
        </p:nvPicPr>
        <p:blipFill>
          <a:blip r:embed="rId5"/>
          <a:stretch>
            <a:fillRect/>
          </a:stretch>
        </p:blipFill>
        <p:spPr>
          <a:xfrm>
            <a:off x="238862" y="1235429"/>
            <a:ext cx="2435735" cy="2657874"/>
          </a:xfrm>
          <a:prstGeom prst="rect">
            <a:avLst/>
          </a:prstGeom>
        </p:spPr>
      </p:pic>
      <p:sp>
        <p:nvSpPr>
          <p:cNvPr id="2" name="文本框 1"/>
          <p:cNvSpPr txBox="1"/>
          <p:nvPr/>
        </p:nvSpPr>
        <p:spPr>
          <a:xfrm>
            <a:off x="4181061" y="442064"/>
            <a:ext cx="3829878" cy="1446550"/>
          </a:xfrm>
          <a:prstGeom prst="rect">
            <a:avLst/>
          </a:prstGeom>
          <a:noFill/>
        </p:spPr>
        <p:txBody>
          <a:bodyPr wrap="square" rtlCol="0">
            <a:spAutoFit/>
          </a:bodyPr>
          <a:lstStyle/>
          <a:p>
            <a:pPr algn="ctr"/>
            <a:r>
              <a:rPr lang="zh-CN" altLang="en-US" sz="4400" dirty="0">
                <a:solidFill>
                  <a:schemeClr val="bg1"/>
                </a:solidFill>
                <a:latin typeface="Arial"/>
                <a:ea typeface="阿里巴巴普惠体 Medium"/>
                <a:cs typeface="阿里巴巴普惠体 Medium"/>
                <a:sym typeface="Arial"/>
              </a:rPr>
              <a:t>装载运行阶段核心函数</a:t>
            </a:r>
          </a:p>
        </p:txBody>
      </p:sp>
      <p:sp>
        <p:nvSpPr>
          <p:cNvPr id="3" name="任意多边形 73"/>
          <p:cNvSpPr/>
          <p:nvPr/>
        </p:nvSpPr>
        <p:spPr>
          <a:xfrm>
            <a:off x="6419775" y="1704941"/>
            <a:ext cx="1479028" cy="1492534"/>
          </a:xfrm>
          <a:custGeom>
            <a:avLst/>
            <a:gdLst/>
            <a:ahLst/>
            <a:cxnLst/>
            <a:rect l="l" t="t" r="r" b="b"/>
            <a:pathLst>
              <a:path w="1742428" h="1758341">
                <a:moveTo>
                  <a:pt x="86051" y="43"/>
                </a:moveTo>
                <a:cubicBezTo>
                  <a:pt x="102184" y="540"/>
                  <a:pt x="117245" y="5418"/>
                  <a:pt x="131232" y="14677"/>
                </a:cubicBezTo>
                <a:cubicBezTo>
                  <a:pt x="149882" y="27022"/>
                  <a:pt x="161538" y="43658"/>
                  <a:pt x="166201" y="64586"/>
                </a:cubicBezTo>
                <a:cubicBezTo>
                  <a:pt x="209011" y="293207"/>
                  <a:pt x="251185" y="517536"/>
                  <a:pt x="292724" y="737574"/>
                </a:cubicBezTo>
                <a:cubicBezTo>
                  <a:pt x="334262" y="957612"/>
                  <a:pt x="377708" y="1182577"/>
                  <a:pt x="423061" y="1412469"/>
                </a:cubicBezTo>
                <a:cubicBezTo>
                  <a:pt x="480495" y="1268727"/>
                  <a:pt x="538564" y="1125143"/>
                  <a:pt x="597269" y="981719"/>
                </a:cubicBezTo>
                <a:cubicBezTo>
                  <a:pt x="655974" y="838294"/>
                  <a:pt x="714043" y="695347"/>
                  <a:pt x="771476" y="552876"/>
                </a:cubicBezTo>
                <a:cubicBezTo>
                  <a:pt x="781914" y="531206"/>
                  <a:pt x="795372" y="514781"/>
                  <a:pt x="811849" y="503602"/>
                </a:cubicBezTo>
                <a:cubicBezTo>
                  <a:pt x="828327" y="492423"/>
                  <a:pt x="846235" y="486807"/>
                  <a:pt x="865574" y="486753"/>
                </a:cubicBezTo>
                <a:cubicBezTo>
                  <a:pt x="882740" y="487124"/>
                  <a:pt x="899907" y="493376"/>
                  <a:pt x="917073" y="505509"/>
                </a:cubicBezTo>
                <a:cubicBezTo>
                  <a:pt x="934240" y="517642"/>
                  <a:pt x="947591" y="533431"/>
                  <a:pt x="957128" y="552876"/>
                </a:cubicBezTo>
                <a:lnTo>
                  <a:pt x="1313173" y="1415012"/>
                </a:lnTo>
                <a:lnTo>
                  <a:pt x="1577663" y="72216"/>
                </a:lnTo>
                <a:cubicBezTo>
                  <a:pt x="1583226" y="50175"/>
                  <a:pt x="1594988" y="33221"/>
                  <a:pt x="1612950" y="21352"/>
                </a:cubicBezTo>
                <a:cubicBezTo>
                  <a:pt x="1630911" y="9484"/>
                  <a:pt x="1652210" y="5246"/>
                  <a:pt x="1676847" y="8637"/>
                </a:cubicBezTo>
                <a:cubicBezTo>
                  <a:pt x="1688450" y="9855"/>
                  <a:pt x="1698940" y="13140"/>
                  <a:pt x="1708318" y="18491"/>
                </a:cubicBezTo>
                <a:cubicBezTo>
                  <a:pt x="1717696" y="23843"/>
                  <a:pt x="1725008" y="31578"/>
                  <a:pt x="1730254" y="41698"/>
                </a:cubicBezTo>
                <a:cubicBezTo>
                  <a:pt x="1735446" y="50705"/>
                  <a:pt x="1739048" y="60666"/>
                  <a:pt x="1741062" y="71580"/>
                </a:cubicBezTo>
                <a:cubicBezTo>
                  <a:pt x="1743075" y="82495"/>
                  <a:pt x="1742863" y="93727"/>
                  <a:pt x="1740426" y="105277"/>
                </a:cubicBezTo>
                <a:lnTo>
                  <a:pt x="1430159" y="1671873"/>
                </a:lnTo>
                <a:cubicBezTo>
                  <a:pt x="1423271" y="1701067"/>
                  <a:pt x="1411615" y="1722790"/>
                  <a:pt x="1395190" y="1737042"/>
                </a:cubicBezTo>
                <a:cubicBezTo>
                  <a:pt x="1378765" y="1751294"/>
                  <a:pt x="1360751" y="1758394"/>
                  <a:pt x="1341148" y="1758341"/>
                </a:cubicBezTo>
                <a:cubicBezTo>
                  <a:pt x="1324087" y="1757705"/>
                  <a:pt x="1307345" y="1750711"/>
                  <a:pt x="1290920" y="1737360"/>
                </a:cubicBezTo>
                <a:cubicBezTo>
                  <a:pt x="1274495" y="1724008"/>
                  <a:pt x="1261567" y="1708113"/>
                  <a:pt x="1252137" y="1689675"/>
                </a:cubicBezTo>
                <a:cubicBezTo>
                  <a:pt x="1187392" y="1532687"/>
                  <a:pt x="1122964" y="1378083"/>
                  <a:pt x="1058855" y="1225864"/>
                </a:cubicBezTo>
                <a:cubicBezTo>
                  <a:pt x="994746" y="1073644"/>
                  <a:pt x="930319" y="919676"/>
                  <a:pt x="865574" y="763959"/>
                </a:cubicBezTo>
                <a:lnTo>
                  <a:pt x="481554" y="1689675"/>
                </a:lnTo>
                <a:lnTo>
                  <a:pt x="484097" y="1687132"/>
                </a:lnTo>
                <a:cubicBezTo>
                  <a:pt x="473713" y="1710021"/>
                  <a:pt x="460785" y="1727187"/>
                  <a:pt x="445314" y="1738631"/>
                </a:cubicBezTo>
                <a:cubicBezTo>
                  <a:pt x="429843" y="1750076"/>
                  <a:pt x="413101" y="1755798"/>
                  <a:pt x="395087" y="1755798"/>
                </a:cubicBezTo>
                <a:cubicBezTo>
                  <a:pt x="374264" y="1755586"/>
                  <a:pt x="355508" y="1748380"/>
                  <a:pt x="338819" y="1734181"/>
                </a:cubicBezTo>
                <a:cubicBezTo>
                  <a:pt x="322129" y="1719981"/>
                  <a:pt x="310367" y="1700060"/>
                  <a:pt x="303532" y="1674416"/>
                </a:cubicBezTo>
                <a:lnTo>
                  <a:pt x="894" y="95105"/>
                </a:lnTo>
                <a:cubicBezTo>
                  <a:pt x="-483" y="83660"/>
                  <a:pt x="-271" y="72852"/>
                  <a:pt x="1530" y="62679"/>
                </a:cubicBezTo>
                <a:cubicBezTo>
                  <a:pt x="3332" y="52506"/>
                  <a:pt x="7358" y="42969"/>
                  <a:pt x="13610" y="34068"/>
                </a:cubicBezTo>
                <a:cubicBezTo>
                  <a:pt x="20233" y="26174"/>
                  <a:pt x="28605" y="19074"/>
                  <a:pt x="38724" y="12769"/>
                </a:cubicBezTo>
                <a:cubicBezTo>
                  <a:pt x="48844" y="6464"/>
                  <a:pt x="59123" y="2544"/>
                  <a:pt x="69560" y="1007"/>
                </a:cubicBezTo>
                <a:cubicBezTo>
                  <a:pt x="75176" y="199"/>
                  <a:pt x="80673" y="-122"/>
                  <a:pt x="86051" y="43"/>
                </a:cubicBezTo>
                <a:close/>
              </a:path>
            </a:pathLst>
          </a:custGeom>
          <a:noFill/>
          <a:ln w="19050">
            <a:solidFill>
              <a:srgbClr val="FBF1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4" name="任意多边形 74"/>
          <p:cNvSpPr/>
          <p:nvPr/>
        </p:nvSpPr>
        <p:spPr>
          <a:xfrm>
            <a:off x="1285867" y="4403707"/>
            <a:ext cx="1096632" cy="1529706"/>
          </a:xfrm>
          <a:custGeom>
            <a:avLst/>
            <a:gdLst/>
            <a:ahLst/>
            <a:cxnLst/>
            <a:rect l="l" t="t" r="r" b="b"/>
            <a:pathLst>
              <a:path w="1291932" h="1802132">
                <a:moveTo>
                  <a:pt x="641627" y="70"/>
                </a:moveTo>
                <a:cubicBezTo>
                  <a:pt x="657348" y="-134"/>
                  <a:pt x="673206" y="112"/>
                  <a:pt x="689200" y="807"/>
                </a:cubicBezTo>
                <a:cubicBezTo>
                  <a:pt x="814716" y="4675"/>
                  <a:pt x="921635" y="34451"/>
                  <a:pt x="1009958" y="90136"/>
                </a:cubicBezTo>
                <a:cubicBezTo>
                  <a:pt x="1098280" y="145821"/>
                  <a:pt x="1162601" y="227097"/>
                  <a:pt x="1202921" y="333963"/>
                </a:cubicBezTo>
                <a:lnTo>
                  <a:pt x="1202921" y="331420"/>
                </a:lnTo>
                <a:cubicBezTo>
                  <a:pt x="1232220" y="407556"/>
                  <a:pt x="1254368" y="494978"/>
                  <a:pt x="1269362" y="593685"/>
                </a:cubicBezTo>
                <a:cubicBezTo>
                  <a:pt x="1284356" y="692392"/>
                  <a:pt x="1291880" y="795708"/>
                  <a:pt x="1291932" y="903634"/>
                </a:cubicBezTo>
                <a:cubicBezTo>
                  <a:pt x="1291932" y="987983"/>
                  <a:pt x="1286846" y="1071060"/>
                  <a:pt x="1276674" y="1152866"/>
                </a:cubicBezTo>
                <a:cubicBezTo>
                  <a:pt x="1269309" y="1207703"/>
                  <a:pt x="1259877" y="1260791"/>
                  <a:pt x="1248380" y="1312132"/>
                </a:cubicBezTo>
                <a:cubicBezTo>
                  <a:pt x="1236883" y="1363472"/>
                  <a:pt x="1221730" y="1412110"/>
                  <a:pt x="1202921" y="1458047"/>
                </a:cubicBezTo>
                <a:cubicBezTo>
                  <a:pt x="1148879" y="1587430"/>
                  <a:pt x="1066861" y="1678349"/>
                  <a:pt x="956869" y="1730802"/>
                </a:cubicBezTo>
                <a:cubicBezTo>
                  <a:pt x="846876" y="1783255"/>
                  <a:pt x="727983" y="1806779"/>
                  <a:pt x="600189" y="1801375"/>
                </a:cubicBezTo>
                <a:cubicBezTo>
                  <a:pt x="475944" y="1797719"/>
                  <a:pt x="369661" y="1768155"/>
                  <a:pt x="281338" y="1712682"/>
                </a:cubicBezTo>
                <a:cubicBezTo>
                  <a:pt x="193016" y="1657209"/>
                  <a:pt x="128059" y="1574874"/>
                  <a:pt x="86468" y="1465676"/>
                </a:cubicBezTo>
                <a:lnTo>
                  <a:pt x="86468" y="1468219"/>
                </a:lnTo>
                <a:cubicBezTo>
                  <a:pt x="58387" y="1392030"/>
                  <a:pt x="36982" y="1304714"/>
                  <a:pt x="22252" y="1206272"/>
                </a:cubicBezTo>
                <a:cubicBezTo>
                  <a:pt x="7523" y="1107830"/>
                  <a:pt x="105" y="1005255"/>
                  <a:pt x="0" y="898548"/>
                </a:cubicBezTo>
                <a:cubicBezTo>
                  <a:pt x="0" y="811656"/>
                  <a:pt x="5086" y="728579"/>
                  <a:pt x="15259" y="649317"/>
                </a:cubicBezTo>
                <a:cubicBezTo>
                  <a:pt x="22517" y="594374"/>
                  <a:pt x="31525" y="540861"/>
                  <a:pt x="42280" y="488779"/>
                </a:cubicBezTo>
                <a:cubicBezTo>
                  <a:pt x="53035" y="436697"/>
                  <a:pt x="67765" y="387635"/>
                  <a:pt x="86468" y="341593"/>
                </a:cubicBezTo>
                <a:lnTo>
                  <a:pt x="86468" y="344136"/>
                </a:lnTo>
                <a:cubicBezTo>
                  <a:pt x="139398" y="213639"/>
                  <a:pt x="221097" y="122403"/>
                  <a:pt x="331566" y="70427"/>
                </a:cubicBezTo>
                <a:cubicBezTo>
                  <a:pt x="428226" y="24947"/>
                  <a:pt x="531580" y="1495"/>
                  <a:pt x="641627" y="70"/>
                </a:cubicBezTo>
                <a:close/>
                <a:moveTo>
                  <a:pt x="684114" y="166114"/>
                </a:moveTo>
                <a:cubicBezTo>
                  <a:pt x="659583" y="165955"/>
                  <a:pt x="633621" y="166908"/>
                  <a:pt x="606229" y="168975"/>
                </a:cubicBezTo>
                <a:cubicBezTo>
                  <a:pt x="578837" y="171041"/>
                  <a:pt x="552239" y="175174"/>
                  <a:pt x="526437" y="181373"/>
                </a:cubicBezTo>
                <a:cubicBezTo>
                  <a:pt x="464447" y="193824"/>
                  <a:pt x="408497" y="218514"/>
                  <a:pt x="358587" y="255443"/>
                </a:cubicBezTo>
                <a:cubicBezTo>
                  <a:pt x="308677" y="292372"/>
                  <a:pt x="270530" y="343129"/>
                  <a:pt x="244144" y="407715"/>
                </a:cubicBezTo>
                <a:cubicBezTo>
                  <a:pt x="228938" y="445227"/>
                  <a:pt x="216117" y="486554"/>
                  <a:pt x="205679" y="531695"/>
                </a:cubicBezTo>
                <a:cubicBezTo>
                  <a:pt x="195241" y="576836"/>
                  <a:pt x="186870" y="621978"/>
                  <a:pt x="180565" y="667119"/>
                </a:cubicBezTo>
                <a:cubicBezTo>
                  <a:pt x="175585" y="704419"/>
                  <a:pt x="172194" y="742990"/>
                  <a:pt x="170392" y="782833"/>
                </a:cubicBezTo>
                <a:cubicBezTo>
                  <a:pt x="168591" y="822677"/>
                  <a:pt x="167744" y="861248"/>
                  <a:pt x="167849" y="898548"/>
                </a:cubicBezTo>
                <a:cubicBezTo>
                  <a:pt x="167796" y="993758"/>
                  <a:pt x="174260" y="1085630"/>
                  <a:pt x="187241" y="1174165"/>
                </a:cubicBezTo>
                <a:cubicBezTo>
                  <a:pt x="200222" y="1262699"/>
                  <a:pt x="220037" y="1341219"/>
                  <a:pt x="246688" y="1409726"/>
                </a:cubicBezTo>
                <a:cubicBezTo>
                  <a:pt x="254211" y="1428747"/>
                  <a:pt x="262688" y="1446655"/>
                  <a:pt x="272119" y="1463451"/>
                </a:cubicBezTo>
                <a:cubicBezTo>
                  <a:pt x="281550" y="1480246"/>
                  <a:pt x="292571" y="1496247"/>
                  <a:pt x="305180" y="1511453"/>
                </a:cubicBezTo>
                <a:cubicBezTo>
                  <a:pt x="339620" y="1549601"/>
                  <a:pt x="382005" y="1578847"/>
                  <a:pt x="432339" y="1599193"/>
                </a:cubicBezTo>
                <a:cubicBezTo>
                  <a:pt x="482673" y="1619538"/>
                  <a:pt x="540318" y="1630982"/>
                  <a:pt x="605275" y="1633526"/>
                </a:cubicBezTo>
                <a:cubicBezTo>
                  <a:pt x="630759" y="1633685"/>
                  <a:pt x="656722" y="1632731"/>
                  <a:pt x="683160" y="1630664"/>
                </a:cubicBezTo>
                <a:cubicBezTo>
                  <a:pt x="709598" y="1628598"/>
                  <a:pt x="736196" y="1624465"/>
                  <a:pt x="762952" y="1618267"/>
                </a:cubicBezTo>
                <a:cubicBezTo>
                  <a:pt x="824942" y="1606027"/>
                  <a:pt x="880892" y="1582185"/>
                  <a:pt x="930802" y="1546740"/>
                </a:cubicBezTo>
                <a:cubicBezTo>
                  <a:pt x="980711" y="1511294"/>
                  <a:pt x="1018859" y="1461384"/>
                  <a:pt x="1045245" y="1397010"/>
                </a:cubicBezTo>
                <a:cubicBezTo>
                  <a:pt x="1060451" y="1355790"/>
                  <a:pt x="1073272" y="1312344"/>
                  <a:pt x="1083710" y="1266673"/>
                </a:cubicBezTo>
                <a:cubicBezTo>
                  <a:pt x="1094147" y="1221001"/>
                  <a:pt x="1102518" y="1176284"/>
                  <a:pt x="1108824" y="1132520"/>
                </a:cubicBezTo>
                <a:cubicBezTo>
                  <a:pt x="1113910" y="1095167"/>
                  <a:pt x="1117725" y="1056702"/>
                  <a:pt x="1120268" y="1017124"/>
                </a:cubicBezTo>
                <a:cubicBezTo>
                  <a:pt x="1122811" y="977545"/>
                  <a:pt x="1124083" y="939716"/>
                  <a:pt x="1124083" y="903634"/>
                </a:cubicBezTo>
                <a:cubicBezTo>
                  <a:pt x="1123976" y="808530"/>
                  <a:pt x="1117195" y="717082"/>
                  <a:pt x="1103738" y="629289"/>
                </a:cubicBezTo>
                <a:cubicBezTo>
                  <a:pt x="1090280" y="541497"/>
                  <a:pt x="1070782" y="463400"/>
                  <a:pt x="1045245" y="394999"/>
                </a:cubicBezTo>
                <a:cubicBezTo>
                  <a:pt x="1037615" y="373223"/>
                  <a:pt x="1028714" y="353196"/>
                  <a:pt x="1018541" y="334917"/>
                </a:cubicBezTo>
                <a:cubicBezTo>
                  <a:pt x="1008368" y="316638"/>
                  <a:pt x="996924" y="301061"/>
                  <a:pt x="984208" y="288186"/>
                </a:cubicBezTo>
                <a:cubicBezTo>
                  <a:pt x="950882" y="250038"/>
                  <a:pt x="908814" y="220792"/>
                  <a:pt x="858003" y="200446"/>
                </a:cubicBezTo>
                <a:cubicBezTo>
                  <a:pt x="807192" y="180101"/>
                  <a:pt x="749230" y="168657"/>
                  <a:pt x="684114" y="166114"/>
                </a:cubicBezTo>
                <a:close/>
              </a:path>
            </a:pathLst>
          </a:custGeom>
          <a:solidFill>
            <a:srgbClr val="CB6E7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5" name="任意多边形 75"/>
          <p:cNvSpPr/>
          <p:nvPr/>
        </p:nvSpPr>
        <p:spPr>
          <a:xfrm>
            <a:off x="6610972" y="4420561"/>
            <a:ext cx="1096632" cy="1495998"/>
          </a:xfrm>
          <a:custGeom>
            <a:avLst/>
            <a:gdLst/>
            <a:ahLst/>
            <a:cxnLst/>
            <a:rect l="l" t="t" r="r" b="b"/>
            <a:pathLst>
              <a:path w="1253786" h="1762420">
                <a:moveTo>
                  <a:pt x="81382" y="0"/>
                </a:moveTo>
                <a:lnTo>
                  <a:pt x="1172404" y="0"/>
                </a:lnTo>
                <a:cubicBezTo>
                  <a:pt x="1195822" y="371"/>
                  <a:pt x="1215108" y="8530"/>
                  <a:pt x="1230261" y="24478"/>
                </a:cubicBezTo>
                <a:cubicBezTo>
                  <a:pt x="1245414" y="40426"/>
                  <a:pt x="1253256" y="61937"/>
                  <a:pt x="1253786" y="89011"/>
                </a:cubicBezTo>
                <a:cubicBezTo>
                  <a:pt x="1253256" y="111211"/>
                  <a:pt x="1245414" y="129755"/>
                  <a:pt x="1230261" y="144643"/>
                </a:cubicBezTo>
                <a:cubicBezTo>
                  <a:pt x="1215108" y="159531"/>
                  <a:pt x="1195822" y="167266"/>
                  <a:pt x="1172404" y="167849"/>
                </a:cubicBezTo>
                <a:lnTo>
                  <a:pt x="704460" y="167849"/>
                </a:lnTo>
                <a:lnTo>
                  <a:pt x="704460" y="1681038"/>
                </a:lnTo>
                <a:cubicBezTo>
                  <a:pt x="704036" y="1704457"/>
                  <a:pt x="695983" y="1723743"/>
                  <a:pt x="680300" y="1738896"/>
                </a:cubicBezTo>
                <a:cubicBezTo>
                  <a:pt x="664616" y="1754049"/>
                  <a:pt x="643848" y="1761890"/>
                  <a:pt x="617992" y="1762420"/>
                </a:cubicBezTo>
                <a:cubicBezTo>
                  <a:pt x="595686" y="1761890"/>
                  <a:pt x="576718" y="1754049"/>
                  <a:pt x="561088" y="1738896"/>
                </a:cubicBezTo>
                <a:cubicBezTo>
                  <a:pt x="545459" y="1723743"/>
                  <a:pt x="537299" y="1704457"/>
                  <a:pt x="536610" y="1681038"/>
                </a:cubicBezTo>
                <a:lnTo>
                  <a:pt x="536610" y="167849"/>
                </a:lnTo>
                <a:lnTo>
                  <a:pt x="81382" y="167849"/>
                </a:lnTo>
                <a:cubicBezTo>
                  <a:pt x="57964" y="167373"/>
                  <a:pt x="38678" y="159425"/>
                  <a:pt x="23525" y="144007"/>
                </a:cubicBezTo>
                <a:cubicBezTo>
                  <a:pt x="8372" y="128589"/>
                  <a:pt x="530" y="108562"/>
                  <a:pt x="0" y="83925"/>
                </a:cubicBezTo>
                <a:cubicBezTo>
                  <a:pt x="530" y="59288"/>
                  <a:pt x="8372" y="39260"/>
                  <a:pt x="23525" y="23842"/>
                </a:cubicBezTo>
                <a:cubicBezTo>
                  <a:pt x="38678" y="8424"/>
                  <a:pt x="57964" y="477"/>
                  <a:pt x="81382" y="0"/>
                </a:cubicBezTo>
                <a:close/>
              </a:path>
            </a:pathLst>
          </a:custGeom>
          <a:noFill/>
          <a:ln w="19050">
            <a:solidFill>
              <a:srgbClr val="FBF1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6" name="任意多边形 72"/>
          <p:cNvSpPr/>
          <p:nvPr/>
        </p:nvSpPr>
        <p:spPr>
          <a:xfrm>
            <a:off x="1343160" y="1683777"/>
            <a:ext cx="982047" cy="1534860"/>
          </a:xfrm>
          <a:custGeom>
            <a:avLst/>
            <a:gdLst/>
            <a:ahLst/>
            <a:cxnLst/>
            <a:rect l="l" t="t" r="r" b="b"/>
            <a:pathLst>
              <a:path w="1063138" h="1808204">
                <a:moveTo>
                  <a:pt x="595194" y="6"/>
                </a:moveTo>
                <a:cubicBezTo>
                  <a:pt x="652892" y="218"/>
                  <a:pt x="712339" y="2973"/>
                  <a:pt x="773534" y="8271"/>
                </a:cubicBezTo>
                <a:cubicBezTo>
                  <a:pt x="834729" y="13570"/>
                  <a:pt x="894811" y="20140"/>
                  <a:pt x="953781" y="27981"/>
                </a:cubicBezTo>
                <a:cubicBezTo>
                  <a:pt x="965332" y="29200"/>
                  <a:pt x="975928" y="32485"/>
                  <a:pt x="985571" y="37836"/>
                </a:cubicBezTo>
                <a:cubicBezTo>
                  <a:pt x="995214" y="43187"/>
                  <a:pt x="1003267" y="50923"/>
                  <a:pt x="1009731" y="61042"/>
                </a:cubicBezTo>
                <a:lnTo>
                  <a:pt x="1007188" y="61042"/>
                </a:lnTo>
                <a:cubicBezTo>
                  <a:pt x="1014659" y="69996"/>
                  <a:pt x="1019427" y="80063"/>
                  <a:pt x="1021493" y="91243"/>
                </a:cubicBezTo>
                <a:cubicBezTo>
                  <a:pt x="1023560" y="102422"/>
                  <a:pt x="1023878" y="114396"/>
                  <a:pt x="1022447" y="127165"/>
                </a:cubicBezTo>
                <a:cubicBezTo>
                  <a:pt x="1018155" y="149259"/>
                  <a:pt x="1007665" y="166743"/>
                  <a:pt x="990975" y="179618"/>
                </a:cubicBezTo>
                <a:cubicBezTo>
                  <a:pt x="974286" y="192493"/>
                  <a:pt x="954258" y="197897"/>
                  <a:pt x="930893" y="195831"/>
                </a:cubicBezTo>
                <a:cubicBezTo>
                  <a:pt x="873459" y="186771"/>
                  <a:pt x="816662" y="179459"/>
                  <a:pt x="760500" y="173896"/>
                </a:cubicBezTo>
                <a:cubicBezTo>
                  <a:pt x="704338" y="168333"/>
                  <a:pt x="650084" y="165472"/>
                  <a:pt x="597737" y="165313"/>
                </a:cubicBezTo>
                <a:cubicBezTo>
                  <a:pt x="531190" y="164889"/>
                  <a:pt x="468459" y="170823"/>
                  <a:pt x="409542" y="183115"/>
                </a:cubicBezTo>
                <a:cubicBezTo>
                  <a:pt x="341088" y="196360"/>
                  <a:pt x="285350" y="223276"/>
                  <a:pt x="242328" y="263861"/>
                </a:cubicBezTo>
                <a:cubicBezTo>
                  <a:pt x="199306" y="304445"/>
                  <a:pt x="175358" y="363151"/>
                  <a:pt x="170483" y="439975"/>
                </a:cubicBezTo>
                <a:cubicBezTo>
                  <a:pt x="168395" y="497165"/>
                  <a:pt x="185570" y="547244"/>
                  <a:pt x="222006" y="590211"/>
                </a:cubicBezTo>
                <a:cubicBezTo>
                  <a:pt x="258443" y="633178"/>
                  <a:pt x="306323" y="671766"/>
                  <a:pt x="365648" y="705973"/>
                </a:cubicBezTo>
                <a:cubicBezTo>
                  <a:pt x="424974" y="740180"/>
                  <a:pt x="487925" y="772739"/>
                  <a:pt x="554503" y="803649"/>
                </a:cubicBezTo>
                <a:cubicBezTo>
                  <a:pt x="653581" y="850168"/>
                  <a:pt x="745347" y="901456"/>
                  <a:pt x="829801" y="957512"/>
                </a:cubicBezTo>
                <a:cubicBezTo>
                  <a:pt x="914256" y="1013567"/>
                  <a:pt x="976776" y="1085200"/>
                  <a:pt x="1017361" y="1172410"/>
                </a:cubicBezTo>
                <a:cubicBezTo>
                  <a:pt x="1032620" y="1208173"/>
                  <a:pt x="1044064" y="1244096"/>
                  <a:pt x="1051694" y="1280177"/>
                </a:cubicBezTo>
                <a:cubicBezTo>
                  <a:pt x="1059323" y="1316258"/>
                  <a:pt x="1063138" y="1351545"/>
                  <a:pt x="1063138" y="1386037"/>
                </a:cubicBezTo>
                <a:cubicBezTo>
                  <a:pt x="1063138" y="1414012"/>
                  <a:pt x="1060595" y="1439443"/>
                  <a:pt x="1055508" y="1462332"/>
                </a:cubicBezTo>
                <a:lnTo>
                  <a:pt x="1055508" y="1459789"/>
                </a:lnTo>
                <a:cubicBezTo>
                  <a:pt x="1041892" y="1526282"/>
                  <a:pt x="1013175" y="1584033"/>
                  <a:pt x="969358" y="1633043"/>
                </a:cubicBezTo>
                <a:cubicBezTo>
                  <a:pt x="925541" y="1682052"/>
                  <a:pt x="872029" y="1720093"/>
                  <a:pt x="808820" y="1747167"/>
                </a:cubicBezTo>
                <a:cubicBezTo>
                  <a:pt x="764897" y="1765287"/>
                  <a:pt x="712233" y="1779911"/>
                  <a:pt x="650826" y="1791037"/>
                </a:cubicBezTo>
                <a:cubicBezTo>
                  <a:pt x="589418" y="1802164"/>
                  <a:pt x="523402" y="1807886"/>
                  <a:pt x="452776" y="1808204"/>
                </a:cubicBezTo>
                <a:cubicBezTo>
                  <a:pt x="402919" y="1808204"/>
                  <a:pt x="349406" y="1805660"/>
                  <a:pt x="292238" y="1800574"/>
                </a:cubicBezTo>
                <a:cubicBezTo>
                  <a:pt x="235069" y="1795488"/>
                  <a:pt x="175835" y="1787858"/>
                  <a:pt x="114533" y="1777686"/>
                </a:cubicBezTo>
                <a:cubicBezTo>
                  <a:pt x="102983" y="1776361"/>
                  <a:pt x="92387" y="1772652"/>
                  <a:pt x="82744" y="1766559"/>
                </a:cubicBezTo>
                <a:cubicBezTo>
                  <a:pt x="73101" y="1760466"/>
                  <a:pt x="65048" y="1752307"/>
                  <a:pt x="58584" y="1742081"/>
                </a:cubicBezTo>
                <a:cubicBezTo>
                  <a:pt x="52332" y="1732120"/>
                  <a:pt x="48305" y="1722160"/>
                  <a:pt x="46504" y="1712199"/>
                </a:cubicBezTo>
                <a:cubicBezTo>
                  <a:pt x="44702" y="1702238"/>
                  <a:pt x="44490" y="1691006"/>
                  <a:pt x="45868" y="1678502"/>
                </a:cubicBezTo>
                <a:cubicBezTo>
                  <a:pt x="51696" y="1656408"/>
                  <a:pt x="63564" y="1638924"/>
                  <a:pt x="81472" y="1626049"/>
                </a:cubicBezTo>
                <a:cubicBezTo>
                  <a:pt x="99380" y="1613174"/>
                  <a:pt x="118878" y="1607770"/>
                  <a:pt x="139965" y="1609836"/>
                </a:cubicBezTo>
                <a:cubicBezTo>
                  <a:pt x="199889" y="1620009"/>
                  <a:pt x="256157" y="1627638"/>
                  <a:pt x="308768" y="1632725"/>
                </a:cubicBezTo>
                <a:cubicBezTo>
                  <a:pt x="361380" y="1637811"/>
                  <a:pt x="409383" y="1640354"/>
                  <a:pt x="452776" y="1640354"/>
                </a:cubicBezTo>
                <a:cubicBezTo>
                  <a:pt x="515084" y="1640248"/>
                  <a:pt x="570398" y="1636009"/>
                  <a:pt x="618718" y="1627638"/>
                </a:cubicBezTo>
                <a:cubicBezTo>
                  <a:pt x="667038" y="1619267"/>
                  <a:pt x="708365" y="1607399"/>
                  <a:pt x="742698" y="1592034"/>
                </a:cubicBezTo>
                <a:cubicBezTo>
                  <a:pt x="782488" y="1576563"/>
                  <a:pt x="815443" y="1555370"/>
                  <a:pt x="841564" y="1528454"/>
                </a:cubicBezTo>
                <a:cubicBezTo>
                  <a:pt x="867684" y="1501539"/>
                  <a:pt x="884745" y="1470173"/>
                  <a:pt x="892745" y="1434357"/>
                </a:cubicBezTo>
                <a:cubicBezTo>
                  <a:pt x="895606" y="1405058"/>
                  <a:pt x="894970" y="1374010"/>
                  <a:pt x="890838" y="1341213"/>
                </a:cubicBezTo>
                <a:cubicBezTo>
                  <a:pt x="886705" y="1308417"/>
                  <a:pt x="877168" y="1274190"/>
                  <a:pt x="862227" y="1238532"/>
                </a:cubicBezTo>
                <a:cubicBezTo>
                  <a:pt x="834040" y="1179457"/>
                  <a:pt x="784236" y="1127216"/>
                  <a:pt x="712815" y="1081809"/>
                </a:cubicBezTo>
                <a:cubicBezTo>
                  <a:pt x="641395" y="1036403"/>
                  <a:pt x="564887" y="993699"/>
                  <a:pt x="483294" y="953697"/>
                </a:cubicBezTo>
                <a:cubicBezTo>
                  <a:pt x="401080" y="915518"/>
                  <a:pt x="322776" y="873477"/>
                  <a:pt x="248380" y="827574"/>
                </a:cubicBezTo>
                <a:cubicBezTo>
                  <a:pt x="173984" y="781671"/>
                  <a:pt x="113576" y="727009"/>
                  <a:pt x="67155" y="663586"/>
                </a:cubicBezTo>
                <a:cubicBezTo>
                  <a:pt x="20734" y="600164"/>
                  <a:pt x="-1621" y="523084"/>
                  <a:pt x="91" y="432346"/>
                </a:cubicBezTo>
                <a:cubicBezTo>
                  <a:pt x="7932" y="307730"/>
                  <a:pt x="45656" y="212997"/>
                  <a:pt x="113262" y="148146"/>
                </a:cubicBezTo>
                <a:cubicBezTo>
                  <a:pt x="180868" y="83295"/>
                  <a:pt x="269455" y="40697"/>
                  <a:pt x="379024" y="20352"/>
                </a:cubicBezTo>
                <a:lnTo>
                  <a:pt x="376481" y="20352"/>
                </a:lnTo>
                <a:cubicBezTo>
                  <a:pt x="409595" y="12828"/>
                  <a:pt x="444458" y="7530"/>
                  <a:pt x="481069" y="4457"/>
                </a:cubicBezTo>
                <a:cubicBezTo>
                  <a:pt x="517680" y="1384"/>
                  <a:pt x="555721" y="-100"/>
                  <a:pt x="595194" y="6"/>
                </a:cubicBezTo>
                <a:close/>
              </a:path>
            </a:pathLst>
          </a:custGeom>
          <a:solidFill>
            <a:srgbClr val="CB6E7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7" name="任意多边形 65"/>
          <p:cNvSpPr/>
          <p:nvPr/>
        </p:nvSpPr>
        <p:spPr>
          <a:xfrm>
            <a:off x="6343575" y="1628741"/>
            <a:ext cx="1479028" cy="1492534"/>
          </a:xfrm>
          <a:custGeom>
            <a:avLst/>
            <a:gdLst/>
            <a:ahLst/>
            <a:cxnLst/>
            <a:rect l="l" t="t" r="r" b="b"/>
            <a:pathLst>
              <a:path w="1742428" h="1758341">
                <a:moveTo>
                  <a:pt x="86051" y="43"/>
                </a:moveTo>
                <a:cubicBezTo>
                  <a:pt x="102184" y="540"/>
                  <a:pt x="117245" y="5418"/>
                  <a:pt x="131232" y="14677"/>
                </a:cubicBezTo>
                <a:cubicBezTo>
                  <a:pt x="149882" y="27022"/>
                  <a:pt x="161538" y="43658"/>
                  <a:pt x="166201" y="64586"/>
                </a:cubicBezTo>
                <a:cubicBezTo>
                  <a:pt x="209011" y="293207"/>
                  <a:pt x="251185" y="517536"/>
                  <a:pt x="292724" y="737574"/>
                </a:cubicBezTo>
                <a:cubicBezTo>
                  <a:pt x="334262" y="957612"/>
                  <a:pt x="377708" y="1182577"/>
                  <a:pt x="423061" y="1412469"/>
                </a:cubicBezTo>
                <a:cubicBezTo>
                  <a:pt x="480495" y="1268727"/>
                  <a:pt x="538564" y="1125143"/>
                  <a:pt x="597269" y="981719"/>
                </a:cubicBezTo>
                <a:cubicBezTo>
                  <a:pt x="655974" y="838294"/>
                  <a:pt x="714043" y="695347"/>
                  <a:pt x="771476" y="552876"/>
                </a:cubicBezTo>
                <a:cubicBezTo>
                  <a:pt x="781914" y="531206"/>
                  <a:pt x="795372" y="514781"/>
                  <a:pt x="811849" y="503602"/>
                </a:cubicBezTo>
                <a:cubicBezTo>
                  <a:pt x="828327" y="492423"/>
                  <a:pt x="846235" y="486807"/>
                  <a:pt x="865574" y="486753"/>
                </a:cubicBezTo>
                <a:cubicBezTo>
                  <a:pt x="882740" y="487124"/>
                  <a:pt x="899907" y="493376"/>
                  <a:pt x="917073" y="505509"/>
                </a:cubicBezTo>
                <a:cubicBezTo>
                  <a:pt x="934240" y="517642"/>
                  <a:pt x="947591" y="533431"/>
                  <a:pt x="957128" y="552876"/>
                </a:cubicBezTo>
                <a:lnTo>
                  <a:pt x="1313173" y="1415012"/>
                </a:lnTo>
                <a:lnTo>
                  <a:pt x="1577663" y="72216"/>
                </a:lnTo>
                <a:cubicBezTo>
                  <a:pt x="1583226" y="50175"/>
                  <a:pt x="1594988" y="33221"/>
                  <a:pt x="1612950" y="21352"/>
                </a:cubicBezTo>
                <a:cubicBezTo>
                  <a:pt x="1630911" y="9484"/>
                  <a:pt x="1652210" y="5246"/>
                  <a:pt x="1676847" y="8637"/>
                </a:cubicBezTo>
                <a:cubicBezTo>
                  <a:pt x="1688450" y="9855"/>
                  <a:pt x="1698940" y="13140"/>
                  <a:pt x="1708318" y="18491"/>
                </a:cubicBezTo>
                <a:cubicBezTo>
                  <a:pt x="1717696" y="23843"/>
                  <a:pt x="1725008" y="31578"/>
                  <a:pt x="1730254" y="41698"/>
                </a:cubicBezTo>
                <a:cubicBezTo>
                  <a:pt x="1735446" y="50705"/>
                  <a:pt x="1739048" y="60666"/>
                  <a:pt x="1741062" y="71580"/>
                </a:cubicBezTo>
                <a:cubicBezTo>
                  <a:pt x="1743075" y="82495"/>
                  <a:pt x="1742863" y="93727"/>
                  <a:pt x="1740426" y="105277"/>
                </a:cubicBezTo>
                <a:lnTo>
                  <a:pt x="1430159" y="1671873"/>
                </a:lnTo>
                <a:cubicBezTo>
                  <a:pt x="1423271" y="1701067"/>
                  <a:pt x="1411615" y="1722790"/>
                  <a:pt x="1395190" y="1737042"/>
                </a:cubicBezTo>
                <a:cubicBezTo>
                  <a:pt x="1378765" y="1751294"/>
                  <a:pt x="1360751" y="1758394"/>
                  <a:pt x="1341148" y="1758341"/>
                </a:cubicBezTo>
                <a:cubicBezTo>
                  <a:pt x="1324087" y="1757705"/>
                  <a:pt x="1307345" y="1750711"/>
                  <a:pt x="1290920" y="1737360"/>
                </a:cubicBezTo>
                <a:cubicBezTo>
                  <a:pt x="1274495" y="1724008"/>
                  <a:pt x="1261567" y="1708113"/>
                  <a:pt x="1252137" y="1689675"/>
                </a:cubicBezTo>
                <a:cubicBezTo>
                  <a:pt x="1187392" y="1532687"/>
                  <a:pt x="1122964" y="1378083"/>
                  <a:pt x="1058855" y="1225864"/>
                </a:cubicBezTo>
                <a:cubicBezTo>
                  <a:pt x="994746" y="1073644"/>
                  <a:pt x="930319" y="919676"/>
                  <a:pt x="865574" y="763959"/>
                </a:cubicBezTo>
                <a:lnTo>
                  <a:pt x="481554" y="1689675"/>
                </a:lnTo>
                <a:lnTo>
                  <a:pt x="484097" y="1687132"/>
                </a:lnTo>
                <a:cubicBezTo>
                  <a:pt x="473713" y="1710021"/>
                  <a:pt x="460785" y="1727187"/>
                  <a:pt x="445314" y="1738631"/>
                </a:cubicBezTo>
                <a:cubicBezTo>
                  <a:pt x="429843" y="1750076"/>
                  <a:pt x="413101" y="1755798"/>
                  <a:pt x="395087" y="1755798"/>
                </a:cubicBezTo>
                <a:cubicBezTo>
                  <a:pt x="374264" y="1755586"/>
                  <a:pt x="355508" y="1748380"/>
                  <a:pt x="338819" y="1734181"/>
                </a:cubicBezTo>
                <a:cubicBezTo>
                  <a:pt x="322129" y="1719981"/>
                  <a:pt x="310367" y="1700060"/>
                  <a:pt x="303532" y="1674416"/>
                </a:cubicBezTo>
                <a:lnTo>
                  <a:pt x="894" y="95105"/>
                </a:lnTo>
                <a:cubicBezTo>
                  <a:pt x="-483" y="83660"/>
                  <a:pt x="-271" y="72852"/>
                  <a:pt x="1530" y="62679"/>
                </a:cubicBezTo>
                <a:cubicBezTo>
                  <a:pt x="3332" y="52506"/>
                  <a:pt x="7358" y="42969"/>
                  <a:pt x="13610" y="34068"/>
                </a:cubicBezTo>
                <a:cubicBezTo>
                  <a:pt x="20233" y="26174"/>
                  <a:pt x="28605" y="19074"/>
                  <a:pt x="38724" y="12769"/>
                </a:cubicBezTo>
                <a:cubicBezTo>
                  <a:pt x="48844" y="6464"/>
                  <a:pt x="59123" y="2544"/>
                  <a:pt x="69560" y="1007"/>
                </a:cubicBezTo>
                <a:cubicBezTo>
                  <a:pt x="75176" y="199"/>
                  <a:pt x="80673" y="-122"/>
                  <a:pt x="86051" y="43"/>
                </a:cubicBezTo>
                <a:close/>
              </a:path>
            </a:pathLst>
          </a:custGeom>
          <a:solidFill>
            <a:srgbClr val="CB6E78"/>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8" name="任意多边形 64"/>
          <p:cNvSpPr/>
          <p:nvPr/>
        </p:nvSpPr>
        <p:spPr>
          <a:xfrm>
            <a:off x="1209667" y="4327507"/>
            <a:ext cx="1096632" cy="1529706"/>
          </a:xfrm>
          <a:custGeom>
            <a:avLst/>
            <a:gdLst/>
            <a:ahLst/>
            <a:cxnLst/>
            <a:rect l="l" t="t" r="r" b="b"/>
            <a:pathLst>
              <a:path w="1291932" h="1802132">
                <a:moveTo>
                  <a:pt x="641627" y="70"/>
                </a:moveTo>
                <a:cubicBezTo>
                  <a:pt x="657348" y="-134"/>
                  <a:pt x="673206" y="112"/>
                  <a:pt x="689200" y="807"/>
                </a:cubicBezTo>
                <a:cubicBezTo>
                  <a:pt x="814716" y="4675"/>
                  <a:pt x="921635" y="34451"/>
                  <a:pt x="1009958" y="90136"/>
                </a:cubicBezTo>
                <a:cubicBezTo>
                  <a:pt x="1098280" y="145821"/>
                  <a:pt x="1162601" y="227097"/>
                  <a:pt x="1202921" y="333963"/>
                </a:cubicBezTo>
                <a:lnTo>
                  <a:pt x="1202921" y="331420"/>
                </a:lnTo>
                <a:cubicBezTo>
                  <a:pt x="1232220" y="407556"/>
                  <a:pt x="1254368" y="494978"/>
                  <a:pt x="1269362" y="593685"/>
                </a:cubicBezTo>
                <a:cubicBezTo>
                  <a:pt x="1284356" y="692392"/>
                  <a:pt x="1291880" y="795708"/>
                  <a:pt x="1291932" y="903634"/>
                </a:cubicBezTo>
                <a:cubicBezTo>
                  <a:pt x="1291932" y="987983"/>
                  <a:pt x="1286846" y="1071060"/>
                  <a:pt x="1276674" y="1152866"/>
                </a:cubicBezTo>
                <a:cubicBezTo>
                  <a:pt x="1269309" y="1207703"/>
                  <a:pt x="1259877" y="1260791"/>
                  <a:pt x="1248380" y="1312132"/>
                </a:cubicBezTo>
                <a:cubicBezTo>
                  <a:pt x="1236883" y="1363472"/>
                  <a:pt x="1221730" y="1412110"/>
                  <a:pt x="1202921" y="1458047"/>
                </a:cubicBezTo>
                <a:cubicBezTo>
                  <a:pt x="1148879" y="1587430"/>
                  <a:pt x="1066861" y="1678349"/>
                  <a:pt x="956869" y="1730802"/>
                </a:cubicBezTo>
                <a:cubicBezTo>
                  <a:pt x="846876" y="1783255"/>
                  <a:pt x="727983" y="1806779"/>
                  <a:pt x="600189" y="1801375"/>
                </a:cubicBezTo>
                <a:cubicBezTo>
                  <a:pt x="475944" y="1797719"/>
                  <a:pt x="369661" y="1768155"/>
                  <a:pt x="281338" y="1712682"/>
                </a:cubicBezTo>
                <a:cubicBezTo>
                  <a:pt x="193016" y="1657209"/>
                  <a:pt x="128059" y="1574874"/>
                  <a:pt x="86468" y="1465676"/>
                </a:cubicBezTo>
                <a:lnTo>
                  <a:pt x="86468" y="1468219"/>
                </a:lnTo>
                <a:cubicBezTo>
                  <a:pt x="58387" y="1392030"/>
                  <a:pt x="36982" y="1304714"/>
                  <a:pt x="22252" y="1206272"/>
                </a:cubicBezTo>
                <a:cubicBezTo>
                  <a:pt x="7523" y="1107830"/>
                  <a:pt x="105" y="1005255"/>
                  <a:pt x="0" y="898548"/>
                </a:cubicBezTo>
                <a:cubicBezTo>
                  <a:pt x="0" y="811656"/>
                  <a:pt x="5086" y="728579"/>
                  <a:pt x="15259" y="649317"/>
                </a:cubicBezTo>
                <a:cubicBezTo>
                  <a:pt x="22517" y="594374"/>
                  <a:pt x="31525" y="540861"/>
                  <a:pt x="42280" y="488779"/>
                </a:cubicBezTo>
                <a:cubicBezTo>
                  <a:pt x="53035" y="436697"/>
                  <a:pt x="67765" y="387635"/>
                  <a:pt x="86468" y="341593"/>
                </a:cubicBezTo>
                <a:lnTo>
                  <a:pt x="86468" y="344136"/>
                </a:lnTo>
                <a:cubicBezTo>
                  <a:pt x="139398" y="213639"/>
                  <a:pt x="221097" y="122403"/>
                  <a:pt x="331566" y="70427"/>
                </a:cubicBezTo>
                <a:cubicBezTo>
                  <a:pt x="428226" y="24947"/>
                  <a:pt x="531580" y="1495"/>
                  <a:pt x="641627" y="70"/>
                </a:cubicBezTo>
                <a:close/>
                <a:moveTo>
                  <a:pt x="684114" y="166114"/>
                </a:moveTo>
                <a:cubicBezTo>
                  <a:pt x="659583" y="165955"/>
                  <a:pt x="633621" y="166908"/>
                  <a:pt x="606229" y="168975"/>
                </a:cubicBezTo>
                <a:cubicBezTo>
                  <a:pt x="578837" y="171041"/>
                  <a:pt x="552239" y="175174"/>
                  <a:pt x="526437" y="181373"/>
                </a:cubicBezTo>
                <a:cubicBezTo>
                  <a:pt x="464447" y="193824"/>
                  <a:pt x="408497" y="218514"/>
                  <a:pt x="358587" y="255443"/>
                </a:cubicBezTo>
                <a:cubicBezTo>
                  <a:pt x="308677" y="292372"/>
                  <a:pt x="270530" y="343129"/>
                  <a:pt x="244144" y="407715"/>
                </a:cubicBezTo>
                <a:cubicBezTo>
                  <a:pt x="228938" y="445227"/>
                  <a:pt x="216117" y="486554"/>
                  <a:pt x="205679" y="531695"/>
                </a:cubicBezTo>
                <a:cubicBezTo>
                  <a:pt x="195241" y="576836"/>
                  <a:pt x="186870" y="621978"/>
                  <a:pt x="180565" y="667119"/>
                </a:cubicBezTo>
                <a:cubicBezTo>
                  <a:pt x="175585" y="704419"/>
                  <a:pt x="172194" y="742990"/>
                  <a:pt x="170392" y="782833"/>
                </a:cubicBezTo>
                <a:cubicBezTo>
                  <a:pt x="168591" y="822677"/>
                  <a:pt x="167744" y="861248"/>
                  <a:pt x="167849" y="898548"/>
                </a:cubicBezTo>
                <a:cubicBezTo>
                  <a:pt x="167796" y="993758"/>
                  <a:pt x="174260" y="1085630"/>
                  <a:pt x="187241" y="1174165"/>
                </a:cubicBezTo>
                <a:cubicBezTo>
                  <a:pt x="200222" y="1262699"/>
                  <a:pt x="220037" y="1341219"/>
                  <a:pt x="246688" y="1409726"/>
                </a:cubicBezTo>
                <a:cubicBezTo>
                  <a:pt x="254211" y="1428747"/>
                  <a:pt x="262688" y="1446655"/>
                  <a:pt x="272119" y="1463451"/>
                </a:cubicBezTo>
                <a:cubicBezTo>
                  <a:pt x="281550" y="1480246"/>
                  <a:pt x="292571" y="1496247"/>
                  <a:pt x="305180" y="1511453"/>
                </a:cubicBezTo>
                <a:cubicBezTo>
                  <a:pt x="339620" y="1549601"/>
                  <a:pt x="382005" y="1578847"/>
                  <a:pt x="432339" y="1599193"/>
                </a:cubicBezTo>
                <a:cubicBezTo>
                  <a:pt x="482673" y="1619538"/>
                  <a:pt x="540318" y="1630982"/>
                  <a:pt x="605275" y="1633526"/>
                </a:cubicBezTo>
                <a:cubicBezTo>
                  <a:pt x="630759" y="1633685"/>
                  <a:pt x="656722" y="1632731"/>
                  <a:pt x="683160" y="1630664"/>
                </a:cubicBezTo>
                <a:cubicBezTo>
                  <a:pt x="709598" y="1628598"/>
                  <a:pt x="736196" y="1624465"/>
                  <a:pt x="762952" y="1618267"/>
                </a:cubicBezTo>
                <a:cubicBezTo>
                  <a:pt x="824942" y="1606027"/>
                  <a:pt x="880892" y="1582185"/>
                  <a:pt x="930802" y="1546740"/>
                </a:cubicBezTo>
                <a:cubicBezTo>
                  <a:pt x="980711" y="1511294"/>
                  <a:pt x="1018859" y="1461384"/>
                  <a:pt x="1045245" y="1397010"/>
                </a:cubicBezTo>
                <a:cubicBezTo>
                  <a:pt x="1060451" y="1355790"/>
                  <a:pt x="1073272" y="1312344"/>
                  <a:pt x="1083710" y="1266673"/>
                </a:cubicBezTo>
                <a:cubicBezTo>
                  <a:pt x="1094147" y="1221001"/>
                  <a:pt x="1102518" y="1176284"/>
                  <a:pt x="1108824" y="1132520"/>
                </a:cubicBezTo>
                <a:cubicBezTo>
                  <a:pt x="1113910" y="1095167"/>
                  <a:pt x="1117725" y="1056702"/>
                  <a:pt x="1120268" y="1017124"/>
                </a:cubicBezTo>
                <a:cubicBezTo>
                  <a:pt x="1122811" y="977545"/>
                  <a:pt x="1124083" y="939716"/>
                  <a:pt x="1124083" y="903634"/>
                </a:cubicBezTo>
                <a:cubicBezTo>
                  <a:pt x="1123976" y="808530"/>
                  <a:pt x="1117195" y="717082"/>
                  <a:pt x="1103738" y="629289"/>
                </a:cubicBezTo>
                <a:cubicBezTo>
                  <a:pt x="1090280" y="541497"/>
                  <a:pt x="1070782" y="463400"/>
                  <a:pt x="1045245" y="394999"/>
                </a:cubicBezTo>
                <a:cubicBezTo>
                  <a:pt x="1037615" y="373223"/>
                  <a:pt x="1028714" y="353196"/>
                  <a:pt x="1018541" y="334917"/>
                </a:cubicBezTo>
                <a:cubicBezTo>
                  <a:pt x="1008368" y="316638"/>
                  <a:pt x="996924" y="301061"/>
                  <a:pt x="984208" y="288186"/>
                </a:cubicBezTo>
                <a:cubicBezTo>
                  <a:pt x="950882" y="250038"/>
                  <a:pt x="908814" y="220792"/>
                  <a:pt x="858003" y="200446"/>
                </a:cubicBezTo>
                <a:cubicBezTo>
                  <a:pt x="807192" y="180101"/>
                  <a:pt x="749230" y="168657"/>
                  <a:pt x="684114" y="166114"/>
                </a:cubicBezTo>
                <a:close/>
              </a:path>
            </a:pathLst>
          </a:custGeom>
          <a:noFill/>
          <a:ln w="6350">
            <a:solidFill>
              <a:srgbClr val="FBF1E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9" name="任意多边形 63"/>
          <p:cNvSpPr/>
          <p:nvPr/>
        </p:nvSpPr>
        <p:spPr>
          <a:xfrm>
            <a:off x="1266961" y="1607577"/>
            <a:ext cx="982047" cy="1534860"/>
          </a:xfrm>
          <a:custGeom>
            <a:avLst/>
            <a:gdLst/>
            <a:ahLst/>
            <a:cxnLst/>
            <a:rect l="l" t="t" r="r" b="b"/>
            <a:pathLst>
              <a:path w="1063138" h="1808204">
                <a:moveTo>
                  <a:pt x="595194" y="6"/>
                </a:moveTo>
                <a:cubicBezTo>
                  <a:pt x="652892" y="218"/>
                  <a:pt x="712339" y="2973"/>
                  <a:pt x="773534" y="8271"/>
                </a:cubicBezTo>
                <a:cubicBezTo>
                  <a:pt x="834729" y="13570"/>
                  <a:pt x="894811" y="20140"/>
                  <a:pt x="953781" y="27981"/>
                </a:cubicBezTo>
                <a:cubicBezTo>
                  <a:pt x="965332" y="29200"/>
                  <a:pt x="975928" y="32485"/>
                  <a:pt x="985571" y="37836"/>
                </a:cubicBezTo>
                <a:cubicBezTo>
                  <a:pt x="995214" y="43187"/>
                  <a:pt x="1003267" y="50923"/>
                  <a:pt x="1009731" y="61042"/>
                </a:cubicBezTo>
                <a:lnTo>
                  <a:pt x="1007188" y="61042"/>
                </a:lnTo>
                <a:cubicBezTo>
                  <a:pt x="1014659" y="69996"/>
                  <a:pt x="1019427" y="80063"/>
                  <a:pt x="1021493" y="91243"/>
                </a:cubicBezTo>
                <a:cubicBezTo>
                  <a:pt x="1023560" y="102422"/>
                  <a:pt x="1023878" y="114396"/>
                  <a:pt x="1022447" y="127165"/>
                </a:cubicBezTo>
                <a:cubicBezTo>
                  <a:pt x="1018155" y="149259"/>
                  <a:pt x="1007665" y="166743"/>
                  <a:pt x="990975" y="179618"/>
                </a:cubicBezTo>
                <a:cubicBezTo>
                  <a:pt x="974286" y="192493"/>
                  <a:pt x="954258" y="197897"/>
                  <a:pt x="930893" y="195831"/>
                </a:cubicBezTo>
                <a:cubicBezTo>
                  <a:pt x="873459" y="186771"/>
                  <a:pt x="816662" y="179459"/>
                  <a:pt x="760500" y="173896"/>
                </a:cubicBezTo>
                <a:cubicBezTo>
                  <a:pt x="704338" y="168333"/>
                  <a:pt x="650084" y="165472"/>
                  <a:pt x="597737" y="165313"/>
                </a:cubicBezTo>
                <a:cubicBezTo>
                  <a:pt x="531190" y="164889"/>
                  <a:pt x="468459" y="170823"/>
                  <a:pt x="409542" y="183115"/>
                </a:cubicBezTo>
                <a:cubicBezTo>
                  <a:pt x="341088" y="196360"/>
                  <a:pt x="285350" y="223276"/>
                  <a:pt x="242328" y="263861"/>
                </a:cubicBezTo>
                <a:cubicBezTo>
                  <a:pt x="199306" y="304445"/>
                  <a:pt x="175358" y="363151"/>
                  <a:pt x="170483" y="439975"/>
                </a:cubicBezTo>
                <a:cubicBezTo>
                  <a:pt x="168395" y="497165"/>
                  <a:pt x="185570" y="547244"/>
                  <a:pt x="222006" y="590211"/>
                </a:cubicBezTo>
                <a:cubicBezTo>
                  <a:pt x="258443" y="633178"/>
                  <a:pt x="306323" y="671766"/>
                  <a:pt x="365648" y="705973"/>
                </a:cubicBezTo>
                <a:cubicBezTo>
                  <a:pt x="424974" y="740180"/>
                  <a:pt x="487925" y="772739"/>
                  <a:pt x="554503" y="803649"/>
                </a:cubicBezTo>
                <a:cubicBezTo>
                  <a:pt x="653581" y="850168"/>
                  <a:pt x="745347" y="901456"/>
                  <a:pt x="829801" y="957512"/>
                </a:cubicBezTo>
                <a:cubicBezTo>
                  <a:pt x="914256" y="1013567"/>
                  <a:pt x="976776" y="1085200"/>
                  <a:pt x="1017361" y="1172410"/>
                </a:cubicBezTo>
                <a:cubicBezTo>
                  <a:pt x="1032620" y="1208173"/>
                  <a:pt x="1044064" y="1244096"/>
                  <a:pt x="1051694" y="1280177"/>
                </a:cubicBezTo>
                <a:cubicBezTo>
                  <a:pt x="1059323" y="1316258"/>
                  <a:pt x="1063138" y="1351545"/>
                  <a:pt x="1063138" y="1386037"/>
                </a:cubicBezTo>
                <a:cubicBezTo>
                  <a:pt x="1063138" y="1414012"/>
                  <a:pt x="1060595" y="1439443"/>
                  <a:pt x="1055508" y="1462332"/>
                </a:cubicBezTo>
                <a:lnTo>
                  <a:pt x="1055508" y="1459789"/>
                </a:lnTo>
                <a:cubicBezTo>
                  <a:pt x="1041892" y="1526282"/>
                  <a:pt x="1013175" y="1584033"/>
                  <a:pt x="969358" y="1633043"/>
                </a:cubicBezTo>
                <a:cubicBezTo>
                  <a:pt x="925541" y="1682052"/>
                  <a:pt x="872029" y="1720093"/>
                  <a:pt x="808820" y="1747167"/>
                </a:cubicBezTo>
                <a:cubicBezTo>
                  <a:pt x="764897" y="1765287"/>
                  <a:pt x="712233" y="1779911"/>
                  <a:pt x="650826" y="1791037"/>
                </a:cubicBezTo>
                <a:cubicBezTo>
                  <a:pt x="589418" y="1802164"/>
                  <a:pt x="523402" y="1807886"/>
                  <a:pt x="452776" y="1808204"/>
                </a:cubicBezTo>
                <a:cubicBezTo>
                  <a:pt x="402919" y="1808204"/>
                  <a:pt x="349406" y="1805660"/>
                  <a:pt x="292238" y="1800574"/>
                </a:cubicBezTo>
                <a:cubicBezTo>
                  <a:pt x="235069" y="1795488"/>
                  <a:pt x="175835" y="1787858"/>
                  <a:pt x="114533" y="1777686"/>
                </a:cubicBezTo>
                <a:cubicBezTo>
                  <a:pt x="102983" y="1776361"/>
                  <a:pt x="92387" y="1772652"/>
                  <a:pt x="82744" y="1766559"/>
                </a:cubicBezTo>
                <a:cubicBezTo>
                  <a:pt x="73101" y="1760466"/>
                  <a:pt x="65048" y="1752307"/>
                  <a:pt x="58584" y="1742081"/>
                </a:cubicBezTo>
                <a:cubicBezTo>
                  <a:pt x="52332" y="1732120"/>
                  <a:pt x="48305" y="1722160"/>
                  <a:pt x="46504" y="1712199"/>
                </a:cubicBezTo>
                <a:cubicBezTo>
                  <a:pt x="44702" y="1702238"/>
                  <a:pt x="44490" y="1691006"/>
                  <a:pt x="45868" y="1678502"/>
                </a:cubicBezTo>
                <a:cubicBezTo>
                  <a:pt x="51696" y="1656408"/>
                  <a:pt x="63564" y="1638924"/>
                  <a:pt x="81472" y="1626049"/>
                </a:cubicBezTo>
                <a:cubicBezTo>
                  <a:pt x="99380" y="1613174"/>
                  <a:pt x="118878" y="1607770"/>
                  <a:pt x="139965" y="1609836"/>
                </a:cubicBezTo>
                <a:cubicBezTo>
                  <a:pt x="199889" y="1620009"/>
                  <a:pt x="256157" y="1627638"/>
                  <a:pt x="308768" y="1632725"/>
                </a:cubicBezTo>
                <a:cubicBezTo>
                  <a:pt x="361380" y="1637811"/>
                  <a:pt x="409383" y="1640354"/>
                  <a:pt x="452776" y="1640354"/>
                </a:cubicBezTo>
                <a:cubicBezTo>
                  <a:pt x="515084" y="1640248"/>
                  <a:pt x="570398" y="1636009"/>
                  <a:pt x="618718" y="1627638"/>
                </a:cubicBezTo>
                <a:cubicBezTo>
                  <a:pt x="667038" y="1619267"/>
                  <a:pt x="708365" y="1607399"/>
                  <a:pt x="742698" y="1592034"/>
                </a:cubicBezTo>
                <a:cubicBezTo>
                  <a:pt x="782488" y="1576563"/>
                  <a:pt x="815443" y="1555370"/>
                  <a:pt x="841564" y="1528454"/>
                </a:cubicBezTo>
                <a:cubicBezTo>
                  <a:pt x="867684" y="1501539"/>
                  <a:pt x="884745" y="1470173"/>
                  <a:pt x="892745" y="1434357"/>
                </a:cubicBezTo>
                <a:cubicBezTo>
                  <a:pt x="895606" y="1405058"/>
                  <a:pt x="894970" y="1374010"/>
                  <a:pt x="890838" y="1341213"/>
                </a:cubicBezTo>
                <a:cubicBezTo>
                  <a:pt x="886705" y="1308417"/>
                  <a:pt x="877168" y="1274190"/>
                  <a:pt x="862227" y="1238532"/>
                </a:cubicBezTo>
                <a:cubicBezTo>
                  <a:pt x="834040" y="1179457"/>
                  <a:pt x="784236" y="1127216"/>
                  <a:pt x="712815" y="1081809"/>
                </a:cubicBezTo>
                <a:cubicBezTo>
                  <a:pt x="641395" y="1036403"/>
                  <a:pt x="564887" y="993699"/>
                  <a:pt x="483294" y="953697"/>
                </a:cubicBezTo>
                <a:cubicBezTo>
                  <a:pt x="401080" y="915518"/>
                  <a:pt x="322776" y="873477"/>
                  <a:pt x="248380" y="827574"/>
                </a:cubicBezTo>
                <a:cubicBezTo>
                  <a:pt x="173984" y="781671"/>
                  <a:pt x="113576" y="727009"/>
                  <a:pt x="67155" y="663586"/>
                </a:cubicBezTo>
                <a:cubicBezTo>
                  <a:pt x="20734" y="600164"/>
                  <a:pt x="-1621" y="523084"/>
                  <a:pt x="91" y="432346"/>
                </a:cubicBezTo>
                <a:cubicBezTo>
                  <a:pt x="7932" y="307730"/>
                  <a:pt x="45656" y="212997"/>
                  <a:pt x="113262" y="148146"/>
                </a:cubicBezTo>
                <a:cubicBezTo>
                  <a:pt x="180868" y="83295"/>
                  <a:pt x="269455" y="40697"/>
                  <a:pt x="379024" y="20352"/>
                </a:cubicBezTo>
                <a:lnTo>
                  <a:pt x="376481" y="20352"/>
                </a:lnTo>
                <a:cubicBezTo>
                  <a:pt x="409595" y="12828"/>
                  <a:pt x="444458" y="7530"/>
                  <a:pt x="481069" y="4457"/>
                </a:cubicBezTo>
                <a:cubicBezTo>
                  <a:pt x="517680" y="1384"/>
                  <a:pt x="555721" y="-100"/>
                  <a:pt x="595194" y="6"/>
                </a:cubicBezTo>
                <a:close/>
              </a:path>
            </a:pathLst>
          </a:custGeom>
          <a:noFill/>
          <a:ln w="6350">
            <a:solidFill>
              <a:srgbClr val="FBF1E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10" name="任意多边形 62"/>
          <p:cNvSpPr/>
          <p:nvPr/>
        </p:nvSpPr>
        <p:spPr>
          <a:xfrm>
            <a:off x="6534772" y="4344361"/>
            <a:ext cx="1096632" cy="1495998"/>
          </a:xfrm>
          <a:custGeom>
            <a:avLst/>
            <a:gdLst/>
            <a:ahLst/>
            <a:cxnLst/>
            <a:rect l="l" t="t" r="r" b="b"/>
            <a:pathLst>
              <a:path w="1253786" h="1762420">
                <a:moveTo>
                  <a:pt x="81382" y="0"/>
                </a:moveTo>
                <a:lnTo>
                  <a:pt x="1172404" y="0"/>
                </a:lnTo>
                <a:cubicBezTo>
                  <a:pt x="1195822" y="371"/>
                  <a:pt x="1215108" y="8530"/>
                  <a:pt x="1230261" y="24478"/>
                </a:cubicBezTo>
                <a:cubicBezTo>
                  <a:pt x="1245414" y="40426"/>
                  <a:pt x="1253256" y="61937"/>
                  <a:pt x="1253786" y="89011"/>
                </a:cubicBezTo>
                <a:cubicBezTo>
                  <a:pt x="1253256" y="111211"/>
                  <a:pt x="1245414" y="129755"/>
                  <a:pt x="1230261" y="144643"/>
                </a:cubicBezTo>
                <a:cubicBezTo>
                  <a:pt x="1215108" y="159531"/>
                  <a:pt x="1195822" y="167266"/>
                  <a:pt x="1172404" y="167849"/>
                </a:cubicBezTo>
                <a:lnTo>
                  <a:pt x="704460" y="167849"/>
                </a:lnTo>
                <a:lnTo>
                  <a:pt x="704460" y="1681038"/>
                </a:lnTo>
                <a:cubicBezTo>
                  <a:pt x="704036" y="1704457"/>
                  <a:pt x="695983" y="1723743"/>
                  <a:pt x="680300" y="1738896"/>
                </a:cubicBezTo>
                <a:cubicBezTo>
                  <a:pt x="664616" y="1754049"/>
                  <a:pt x="643848" y="1761890"/>
                  <a:pt x="617992" y="1762420"/>
                </a:cubicBezTo>
                <a:cubicBezTo>
                  <a:pt x="595686" y="1761890"/>
                  <a:pt x="576718" y="1754049"/>
                  <a:pt x="561088" y="1738896"/>
                </a:cubicBezTo>
                <a:cubicBezTo>
                  <a:pt x="545459" y="1723743"/>
                  <a:pt x="537299" y="1704457"/>
                  <a:pt x="536610" y="1681038"/>
                </a:cubicBezTo>
                <a:lnTo>
                  <a:pt x="536610" y="167849"/>
                </a:lnTo>
                <a:lnTo>
                  <a:pt x="81382" y="167849"/>
                </a:lnTo>
                <a:cubicBezTo>
                  <a:pt x="57964" y="167373"/>
                  <a:pt x="38678" y="159425"/>
                  <a:pt x="23525" y="144007"/>
                </a:cubicBezTo>
                <a:cubicBezTo>
                  <a:pt x="8372" y="128589"/>
                  <a:pt x="530" y="108562"/>
                  <a:pt x="0" y="83925"/>
                </a:cubicBezTo>
                <a:cubicBezTo>
                  <a:pt x="530" y="59288"/>
                  <a:pt x="8372" y="39260"/>
                  <a:pt x="23525" y="23842"/>
                </a:cubicBezTo>
                <a:cubicBezTo>
                  <a:pt x="38678" y="8424"/>
                  <a:pt x="57964" y="477"/>
                  <a:pt x="81382" y="0"/>
                </a:cubicBezTo>
                <a:close/>
              </a:path>
            </a:pathLst>
          </a:custGeom>
          <a:solidFill>
            <a:srgbClr val="CB6E78"/>
          </a:solidFill>
          <a:ln w="6350">
            <a:solidFill>
              <a:srgbClr val="DB854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11" name="矩形 10"/>
          <p:cNvSpPr/>
          <p:nvPr/>
        </p:nvSpPr>
        <p:spPr>
          <a:xfrm>
            <a:off x="2750797" y="2120527"/>
            <a:ext cx="2720595" cy="889154"/>
          </a:xfrm>
          <a:prstGeom prst="rect">
            <a:avLst/>
          </a:prstGeom>
        </p:spPr>
        <p:txBody>
          <a:bodyPr wrap="square">
            <a:spAutoFit/>
          </a:bodyPr>
          <a:lstStyle/>
          <a:p>
            <a:r>
              <a:rPr lang="en-US" altLang="zh-CN" b="1" dirty="0"/>
              <a:t>void</a:t>
            </a:r>
            <a:r>
              <a:rPr lang="en-US" altLang="zh-CN" dirty="0"/>
              <a:t> </a:t>
            </a:r>
            <a:r>
              <a:rPr lang="en-US" altLang="zh-CN" dirty="0" err="1"/>
              <a:t>RunFile</a:t>
            </a:r>
            <a:r>
              <a:rPr lang="en-US" altLang="zh-CN" b="1" dirty="0"/>
              <a:t>()</a:t>
            </a:r>
            <a:endParaRPr lang="en-US" altLang="zh-CN" dirty="0"/>
          </a:p>
          <a:p>
            <a:pPr>
              <a:lnSpc>
                <a:spcPct val="150000"/>
              </a:lnSpc>
              <a:spcAft>
                <a:spcPts val="600"/>
              </a:spcAft>
            </a:pPr>
            <a:r>
              <a:rPr lang="zh-CN" altLang="en-US" sz="1200" dirty="0">
                <a:solidFill>
                  <a:schemeClr val="bg1"/>
                </a:solidFill>
                <a:latin typeface="Arial"/>
                <a:ea typeface="阿里巴巴普惠体 Medium"/>
                <a:cs typeface="阿里巴巴普惠体 Medium"/>
                <a:sym typeface="Arial"/>
              </a:rPr>
              <a:t>时间片轮转交互</a:t>
            </a:r>
            <a:r>
              <a:rPr lang="en-US" altLang="zh-CN" sz="1200" dirty="0">
                <a:solidFill>
                  <a:schemeClr val="bg1"/>
                </a:solidFill>
                <a:latin typeface="Arial"/>
                <a:ea typeface="阿里巴巴普惠体 Medium"/>
                <a:cs typeface="阿里巴巴普惠体 Medium"/>
                <a:sym typeface="Arial"/>
              </a:rPr>
              <a:t>-&gt;</a:t>
            </a:r>
            <a:r>
              <a:rPr lang="zh-CN" altLang="en-US" sz="1200" dirty="0">
                <a:solidFill>
                  <a:schemeClr val="bg1"/>
                </a:solidFill>
                <a:latin typeface="Arial"/>
                <a:ea typeface="阿里巴巴普惠体 Medium"/>
                <a:cs typeface="阿里巴巴普惠体 Medium"/>
                <a:sym typeface="Arial"/>
              </a:rPr>
              <a:t>指令执行</a:t>
            </a:r>
            <a:r>
              <a:rPr lang="en-US" altLang="zh-CN" sz="1200" dirty="0">
                <a:solidFill>
                  <a:schemeClr val="bg1"/>
                </a:solidFill>
                <a:latin typeface="Arial"/>
                <a:ea typeface="阿里巴巴普惠体 Medium"/>
                <a:cs typeface="阿里巴巴普惠体 Medium"/>
                <a:sym typeface="Arial"/>
              </a:rPr>
              <a:t>-&gt;</a:t>
            </a:r>
            <a:r>
              <a:rPr lang="zh-CN" altLang="en-US" sz="1200" dirty="0">
                <a:solidFill>
                  <a:schemeClr val="bg1"/>
                </a:solidFill>
                <a:latin typeface="Arial"/>
                <a:ea typeface="阿里巴巴普惠体 Medium"/>
                <a:cs typeface="阿里巴巴普惠体 Medium"/>
                <a:sym typeface="Arial"/>
              </a:rPr>
              <a:t>结果显示</a:t>
            </a:r>
          </a:p>
        </p:txBody>
      </p:sp>
      <p:sp>
        <p:nvSpPr>
          <p:cNvPr id="12" name="矩形 11"/>
          <p:cNvSpPr/>
          <p:nvPr/>
        </p:nvSpPr>
        <p:spPr>
          <a:xfrm>
            <a:off x="8412885" y="2237040"/>
            <a:ext cx="2720595" cy="873765"/>
          </a:xfrm>
          <a:prstGeom prst="rect">
            <a:avLst/>
          </a:prstGeom>
        </p:spPr>
        <p:txBody>
          <a:bodyPr wrap="square">
            <a:spAutoFit/>
          </a:bodyPr>
          <a:lstStyle/>
          <a:p>
            <a:pPr>
              <a:lnSpc>
                <a:spcPct val="150000"/>
              </a:lnSpc>
              <a:spcAft>
                <a:spcPts val="600"/>
              </a:spcAft>
            </a:pPr>
            <a:r>
              <a:rPr lang="en-US" altLang="zh-CN" sz="2000" dirty="0">
                <a:solidFill>
                  <a:schemeClr val="bg1"/>
                </a:solidFill>
                <a:latin typeface="Arial"/>
                <a:ea typeface="阿里巴巴普惠体 Medium"/>
                <a:cs typeface="阿里巴巴普惠体 Medium"/>
                <a:sym typeface="Arial"/>
              </a:rPr>
              <a:t>Resolve()</a:t>
            </a:r>
            <a:r>
              <a:rPr lang="zh-CN" altLang="en-US" sz="2000" dirty="0">
                <a:solidFill>
                  <a:schemeClr val="bg1"/>
                </a:solidFill>
                <a:latin typeface="Arial"/>
                <a:ea typeface="阿里巴巴普惠体 Medium"/>
                <a:cs typeface="阿里巴巴普惠体 Medium"/>
                <a:sym typeface="Arial"/>
              </a:rPr>
              <a:t>解析系列</a:t>
            </a:r>
            <a:endParaRPr lang="en-US" altLang="zh-CN" sz="1400" dirty="0">
              <a:solidFill>
                <a:schemeClr val="bg1"/>
              </a:solidFill>
              <a:latin typeface="Arial"/>
              <a:ea typeface="阿里巴巴普惠体 Medium"/>
              <a:cs typeface="阿里巴巴普惠体 Medium"/>
              <a:sym typeface="Arial"/>
            </a:endParaRPr>
          </a:p>
          <a:p>
            <a:pPr>
              <a:lnSpc>
                <a:spcPct val="150000"/>
              </a:lnSpc>
              <a:spcAft>
                <a:spcPts val="600"/>
              </a:spcAft>
            </a:pPr>
            <a:r>
              <a:rPr lang="zh-CN" altLang="en-US" sz="1200" dirty="0">
                <a:solidFill>
                  <a:schemeClr val="bg1"/>
                </a:solidFill>
                <a:latin typeface="Arial"/>
                <a:ea typeface="阿里巴巴普惠体 Medium"/>
                <a:cs typeface="阿里巴巴普惠体 Medium"/>
                <a:sym typeface="Arial"/>
              </a:rPr>
              <a:t>解析操作数</a:t>
            </a:r>
            <a:endParaRPr lang="zh-CN" altLang="en-US" sz="1000" dirty="0">
              <a:solidFill>
                <a:schemeClr val="bg1"/>
              </a:solidFill>
              <a:latin typeface="Arial"/>
              <a:ea typeface="阿里巴巴普惠体 Medium"/>
              <a:cs typeface="阿里巴巴普惠体 Medium"/>
              <a:sym typeface="Arial"/>
            </a:endParaRPr>
          </a:p>
        </p:txBody>
      </p:sp>
      <p:sp>
        <p:nvSpPr>
          <p:cNvPr id="13" name="矩形 12"/>
          <p:cNvSpPr/>
          <p:nvPr/>
        </p:nvSpPr>
        <p:spPr>
          <a:xfrm>
            <a:off x="2750797" y="4916869"/>
            <a:ext cx="2720595" cy="873765"/>
          </a:xfrm>
          <a:prstGeom prst="rect">
            <a:avLst/>
          </a:prstGeom>
        </p:spPr>
        <p:txBody>
          <a:bodyPr wrap="square">
            <a:spAutoFit/>
          </a:bodyPr>
          <a:lstStyle/>
          <a:p>
            <a:pPr>
              <a:lnSpc>
                <a:spcPct val="150000"/>
              </a:lnSpc>
              <a:spcAft>
                <a:spcPts val="600"/>
              </a:spcAft>
            </a:pPr>
            <a:r>
              <a:rPr lang="en-US" altLang="zh-CN" sz="2000" dirty="0">
                <a:solidFill>
                  <a:schemeClr val="bg1"/>
                </a:solidFill>
                <a:latin typeface="Arial"/>
                <a:ea typeface="阿里巴巴普惠体 Medium"/>
                <a:cs typeface="阿里巴巴普惠体 Medium"/>
                <a:sym typeface="Arial"/>
              </a:rPr>
              <a:t>Coerce</a:t>
            </a:r>
            <a:r>
              <a:rPr lang="zh-CN" altLang="en-US" sz="2000" dirty="0">
                <a:solidFill>
                  <a:schemeClr val="bg1"/>
                </a:solidFill>
                <a:latin typeface="Arial"/>
                <a:ea typeface="阿里巴巴普惠体 Medium"/>
                <a:cs typeface="阿里巴巴普惠体 Medium"/>
                <a:sym typeface="Arial"/>
              </a:rPr>
              <a:t>（）强转系列</a:t>
            </a:r>
            <a:endParaRPr lang="en-US" altLang="zh-CN" sz="2000" dirty="0">
              <a:solidFill>
                <a:schemeClr val="bg1"/>
              </a:solidFill>
              <a:latin typeface="Arial"/>
              <a:ea typeface="阿里巴巴普惠体 Medium"/>
              <a:cs typeface="阿里巴巴普惠体 Medium"/>
              <a:sym typeface="Arial"/>
            </a:endParaRPr>
          </a:p>
          <a:p>
            <a:pPr>
              <a:lnSpc>
                <a:spcPct val="150000"/>
              </a:lnSpc>
              <a:spcAft>
                <a:spcPts val="600"/>
              </a:spcAft>
            </a:pPr>
            <a:r>
              <a:rPr lang="zh-CN" altLang="en-US" sz="1200" dirty="0">
                <a:solidFill>
                  <a:schemeClr val="bg1"/>
                </a:solidFill>
                <a:latin typeface="Arial"/>
                <a:ea typeface="阿里巴巴普惠体 Medium"/>
                <a:cs typeface="阿里巴巴普惠体 Medium"/>
                <a:sym typeface="Arial"/>
              </a:rPr>
              <a:t>方便解析</a:t>
            </a:r>
          </a:p>
        </p:txBody>
      </p:sp>
      <p:sp>
        <p:nvSpPr>
          <p:cNvPr id="14" name="矩形 13"/>
          <p:cNvSpPr/>
          <p:nvPr/>
        </p:nvSpPr>
        <p:spPr>
          <a:xfrm>
            <a:off x="8412885" y="4918940"/>
            <a:ext cx="2720595" cy="873765"/>
          </a:xfrm>
          <a:prstGeom prst="rect">
            <a:avLst/>
          </a:prstGeom>
        </p:spPr>
        <p:txBody>
          <a:bodyPr wrap="square">
            <a:spAutoFit/>
          </a:bodyPr>
          <a:lstStyle/>
          <a:p>
            <a:pPr>
              <a:lnSpc>
                <a:spcPct val="150000"/>
              </a:lnSpc>
              <a:spcAft>
                <a:spcPts val="600"/>
              </a:spcAft>
            </a:pPr>
            <a:r>
              <a:rPr lang="en-US" altLang="zh-CN" sz="2000" dirty="0">
                <a:solidFill>
                  <a:schemeClr val="bg1"/>
                </a:solidFill>
                <a:latin typeface="Arial"/>
                <a:ea typeface="阿里巴巴普惠体 Medium"/>
                <a:cs typeface="阿里巴巴普惠体 Medium"/>
                <a:sym typeface="Arial"/>
              </a:rPr>
              <a:t>Get</a:t>
            </a:r>
            <a:r>
              <a:rPr lang="zh-CN" altLang="en-US" sz="2000" dirty="0">
                <a:solidFill>
                  <a:schemeClr val="bg1"/>
                </a:solidFill>
                <a:latin typeface="Arial"/>
                <a:ea typeface="阿里巴巴普惠体 Medium"/>
                <a:cs typeface="阿里巴巴普惠体 Medium"/>
                <a:sym typeface="Arial"/>
              </a:rPr>
              <a:t>（）系列</a:t>
            </a:r>
            <a:endParaRPr lang="en-US" altLang="zh-CN" sz="2000" dirty="0">
              <a:solidFill>
                <a:schemeClr val="bg1"/>
              </a:solidFill>
              <a:latin typeface="Arial"/>
              <a:ea typeface="阿里巴巴普惠体 Medium"/>
              <a:cs typeface="阿里巴巴普惠体 Medium"/>
              <a:sym typeface="Arial"/>
            </a:endParaRPr>
          </a:p>
          <a:p>
            <a:pPr>
              <a:lnSpc>
                <a:spcPct val="150000"/>
              </a:lnSpc>
              <a:spcAft>
                <a:spcPts val="600"/>
              </a:spcAft>
            </a:pPr>
            <a:r>
              <a:rPr lang="zh-CN" altLang="en-US" sz="1200" dirty="0">
                <a:solidFill>
                  <a:schemeClr val="bg1"/>
                </a:solidFill>
                <a:latin typeface="Arial"/>
                <a:ea typeface="阿里巴巴普惠体 Medium"/>
                <a:cs typeface="阿里巴巴普惠体 Medium"/>
                <a:sym typeface="Arial"/>
              </a:rPr>
              <a:t>堆栈框架加载</a:t>
            </a:r>
          </a:p>
        </p:txBody>
      </p:sp>
    </p:spTree>
  </p:cSld>
  <p:clrMapOvr>
    <a:masterClrMapping/>
  </p:clrMapOvr>
  <p:transition spd="slow" advTm="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2" presetClass="entr" presetSubtype="2" fill="hold" grpId="0"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par>
                                <p:cTn id="31" presetID="2" presetClass="entr" presetSubtype="2" fill="hold" grpId="0" nodeType="withEffect">
                                  <p:stCondLst>
                                    <p:cond delay="50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7"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1000"/>
                                        <p:tgtEl>
                                          <p:spTgt spid="4"/>
                                        </p:tgtEl>
                                      </p:cBhvr>
                                    </p:animEffect>
                                    <p:anim calcmode="lin" valueType="num">
                                      <p:cBhvr>
                                        <p:cTn id="45" dur="1000" fill="hold"/>
                                        <p:tgtEl>
                                          <p:spTgt spid="4"/>
                                        </p:tgtEl>
                                        <p:attrNameLst>
                                          <p:attrName>ppt_x</p:attrName>
                                        </p:attrNameLst>
                                      </p:cBhvr>
                                      <p:tavLst>
                                        <p:tav tm="0">
                                          <p:val>
                                            <p:strVal val="#ppt_x"/>
                                          </p:val>
                                        </p:tav>
                                        <p:tav tm="100000">
                                          <p:val>
                                            <p:strVal val="#ppt_x"/>
                                          </p:val>
                                        </p:tav>
                                      </p:tavLst>
                                    </p:anim>
                                    <p:anim calcmode="lin" valueType="num">
                                      <p:cBhvr>
                                        <p:cTn id="46" dur="1000" fill="hold"/>
                                        <p:tgtEl>
                                          <p:spTgt spid="4"/>
                                        </p:tgtEl>
                                        <p:attrNameLst>
                                          <p:attrName>ppt_y</p:attrName>
                                        </p:attrNameLst>
                                      </p:cBhvr>
                                      <p:tavLst>
                                        <p:tav tm="0">
                                          <p:val>
                                            <p:strVal val="#ppt_y+.1"/>
                                          </p:val>
                                        </p:tav>
                                        <p:tav tm="100000">
                                          <p:val>
                                            <p:strVal val="#ppt_y"/>
                                          </p:val>
                                        </p:tav>
                                      </p:tavLst>
                                    </p:anim>
                                  </p:childTnLst>
                                </p:cTn>
                              </p:par>
                              <p:par>
                                <p:cTn id="47" presetID="2" presetClass="entr" presetSubtype="2" fill="hold" grpId="0" nodeType="withEffect">
                                  <p:stCondLst>
                                    <p:cond delay="50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1+#ppt_w/2"/>
                                          </p:val>
                                        </p:tav>
                                        <p:tav tm="100000">
                                          <p:val>
                                            <p:strVal val="#ppt_x"/>
                                          </p:val>
                                        </p:tav>
                                      </p:tavLst>
                                    </p:anim>
                                    <p:anim calcmode="lin" valueType="num">
                                      <p:cBhvr additive="base">
                                        <p:cTn id="5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7"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1000"/>
                                        <p:tgtEl>
                                          <p:spTgt spid="10"/>
                                        </p:tgtEl>
                                      </p:cBhvr>
                                    </p:animEffect>
                                    <p:anim calcmode="lin" valueType="num">
                                      <p:cBhvr>
                                        <p:cTn id="56" dur="1000" fill="hold"/>
                                        <p:tgtEl>
                                          <p:spTgt spid="10"/>
                                        </p:tgtEl>
                                        <p:attrNameLst>
                                          <p:attrName>ppt_x</p:attrName>
                                        </p:attrNameLst>
                                      </p:cBhvr>
                                      <p:tavLst>
                                        <p:tav tm="0">
                                          <p:val>
                                            <p:strVal val="#ppt_x"/>
                                          </p:val>
                                        </p:tav>
                                        <p:tav tm="100000">
                                          <p:val>
                                            <p:strVal val="#ppt_x"/>
                                          </p:val>
                                        </p:tav>
                                      </p:tavLst>
                                    </p:anim>
                                    <p:anim calcmode="lin" valueType="num">
                                      <p:cBhvr>
                                        <p:cTn id="57" dur="1000" fill="hold"/>
                                        <p:tgtEl>
                                          <p:spTgt spid="1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fade">
                                      <p:cBhvr>
                                        <p:cTn id="60" dur="1000"/>
                                        <p:tgtEl>
                                          <p:spTgt spid="5"/>
                                        </p:tgtEl>
                                      </p:cBhvr>
                                    </p:animEffect>
                                    <p:anim calcmode="lin" valueType="num">
                                      <p:cBhvr>
                                        <p:cTn id="61" dur="1000" fill="hold"/>
                                        <p:tgtEl>
                                          <p:spTgt spid="5"/>
                                        </p:tgtEl>
                                        <p:attrNameLst>
                                          <p:attrName>ppt_x</p:attrName>
                                        </p:attrNameLst>
                                      </p:cBhvr>
                                      <p:tavLst>
                                        <p:tav tm="0">
                                          <p:val>
                                            <p:strVal val="#ppt_x"/>
                                          </p:val>
                                        </p:tav>
                                        <p:tav tm="100000">
                                          <p:val>
                                            <p:strVal val="#ppt_x"/>
                                          </p:val>
                                        </p:tav>
                                      </p:tavLst>
                                    </p:anim>
                                    <p:anim calcmode="lin" valueType="num">
                                      <p:cBhvr>
                                        <p:cTn id="62" dur="1000" fill="hold"/>
                                        <p:tgtEl>
                                          <p:spTgt spid="5"/>
                                        </p:tgtEl>
                                        <p:attrNameLst>
                                          <p:attrName>ppt_y</p:attrName>
                                        </p:attrNameLst>
                                      </p:cBhvr>
                                      <p:tavLst>
                                        <p:tav tm="0">
                                          <p:val>
                                            <p:strVal val="#ppt_y+.1"/>
                                          </p:val>
                                        </p:tav>
                                        <p:tav tm="100000">
                                          <p:val>
                                            <p:strVal val="#ppt_y"/>
                                          </p:val>
                                        </p:tav>
                                      </p:tavLst>
                                    </p:anim>
                                  </p:childTnLst>
                                </p:cTn>
                              </p:par>
                              <p:par>
                                <p:cTn id="63" presetID="2" presetClass="entr" presetSubtype="2" fill="hold" grpId="0" nodeType="withEffect">
                                  <p:stCondLst>
                                    <p:cond delay="500"/>
                                  </p:stCondLst>
                                  <p:childTnLst>
                                    <p:set>
                                      <p:cBhvr>
                                        <p:cTn id="64" dur="1" fill="hold">
                                          <p:stCondLst>
                                            <p:cond delay="0"/>
                                          </p:stCondLst>
                                        </p:cTn>
                                        <p:tgtEl>
                                          <p:spTgt spid="14"/>
                                        </p:tgtEl>
                                        <p:attrNameLst>
                                          <p:attrName>style.visibility</p:attrName>
                                        </p:attrNameLst>
                                      </p:cBhvr>
                                      <p:to>
                                        <p:strVal val="visible"/>
                                      </p:to>
                                    </p:set>
                                    <p:anim calcmode="lin" valueType="num">
                                      <p:cBhvr additive="base">
                                        <p:cTn id="65" dur="500" fill="hold"/>
                                        <p:tgtEl>
                                          <p:spTgt spid="14"/>
                                        </p:tgtEl>
                                        <p:attrNameLst>
                                          <p:attrName>ppt_x</p:attrName>
                                        </p:attrNameLst>
                                      </p:cBhvr>
                                      <p:tavLst>
                                        <p:tav tm="0">
                                          <p:val>
                                            <p:strVal val="1+#ppt_w/2"/>
                                          </p:val>
                                        </p:tav>
                                        <p:tav tm="100000">
                                          <p:val>
                                            <p:strVal val="#ppt_x"/>
                                          </p:val>
                                        </p:tav>
                                      </p:tavLst>
                                    </p:anim>
                                    <p:anim calcmode="lin" valueType="num">
                                      <p:cBhvr additive="base">
                                        <p:cTn id="66"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P spid="7" grpId="0" bldLvl="0" animBg="1"/>
      <p:bldP spid="8" grpId="0" bldLvl="0" animBg="1"/>
      <p:bldP spid="9" grpId="0" bldLvl="0" animBg="1"/>
      <p:bldP spid="10" grpId="0" bldLvl="0" animBg="1"/>
      <p:bldP spid="11" grpId="0"/>
      <p:bldP spid="12"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00939" y="442064"/>
            <a:ext cx="4273826" cy="769441"/>
          </a:xfrm>
          <a:prstGeom prst="rect">
            <a:avLst/>
          </a:prstGeom>
          <a:noFill/>
        </p:spPr>
        <p:txBody>
          <a:bodyPr wrap="square" rtlCol="0">
            <a:spAutoFit/>
          </a:bodyPr>
          <a:lstStyle/>
          <a:p>
            <a:pPr algn="ctr"/>
            <a:r>
              <a:rPr lang="zh-CN" altLang="en-US" sz="4400" b="1" dirty="0">
                <a:solidFill>
                  <a:schemeClr val="bg1"/>
                </a:solidFill>
                <a:latin typeface="Arial"/>
                <a:ea typeface="阿里巴巴普惠体 Medium"/>
                <a:cs typeface="阿里巴巴普惠体 Medium"/>
                <a:sym typeface="Arial"/>
              </a:rPr>
              <a:t>严格的命名规范</a:t>
            </a:r>
          </a:p>
        </p:txBody>
      </p:sp>
      <p:pic>
        <p:nvPicPr>
          <p:cNvPr id="3" name="图片 2"/>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a:off x="8702566" y="2005965"/>
            <a:ext cx="3019685" cy="4888230"/>
          </a:xfrm>
          <a:prstGeom prst="rect">
            <a:avLst/>
          </a:prstGeom>
        </p:spPr>
      </p:pic>
      <p:sp>
        <p:nvSpPr>
          <p:cNvPr id="4" name="矩形 3"/>
          <p:cNvSpPr/>
          <p:nvPr/>
        </p:nvSpPr>
        <p:spPr>
          <a:xfrm>
            <a:off x="3866697" y="1733550"/>
            <a:ext cx="7313112" cy="398145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sp>
        <p:nvSpPr>
          <p:cNvPr id="6" name="文本框 5"/>
          <p:cNvSpPr txBox="1"/>
          <p:nvPr/>
        </p:nvSpPr>
        <p:spPr>
          <a:xfrm>
            <a:off x="264530" y="462342"/>
            <a:ext cx="22343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spc="600" noProof="0" dirty="0">
                <a:solidFill>
                  <a:schemeClr val="bg1"/>
                </a:solidFill>
                <a:latin typeface="Arial"/>
                <a:ea typeface="阿里巴巴普惠体 Medium"/>
                <a:cs typeface="阿里巴巴普惠体 Medium"/>
                <a:sym typeface="Arial"/>
              </a:rPr>
              <a:t>结构体命名标准</a:t>
            </a:r>
            <a:endParaRPr kumimoji="0" lang="zh-CN" altLang="en-US" sz="2400" i="0" u="none" strike="noStrike" kern="1200" cap="all" spc="600" normalizeH="0" baseline="0" noProof="0" dirty="0">
              <a:ln>
                <a:noFill/>
              </a:ln>
              <a:solidFill>
                <a:schemeClr val="bg1"/>
              </a:solidFill>
              <a:effectLst/>
              <a:uLnTx/>
              <a:uFillTx/>
              <a:latin typeface="Arial"/>
              <a:ea typeface="阿里巴巴普惠体 Medium"/>
              <a:cs typeface="阿里巴巴普惠体 Medium"/>
              <a:sym typeface="Arial"/>
            </a:endParaRPr>
          </a:p>
        </p:txBody>
      </p:sp>
      <p:sp>
        <p:nvSpPr>
          <p:cNvPr id="7" name="TextBox 34"/>
          <p:cNvSpPr txBox="1"/>
          <p:nvPr/>
        </p:nvSpPr>
        <p:spPr>
          <a:xfrm>
            <a:off x="264529" y="1133031"/>
            <a:ext cx="2735577" cy="375552"/>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rPr>
              <a:t>以全大写标注</a:t>
            </a:r>
            <a:endParaRPr kumimoji="0" 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endParaRPr>
          </a:p>
        </p:txBody>
      </p:sp>
      <p:sp>
        <p:nvSpPr>
          <p:cNvPr id="12" name="文本框 11">
            <a:extLst>
              <a:ext uri="{FF2B5EF4-FFF2-40B4-BE49-F238E27FC236}">
                <a16:creationId xmlns:a16="http://schemas.microsoft.com/office/drawing/2014/main" id="{DDF0CA5A-4FC3-F204-4AFC-749D231EDEAE}"/>
              </a:ext>
            </a:extLst>
          </p:cNvPr>
          <p:cNvSpPr txBox="1"/>
          <p:nvPr/>
        </p:nvSpPr>
        <p:spPr>
          <a:xfrm>
            <a:off x="263384" y="1502438"/>
            <a:ext cx="22343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spc="600" noProof="0" dirty="0">
                <a:solidFill>
                  <a:schemeClr val="bg1"/>
                </a:solidFill>
                <a:latin typeface="Arial"/>
                <a:ea typeface="阿里巴巴普惠体 Medium"/>
                <a:cs typeface="阿里巴巴普惠体 Medium"/>
                <a:sym typeface="Arial"/>
              </a:rPr>
              <a:t>宏与宏函数命名标准</a:t>
            </a:r>
            <a:endParaRPr kumimoji="0" lang="zh-CN" altLang="en-US" sz="2400" i="0" u="none" strike="noStrike" kern="1200" cap="all" spc="600" normalizeH="0" baseline="0" noProof="0" dirty="0">
              <a:ln>
                <a:noFill/>
              </a:ln>
              <a:solidFill>
                <a:schemeClr val="bg1"/>
              </a:solidFill>
              <a:effectLst/>
              <a:uLnTx/>
              <a:uFillTx/>
              <a:latin typeface="Arial"/>
              <a:ea typeface="阿里巴巴普惠体 Medium"/>
              <a:cs typeface="阿里巴巴普惠体 Medium"/>
              <a:sym typeface="Arial"/>
            </a:endParaRPr>
          </a:p>
        </p:txBody>
      </p:sp>
      <p:sp>
        <p:nvSpPr>
          <p:cNvPr id="13" name="TextBox 34">
            <a:extLst>
              <a:ext uri="{FF2B5EF4-FFF2-40B4-BE49-F238E27FC236}">
                <a16:creationId xmlns:a16="http://schemas.microsoft.com/office/drawing/2014/main" id="{960C3025-9E8E-8A0C-B686-00C89D3B05F9}"/>
              </a:ext>
            </a:extLst>
          </p:cNvPr>
          <p:cNvSpPr txBox="1"/>
          <p:nvPr/>
        </p:nvSpPr>
        <p:spPr>
          <a:xfrm>
            <a:off x="264529" y="2178385"/>
            <a:ext cx="2735577" cy="375552"/>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rPr>
              <a:t>全大写</a:t>
            </a:r>
            <a:r>
              <a:rPr kumimoji="0" lang="en-US" altLang="zh-CN"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rPr>
              <a:t>+</a:t>
            </a:r>
            <a:r>
              <a:rPr kumimoji="0" lang="zh-CN" alt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rPr>
              <a:t>下划线标注</a:t>
            </a:r>
            <a:endParaRPr kumimoji="0" 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endParaRPr>
          </a:p>
        </p:txBody>
      </p:sp>
      <p:sp>
        <p:nvSpPr>
          <p:cNvPr id="14" name="文本框 13">
            <a:extLst>
              <a:ext uri="{FF2B5EF4-FFF2-40B4-BE49-F238E27FC236}">
                <a16:creationId xmlns:a16="http://schemas.microsoft.com/office/drawing/2014/main" id="{1375303E-9768-F4C0-9D0F-693C537238CE}"/>
              </a:ext>
            </a:extLst>
          </p:cNvPr>
          <p:cNvSpPr txBox="1"/>
          <p:nvPr/>
        </p:nvSpPr>
        <p:spPr>
          <a:xfrm>
            <a:off x="239179" y="4077021"/>
            <a:ext cx="22343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spc="600" noProof="0" dirty="0">
                <a:solidFill>
                  <a:schemeClr val="bg1"/>
                </a:solidFill>
                <a:latin typeface="Arial"/>
                <a:ea typeface="阿里巴巴普惠体 Medium"/>
                <a:cs typeface="阿里巴巴普惠体 Medium"/>
                <a:sym typeface="Arial"/>
              </a:rPr>
              <a:t>局部变量命名标准</a:t>
            </a:r>
            <a:endParaRPr kumimoji="0" lang="zh-CN" altLang="en-US" sz="2400" i="0" u="none" strike="noStrike" kern="1200" cap="all" spc="600" normalizeH="0" baseline="0" noProof="0" dirty="0">
              <a:ln>
                <a:noFill/>
              </a:ln>
              <a:solidFill>
                <a:schemeClr val="bg1"/>
              </a:solidFill>
              <a:effectLst/>
              <a:uLnTx/>
              <a:uFillTx/>
              <a:latin typeface="Arial"/>
              <a:ea typeface="阿里巴巴普惠体 Medium"/>
              <a:cs typeface="阿里巴巴普惠体 Medium"/>
              <a:sym typeface="Arial"/>
            </a:endParaRPr>
          </a:p>
        </p:txBody>
      </p:sp>
      <p:sp>
        <p:nvSpPr>
          <p:cNvPr id="15" name="TextBox 34">
            <a:extLst>
              <a:ext uri="{FF2B5EF4-FFF2-40B4-BE49-F238E27FC236}">
                <a16:creationId xmlns:a16="http://schemas.microsoft.com/office/drawing/2014/main" id="{27B1508C-9F70-6261-3B5E-F26876EFFA9A}"/>
              </a:ext>
            </a:extLst>
          </p:cNvPr>
          <p:cNvSpPr txBox="1"/>
          <p:nvPr/>
        </p:nvSpPr>
        <p:spPr>
          <a:xfrm>
            <a:off x="254899" y="4707764"/>
            <a:ext cx="2735577" cy="696794"/>
          </a:xfrm>
          <a:prstGeom prst="rect">
            <a:avLst/>
          </a:prstGeom>
          <a:noFill/>
        </p:spPr>
        <p:txBody>
          <a:bodyPr wrap="square" rtlCol="0">
            <a:spAutoFit/>
          </a:bodyPr>
          <a:lstStyle/>
          <a:p>
            <a:pPr lvl="0">
              <a:lnSpc>
                <a:spcPct val="150000"/>
              </a:lnSpc>
              <a:defRPr/>
            </a:pPr>
            <a:r>
              <a:rPr lang="zh-CN" altLang="en-US" sz="1400" dirty="0">
                <a:solidFill>
                  <a:schemeClr val="bg1"/>
                </a:solidFill>
                <a:latin typeface="Arial"/>
                <a:ea typeface="阿里巴巴普惠体 Medium"/>
                <a:cs typeface="阿里巴巴普惠体 Medium"/>
                <a:sym typeface="Arial"/>
              </a:rPr>
              <a:t>类型缩写</a:t>
            </a:r>
            <a:r>
              <a:rPr lang="en-US" altLang="zh-CN" sz="1400" dirty="0">
                <a:solidFill>
                  <a:schemeClr val="bg1"/>
                </a:solidFill>
                <a:latin typeface="Arial"/>
                <a:ea typeface="阿里巴巴普惠体 Medium"/>
                <a:cs typeface="阿里巴巴普惠体 Medium"/>
                <a:sym typeface="Arial"/>
              </a:rPr>
              <a:t>+</a:t>
            </a:r>
            <a:r>
              <a:rPr lang="zh-CN" altLang="en-US" sz="1400" dirty="0">
                <a:solidFill>
                  <a:schemeClr val="bg1"/>
                </a:solidFill>
                <a:latin typeface="Arial"/>
                <a:ea typeface="阿里巴巴普惠体 Medium"/>
                <a:cs typeface="阿里巴巴普惠体 Medium"/>
                <a:sym typeface="Arial"/>
              </a:rPr>
              <a:t>大小写变量名，见名知意</a:t>
            </a:r>
            <a:endParaRPr kumimoji="0" 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endParaRPr>
          </a:p>
        </p:txBody>
      </p:sp>
      <p:sp>
        <p:nvSpPr>
          <p:cNvPr id="16" name="文本框 15">
            <a:extLst>
              <a:ext uri="{FF2B5EF4-FFF2-40B4-BE49-F238E27FC236}">
                <a16:creationId xmlns:a16="http://schemas.microsoft.com/office/drawing/2014/main" id="{B3CB373C-4EA1-842D-963E-4F40191C0E9D}"/>
              </a:ext>
            </a:extLst>
          </p:cNvPr>
          <p:cNvSpPr txBox="1"/>
          <p:nvPr/>
        </p:nvSpPr>
        <p:spPr>
          <a:xfrm>
            <a:off x="249171" y="2585053"/>
            <a:ext cx="22343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spc="600" dirty="0">
                <a:solidFill>
                  <a:schemeClr val="bg1"/>
                </a:solidFill>
                <a:latin typeface="Arial"/>
                <a:ea typeface="阿里巴巴普惠体 Medium"/>
                <a:cs typeface="阿里巴巴普惠体 Medium"/>
                <a:sym typeface="Arial"/>
              </a:rPr>
              <a:t>全局变量</a:t>
            </a:r>
            <a:r>
              <a:rPr lang="zh-CN" altLang="en-US" sz="2400" spc="600" noProof="0" dirty="0">
                <a:solidFill>
                  <a:schemeClr val="bg1"/>
                </a:solidFill>
                <a:latin typeface="Arial"/>
                <a:ea typeface="阿里巴巴普惠体 Medium"/>
                <a:cs typeface="阿里巴巴普惠体 Medium"/>
                <a:sym typeface="Arial"/>
              </a:rPr>
              <a:t>命名标准</a:t>
            </a:r>
            <a:endParaRPr kumimoji="0" lang="zh-CN" altLang="en-US" sz="2400" i="0" u="none" strike="noStrike" kern="1200" cap="all" spc="600" normalizeH="0" baseline="0" noProof="0" dirty="0">
              <a:ln>
                <a:noFill/>
              </a:ln>
              <a:solidFill>
                <a:schemeClr val="bg1"/>
              </a:solidFill>
              <a:effectLst/>
              <a:uLnTx/>
              <a:uFillTx/>
              <a:latin typeface="Arial"/>
              <a:ea typeface="阿里巴巴普惠体 Medium"/>
              <a:cs typeface="阿里巴巴普惠体 Medium"/>
              <a:sym typeface="Arial"/>
            </a:endParaRPr>
          </a:p>
        </p:txBody>
      </p:sp>
      <p:sp>
        <p:nvSpPr>
          <p:cNvPr id="17" name="TextBox 34">
            <a:extLst>
              <a:ext uri="{FF2B5EF4-FFF2-40B4-BE49-F238E27FC236}">
                <a16:creationId xmlns:a16="http://schemas.microsoft.com/office/drawing/2014/main" id="{32F4053C-825C-6A36-834C-926527A872B8}"/>
              </a:ext>
            </a:extLst>
          </p:cNvPr>
          <p:cNvSpPr txBox="1"/>
          <p:nvPr/>
        </p:nvSpPr>
        <p:spPr>
          <a:xfrm>
            <a:off x="249171" y="3260360"/>
            <a:ext cx="2735577" cy="696794"/>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rPr>
              <a:t>Global</a:t>
            </a:r>
            <a:r>
              <a:rPr kumimoji="0" lang="zh-CN" alt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rPr>
              <a:t>前缀</a:t>
            </a:r>
            <a:r>
              <a:rPr kumimoji="0" lang="en-US" altLang="zh-CN"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rPr>
              <a:t>+</a:t>
            </a:r>
            <a:r>
              <a:rPr kumimoji="0" lang="zh-CN" alt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rPr>
              <a:t>类型缩写</a:t>
            </a:r>
            <a:r>
              <a:rPr kumimoji="0" lang="en-US" altLang="zh-CN"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rPr>
              <a:t>+</a:t>
            </a:r>
            <a:r>
              <a:rPr kumimoji="0" lang="zh-CN" alt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rPr>
              <a:t>大小写变量名，见名知意</a:t>
            </a:r>
            <a:endParaRPr kumimoji="0" 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endParaRPr>
          </a:p>
        </p:txBody>
      </p:sp>
      <p:pic>
        <p:nvPicPr>
          <p:cNvPr id="19" name="图片 18">
            <a:extLst>
              <a:ext uri="{FF2B5EF4-FFF2-40B4-BE49-F238E27FC236}">
                <a16:creationId xmlns:a16="http://schemas.microsoft.com/office/drawing/2014/main" id="{D87DE985-7BA3-0FC5-1949-FDF0E18188AB}"/>
              </a:ext>
            </a:extLst>
          </p:cNvPr>
          <p:cNvPicPr>
            <a:picLocks noChangeAspect="1"/>
          </p:cNvPicPr>
          <p:nvPr/>
        </p:nvPicPr>
        <p:blipFill>
          <a:blip r:embed="rId3"/>
          <a:stretch>
            <a:fillRect/>
          </a:stretch>
        </p:blipFill>
        <p:spPr>
          <a:xfrm>
            <a:off x="8199080" y="1752601"/>
            <a:ext cx="1634228" cy="2140060"/>
          </a:xfrm>
          <a:prstGeom prst="rect">
            <a:avLst/>
          </a:prstGeom>
        </p:spPr>
      </p:pic>
      <p:pic>
        <p:nvPicPr>
          <p:cNvPr id="21" name="图片 20">
            <a:extLst>
              <a:ext uri="{FF2B5EF4-FFF2-40B4-BE49-F238E27FC236}">
                <a16:creationId xmlns:a16="http://schemas.microsoft.com/office/drawing/2014/main" id="{1FE33AD1-29A4-D30B-EEE4-2CB131EC2310}"/>
              </a:ext>
            </a:extLst>
          </p:cNvPr>
          <p:cNvPicPr>
            <a:picLocks noChangeAspect="1"/>
          </p:cNvPicPr>
          <p:nvPr/>
        </p:nvPicPr>
        <p:blipFill>
          <a:blip r:embed="rId4"/>
          <a:stretch>
            <a:fillRect/>
          </a:stretch>
        </p:blipFill>
        <p:spPr>
          <a:xfrm>
            <a:off x="3866697" y="1733550"/>
            <a:ext cx="3800471" cy="1928597"/>
          </a:xfrm>
          <a:prstGeom prst="rect">
            <a:avLst/>
          </a:prstGeom>
        </p:spPr>
      </p:pic>
      <p:pic>
        <p:nvPicPr>
          <p:cNvPr id="23" name="图片 22">
            <a:extLst>
              <a:ext uri="{FF2B5EF4-FFF2-40B4-BE49-F238E27FC236}">
                <a16:creationId xmlns:a16="http://schemas.microsoft.com/office/drawing/2014/main" id="{D07BD640-2081-CC14-63C7-7DF02B0B36F9}"/>
              </a:ext>
            </a:extLst>
          </p:cNvPr>
          <p:cNvPicPr>
            <a:picLocks noChangeAspect="1"/>
          </p:cNvPicPr>
          <p:nvPr/>
        </p:nvPicPr>
        <p:blipFill>
          <a:blip r:embed="rId5"/>
          <a:stretch>
            <a:fillRect/>
          </a:stretch>
        </p:blipFill>
        <p:spPr>
          <a:xfrm>
            <a:off x="3936173" y="3662147"/>
            <a:ext cx="2682617" cy="2043898"/>
          </a:xfrm>
          <a:prstGeom prst="rect">
            <a:avLst/>
          </a:prstGeom>
        </p:spPr>
      </p:pic>
      <p:pic>
        <p:nvPicPr>
          <p:cNvPr id="25" name="图片 24">
            <a:extLst>
              <a:ext uri="{FF2B5EF4-FFF2-40B4-BE49-F238E27FC236}">
                <a16:creationId xmlns:a16="http://schemas.microsoft.com/office/drawing/2014/main" id="{33FBDC5E-6B9A-4BF7-54E4-36000CB13AAA}"/>
              </a:ext>
            </a:extLst>
          </p:cNvPr>
          <p:cNvPicPr>
            <a:picLocks noChangeAspect="1"/>
          </p:cNvPicPr>
          <p:nvPr/>
        </p:nvPicPr>
        <p:blipFill>
          <a:blip r:embed="rId6"/>
          <a:stretch>
            <a:fillRect/>
          </a:stretch>
        </p:blipFill>
        <p:spPr>
          <a:xfrm>
            <a:off x="6568831" y="3866610"/>
            <a:ext cx="4076910" cy="596931"/>
          </a:xfrm>
          <a:prstGeom prst="rect">
            <a:avLst/>
          </a:prstGeom>
        </p:spPr>
      </p:pic>
      <p:sp>
        <p:nvSpPr>
          <p:cNvPr id="28" name="文本框 27">
            <a:extLst>
              <a:ext uri="{FF2B5EF4-FFF2-40B4-BE49-F238E27FC236}">
                <a16:creationId xmlns:a16="http://schemas.microsoft.com/office/drawing/2014/main" id="{07621D93-F220-FE06-812E-0F70A85D20DC}"/>
              </a:ext>
            </a:extLst>
          </p:cNvPr>
          <p:cNvSpPr txBox="1"/>
          <p:nvPr/>
        </p:nvSpPr>
        <p:spPr>
          <a:xfrm>
            <a:off x="236272" y="5404558"/>
            <a:ext cx="22343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spc="600" noProof="0" dirty="0">
                <a:solidFill>
                  <a:schemeClr val="bg1"/>
                </a:solidFill>
                <a:latin typeface="Arial"/>
                <a:ea typeface="阿里巴巴普惠体 Medium"/>
                <a:cs typeface="阿里巴巴普惠体 Medium"/>
                <a:sym typeface="Arial"/>
              </a:rPr>
              <a:t>特殊类型命名标准</a:t>
            </a:r>
            <a:endParaRPr kumimoji="0" lang="zh-CN" altLang="en-US" sz="2400" i="0" u="none" strike="noStrike" kern="1200" cap="all" spc="600" normalizeH="0" baseline="0" noProof="0" dirty="0">
              <a:ln>
                <a:noFill/>
              </a:ln>
              <a:solidFill>
                <a:schemeClr val="bg1"/>
              </a:solidFill>
              <a:effectLst/>
              <a:uLnTx/>
              <a:uFillTx/>
              <a:latin typeface="Arial"/>
              <a:ea typeface="阿里巴巴普惠体 Medium"/>
              <a:cs typeface="阿里巴巴普惠体 Medium"/>
              <a:sym typeface="Arial"/>
            </a:endParaRPr>
          </a:p>
        </p:txBody>
      </p:sp>
      <p:sp>
        <p:nvSpPr>
          <p:cNvPr id="29" name="TextBox 34">
            <a:extLst>
              <a:ext uri="{FF2B5EF4-FFF2-40B4-BE49-F238E27FC236}">
                <a16:creationId xmlns:a16="http://schemas.microsoft.com/office/drawing/2014/main" id="{42470401-7AE4-0EA7-2174-1CD8C5A1A893}"/>
              </a:ext>
            </a:extLst>
          </p:cNvPr>
          <p:cNvSpPr txBox="1"/>
          <p:nvPr/>
        </p:nvSpPr>
        <p:spPr>
          <a:xfrm>
            <a:off x="270422" y="6035301"/>
            <a:ext cx="2735577" cy="383118"/>
          </a:xfrm>
          <a:prstGeom prst="rect">
            <a:avLst/>
          </a:prstGeom>
          <a:noFill/>
        </p:spPr>
        <p:txBody>
          <a:bodyPr wrap="square" rtlCol="0">
            <a:spAutoFit/>
          </a:bodyPr>
          <a:lstStyle/>
          <a:p>
            <a:pPr lvl="0">
              <a:lnSpc>
                <a:spcPct val="150000"/>
              </a:lnSpc>
              <a:defRPr/>
            </a:pPr>
            <a:r>
              <a:rPr lang="zh-CN" altLang="en-US" sz="1400" dirty="0">
                <a:solidFill>
                  <a:schemeClr val="bg1"/>
                </a:solidFill>
                <a:latin typeface="Arial"/>
                <a:ea typeface="阿里巴巴普惠体 Medium"/>
                <a:cs typeface="阿里巴巴普惠体 Medium"/>
                <a:sym typeface="Arial"/>
              </a:rPr>
              <a:t>类型全称</a:t>
            </a:r>
            <a:r>
              <a:rPr lang="en-US" altLang="zh-CN" sz="1400" dirty="0">
                <a:solidFill>
                  <a:schemeClr val="bg1"/>
                </a:solidFill>
                <a:latin typeface="Arial"/>
                <a:ea typeface="阿里巴巴普惠体 Medium"/>
                <a:cs typeface="阿里巴巴普惠体 Medium"/>
                <a:sym typeface="Arial"/>
              </a:rPr>
              <a:t>+</a:t>
            </a:r>
            <a:r>
              <a:rPr lang="zh-CN" altLang="en-US" sz="1400" dirty="0">
                <a:solidFill>
                  <a:schemeClr val="bg1"/>
                </a:solidFill>
                <a:latin typeface="Arial"/>
                <a:ea typeface="阿里巴巴普惠体 Medium"/>
                <a:cs typeface="阿里巴巴普惠体 Medium"/>
                <a:sym typeface="Arial"/>
              </a:rPr>
              <a:t>全大写变量名</a:t>
            </a:r>
            <a:endParaRPr kumimoji="0" lang="en-US" sz="1400"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endParaRPr>
          </a:p>
        </p:txBody>
      </p:sp>
    </p:spTree>
  </p:cSld>
  <p:clrMapOvr>
    <a:masterClrMapping/>
  </p:clrMapOvr>
  <p:transition spd="slow" advTm="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0-#ppt_w/2"/>
                                          </p:val>
                                        </p:tav>
                                        <p:tav tm="100000">
                                          <p:val>
                                            <p:strVal val="#ppt_x"/>
                                          </p:val>
                                        </p:tav>
                                      </p:tavLst>
                                    </p:anim>
                                    <p:anim calcmode="lin" valueType="num">
                                      <p:cBhvr additive="base">
                                        <p:cTn id="17"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0-#ppt_w/2"/>
                                          </p:val>
                                        </p:tav>
                                        <p:tav tm="100000">
                                          <p:val>
                                            <p:strVal val="#ppt_x"/>
                                          </p:val>
                                        </p:tav>
                                      </p:tavLst>
                                    </p:anim>
                                    <p:anim calcmode="lin" valueType="num">
                                      <p:cBhvr additive="base">
                                        <p:cTn id="23" dur="500" fill="hold"/>
                                        <p:tgtEl>
                                          <p:spTgt spid="12"/>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0-#ppt_w/2"/>
                                          </p:val>
                                        </p:tav>
                                        <p:tav tm="100000">
                                          <p:val>
                                            <p:strVal val="#ppt_x"/>
                                          </p:val>
                                        </p:tav>
                                      </p:tavLst>
                                    </p:anim>
                                    <p:anim calcmode="lin" valueType="num">
                                      <p:cBhvr additive="base">
                                        <p:cTn id="27"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0-#ppt_w/2"/>
                                          </p:val>
                                        </p:tav>
                                        <p:tav tm="100000">
                                          <p:val>
                                            <p:strVal val="#ppt_x"/>
                                          </p:val>
                                        </p:tav>
                                      </p:tavLst>
                                    </p:anim>
                                    <p:anim calcmode="lin" valueType="num">
                                      <p:cBhvr additive="base">
                                        <p:cTn id="33" dur="500" fill="hold"/>
                                        <p:tgtEl>
                                          <p:spTgt spid="14"/>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0-#ppt_w/2"/>
                                          </p:val>
                                        </p:tav>
                                        <p:tav tm="100000">
                                          <p:val>
                                            <p:strVal val="#ppt_x"/>
                                          </p:val>
                                        </p:tav>
                                      </p:tavLst>
                                    </p:anim>
                                    <p:anim calcmode="lin" valueType="num">
                                      <p:cBhvr additive="base">
                                        <p:cTn id="37"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0-#ppt_w/2"/>
                                          </p:val>
                                        </p:tav>
                                        <p:tav tm="100000">
                                          <p:val>
                                            <p:strVal val="#ppt_x"/>
                                          </p:val>
                                        </p:tav>
                                      </p:tavLst>
                                    </p:anim>
                                    <p:anim calcmode="lin" valueType="num">
                                      <p:cBhvr additive="base">
                                        <p:cTn id="43" dur="500" fill="hold"/>
                                        <p:tgtEl>
                                          <p:spTgt spid="16"/>
                                        </p:tgtEl>
                                        <p:attrNameLst>
                                          <p:attrName>ppt_y</p:attrName>
                                        </p:attrNameLst>
                                      </p:cBhvr>
                                      <p:tavLst>
                                        <p:tav tm="0">
                                          <p:val>
                                            <p:strVal val="#ppt_y"/>
                                          </p:val>
                                        </p:tav>
                                        <p:tav tm="100000">
                                          <p:val>
                                            <p:strVal val="#ppt_y"/>
                                          </p:val>
                                        </p:tav>
                                      </p:tavLst>
                                    </p:anim>
                                  </p:childTnLst>
                                </p:cTn>
                              </p:par>
                              <p:par>
                                <p:cTn id="44" presetID="2" presetClass="entr" presetSubtype="8"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0-#ppt_w/2"/>
                                          </p:val>
                                        </p:tav>
                                        <p:tav tm="100000">
                                          <p:val>
                                            <p:strVal val="#ppt_x"/>
                                          </p:val>
                                        </p:tav>
                                      </p:tavLst>
                                    </p:anim>
                                    <p:anim calcmode="lin" valueType="num">
                                      <p:cBhvr additive="base">
                                        <p:cTn id="47"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 calcmode="lin" valueType="num">
                                      <p:cBhvr additive="base">
                                        <p:cTn id="52" dur="500" fill="hold"/>
                                        <p:tgtEl>
                                          <p:spTgt spid="28"/>
                                        </p:tgtEl>
                                        <p:attrNameLst>
                                          <p:attrName>ppt_x</p:attrName>
                                        </p:attrNameLst>
                                      </p:cBhvr>
                                      <p:tavLst>
                                        <p:tav tm="0">
                                          <p:val>
                                            <p:strVal val="0-#ppt_w/2"/>
                                          </p:val>
                                        </p:tav>
                                        <p:tav tm="100000">
                                          <p:val>
                                            <p:strVal val="#ppt_x"/>
                                          </p:val>
                                        </p:tav>
                                      </p:tavLst>
                                    </p:anim>
                                    <p:anim calcmode="lin" valueType="num">
                                      <p:cBhvr additive="base">
                                        <p:cTn id="53" dur="500" fill="hold"/>
                                        <p:tgtEl>
                                          <p:spTgt spid="28"/>
                                        </p:tgtEl>
                                        <p:attrNameLst>
                                          <p:attrName>ppt_y</p:attrName>
                                        </p:attrNameLst>
                                      </p:cBhvr>
                                      <p:tavLst>
                                        <p:tav tm="0">
                                          <p:val>
                                            <p:strVal val="#ppt_y"/>
                                          </p:val>
                                        </p:tav>
                                        <p:tav tm="100000">
                                          <p:val>
                                            <p:strVal val="#ppt_y"/>
                                          </p:val>
                                        </p:tav>
                                      </p:tavLst>
                                    </p:anim>
                                  </p:childTnLst>
                                </p:cTn>
                              </p:par>
                              <p:par>
                                <p:cTn id="54" presetID="2" presetClass="entr" presetSubtype="8"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additive="base">
                                        <p:cTn id="56" dur="500" fill="hold"/>
                                        <p:tgtEl>
                                          <p:spTgt spid="29"/>
                                        </p:tgtEl>
                                        <p:attrNameLst>
                                          <p:attrName>ppt_x</p:attrName>
                                        </p:attrNameLst>
                                      </p:cBhvr>
                                      <p:tavLst>
                                        <p:tav tm="0">
                                          <p:val>
                                            <p:strVal val="0-#ppt_w/2"/>
                                          </p:val>
                                        </p:tav>
                                        <p:tav tm="100000">
                                          <p:val>
                                            <p:strVal val="#ppt_x"/>
                                          </p:val>
                                        </p:tav>
                                      </p:tavLst>
                                    </p:anim>
                                    <p:anim calcmode="lin" valueType="num">
                                      <p:cBhvr additive="base">
                                        <p:cTn id="57"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p:bldP spid="7" grpId="0"/>
      <p:bldP spid="12" grpId="0"/>
      <p:bldP spid="13" grpId="0"/>
      <p:bldP spid="14" grpId="0"/>
      <p:bldP spid="15" grpId="0"/>
      <p:bldP spid="16" grpId="0"/>
      <p:bldP spid="17" grpId="0"/>
      <p:bldP spid="28" grpId="0"/>
      <p:bldP spid="2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61900" y="622087"/>
            <a:ext cx="5796743" cy="5401479"/>
          </a:xfrm>
          <a:prstGeom prst="rect">
            <a:avLst/>
          </a:prstGeom>
          <a:noFill/>
        </p:spPr>
        <p:txBody>
          <a:bodyPr wrap="square" rtlCol="0">
            <a:spAutoFit/>
          </a:bodyPr>
          <a:lstStyle/>
          <a:p>
            <a:pPr algn="r"/>
            <a:r>
              <a:rPr lang="zh-CN" altLang="en-US" sz="11500" dirty="0">
                <a:blipFill>
                  <a:blip r:embed="rId2"/>
                  <a:stretch>
                    <a:fillRect/>
                  </a:stretch>
                </a:blipFill>
                <a:effectLst>
                  <a:outerShdw blurRad="38100" dist="38100" dir="2700000" algn="tl">
                    <a:srgbClr val="000000">
                      <a:alpha val="35000"/>
                    </a:srgbClr>
                  </a:outerShdw>
                </a:effectLst>
                <a:latin typeface="Arial"/>
                <a:ea typeface="阿里巴巴普惠体 Medium"/>
                <a:cs typeface="阿里巴巴普惠体 Medium"/>
                <a:sym typeface="Arial"/>
              </a:rPr>
              <a:t>所有结构及功能解释</a:t>
            </a:r>
          </a:p>
        </p:txBody>
      </p:sp>
      <p:sp>
        <p:nvSpPr>
          <p:cNvPr id="8" name="矩形 7"/>
          <p:cNvSpPr/>
          <p:nvPr/>
        </p:nvSpPr>
        <p:spPr>
          <a:xfrm>
            <a:off x="6233357" y="0"/>
            <a:ext cx="5958643" cy="6858000"/>
          </a:xfrm>
          <a:prstGeom prst="rect">
            <a:avLst/>
          </a:prstGeom>
          <a:solidFill>
            <a:srgbClr val="FBF1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9" name="TextBox 7"/>
          <p:cNvSpPr txBox="1"/>
          <p:nvPr/>
        </p:nvSpPr>
        <p:spPr>
          <a:xfrm>
            <a:off x="8658707" y="3276803"/>
            <a:ext cx="1261884" cy="523220"/>
          </a:xfrm>
          <a:prstGeom prst="rect">
            <a:avLst/>
          </a:prstGeom>
          <a:noFill/>
        </p:spPr>
        <p:txBody>
          <a:bodyPr wrap="none" rtlCol="0">
            <a:spAutoFit/>
          </a:bodyPr>
          <a:lstStyle/>
          <a:p>
            <a:pPr algn="ctr"/>
            <a:r>
              <a:rPr lang="zh-CN" altLang="en-US" sz="2800" dirty="0">
                <a:solidFill>
                  <a:schemeClr val="tx1">
                    <a:lumMod val="75000"/>
                    <a:lumOff val="25000"/>
                  </a:schemeClr>
                </a:solidFill>
                <a:latin typeface="Arial"/>
                <a:ea typeface="阿里巴巴普惠体 Medium"/>
                <a:cs typeface="阿里巴巴普惠体 Medium"/>
                <a:sym typeface="Arial"/>
              </a:rPr>
              <a:t>见代码</a:t>
            </a:r>
          </a:p>
        </p:txBody>
      </p:sp>
      <p:sp>
        <p:nvSpPr>
          <p:cNvPr id="10" name="Google Shape;86;p19"/>
          <p:cNvSpPr txBox="1"/>
          <p:nvPr/>
        </p:nvSpPr>
        <p:spPr>
          <a:xfrm>
            <a:off x="7555842" y="2842535"/>
            <a:ext cx="3183655" cy="43426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altLang="zh-CN" sz="2000" b="0" i="0" u="none" strike="noStrike" cap="none" dirty="0">
                <a:solidFill>
                  <a:schemeClr val="tx1">
                    <a:lumMod val="75000"/>
                    <a:lumOff val="25000"/>
                  </a:schemeClr>
                </a:solidFill>
                <a:latin typeface="Arial"/>
                <a:ea typeface="阿里巴巴普惠体 Medium"/>
                <a:cs typeface="阿里巴巴普惠体 Medium"/>
                <a:sym typeface="Arial"/>
              </a:rPr>
              <a:t>null</a:t>
            </a:r>
            <a:endParaRPr sz="2000" b="0" i="0" u="none" strike="noStrike" cap="none" dirty="0">
              <a:solidFill>
                <a:schemeClr val="tx1">
                  <a:lumMod val="75000"/>
                  <a:lumOff val="25000"/>
                </a:schemeClr>
              </a:solidFill>
              <a:latin typeface="Arial"/>
              <a:ea typeface="阿里巴巴普惠体 Medium"/>
              <a:cs typeface="阿里巴巴普惠体 Medium"/>
              <a:sym typeface="Arial"/>
            </a:endParaRPr>
          </a:p>
        </p:txBody>
      </p:sp>
      <p:sp>
        <p:nvSpPr>
          <p:cNvPr id="11" name="TextBox 24"/>
          <p:cNvSpPr txBox="1"/>
          <p:nvPr/>
        </p:nvSpPr>
        <p:spPr>
          <a:xfrm>
            <a:off x="7275643" y="3923326"/>
            <a:ext cx="4048851" cy="415995"/>
          </a:xfrm>
          <a:prstGeom prst="rect">
            <a:avLst/>
          </a:prstGeom>
          <a:noFill/>
        </p:spPr>
        <p:txBody>
          <a:bodyPr wrap="square" lIns="91423" tIns="45712" rIns="91423" bIns="45712" rtlCol="0">
            <a:spAutoFit/>
          </a:bodyPr>
          <a:lstStyle/>
          <a:p>
            <a:pPr marL="0" marR="0" lvl="0" indent="0" algn="ctr" defTabSz="1217930" rtl="0" eaLnBrk="1" fontAlgn="auto" latinLnBrk="0" hangingPunct="1">
              <a:lnSpc>
                <a:spcPct val="150000"/>
              </a:lnSpc>
              <a:spcBef>
                <a:spcPts val="0"/>
              </a:spcBef>
              <a:spcAft>
                <a:spcPts val="0"/>
              </a:spcAft>
              <a:buClrTx/>
              <a:buSzTx/>
              <a:buFontTx/>
              <a:buNone/>
              <a:defRPr/>
            </a:pPr>
            <a:r>
              <a:rPr lang="en-US" altLang="zh-CN" sz="1600" dirty="0">
                <a:solidFill>
                  <a:schemeClr val="bg1">
                    <a:lumMod val="50000"/>
                  </a:schemeClr>
                </a:solidFill>
                <a:latin typeface="Arial"/>
                <a:ea typeface="阿里巴巴普惠体 Medium"/>
                <a:cs typeface="阿里巴巴普惠体 Medium"/>
                <a:sym typeface="Arial"/>
              </a:rPr>
              <a:t>null</a:t>
            </a:r>
            <a:endParaRPr kumimoji="0" lang="zh-CN" altLang="en-US" sz="1600" b="0" i="0" u="none" strike="noStrike" kern="1200" cap="none" spc="0" normalizeH="0" baseline="0" noProof="0" dirty="0">
              <a:ln>
                <a:noFill/>
              </a:ln>
              <a:solidFill>
                <a:schemeClr val="bg1">
                  <a:lumMod val="50000"/>
                </a:schemeClr>
              </a:solidFill>
              <a:effectLst/>
              <a:uLnTx/>
              <a:uFillTx/>
              <a:latin typeface="Arial"/>
              <a:ea typeface="阿里巴巴普惠体 Medium"/>
              <a:cs typeface="阿里巴巴普惠体 Medium"/>
              <a:sym typeface="Arial"/>
            </a:endParaRPr>
          </a:p>
        </p:txBody>
      </p:sp>
      <p:pic>
        <p:nvPicPr>
          <p:cNvPr id="12" name="图片 11"/>
          <p:cNvPicPr>
            <a:picLocks noChangeAspect="1"/>
          </p:cNvPicPr>
          <p:nvPr/>
        </p:nvPicPr>
        <p:blipFill rotWithShape="1">
          <a:blip r:embed="rId3" cstate="email">
            <a:extLst>
              <a:ext uri="{28A0092B-C50C-407E-A947-70E740481C1C}">
                <a14:useLocalDpi xmlns:a14="http://schemas.microsoft.com/office/drawing/2010/main"/>
              </a:ext>
            </a:extLst>
          </a:blip>
          <a:srcRect/>
          <a:stretch>
            <a:fillRect/>
          </a:stretch>
        </p:blipFill>
        <p:spPr>
          <a:xfrm>
            <a:off x="8468436" y="939497"/>
            <a:ext cx="1358464" cy="1349708"/>
          </a:xfrm>
          <a:prstGeom prst="rect">
            <a:avLst/>
          </a:prstGeom>
          <a:effectLst>
            <a:outerShdw blurRad="381000" dist="279400" dir="2700000" algn="tl" rotWithShape="0">
              <a:prstClr val="black">
                <a:alpha val="15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1200" advTm="0">
        <p:dissolve/>
      </p:transition>
    </mc:Choice>
    <mc:Fallback xmlns="">
      <p:transition spd="slow" advTm="0">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anim calcmode="lin" valueType="num">
                                      <p:cBhvr>
                                        <p:cTn id="12" dur="1000" fill="hold"/>
                                        <p:tgtEl>
                                          <p:spTgt spid="11"/>
                                        </p:tgtEl>
                                        <p:attrNameLst>
                                          <p:attrName>ppt_x</p:attrName>
                                        </p:attrNameLst>
                                      </p:cBhvr>
                                      <p:tavLst>
                                        <p:tav tm="0">
                                          <p:val>
                                            <p:strVal val="#ppt_x"/>
                                          </p:val>
                                        </p:tav>
                                        <p:tav tm="100000">
                                          <p:val>
                                            <p:strVal val="#ppt_x"/>
                                          </p:val>
                                        </p:tav>
                                      </p:tavLst>
                                    </p:anim>
                                    <p:anim calcmode="lin" valueType="num">
                                      <p:cBhvr>
                                        <p:cTn id="1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平行四边形 5"/>
          <p:cNvSpPr/>
          <p:nvPr/>
        </p:nvSpPr>
        <p:spPr>
          <a:xfrm>
            <a:off x="1485209" y="0"/>
            <a:ext cx="12574551" cy="6858000"/>
          </a:xfrm>
          <a:prstGeom prst="parallelogram">
            <a:avLst>
              <a:gd name="adj" fmla="val 117566"/>
            </a:avLst>
          </a:prstGeom>
          <a:solidFill>
            <a:srgbClr val="FBF1E9">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grpSp>
        <p:nvGrpSpPr>
          <p:cNvPr id="8" name="组合 7"/>
          <p:cNvGrpSpPr/>
          <p:nvPr/>
        </p:nvGrpSpPr>
        <p:grpSpPr>
          <a:xfrm>
            <a:off x="884796" y="1547702"/>
            <a:ext cx="4314120" cy="3857296"/>
            <a:chOff x="789606" y="1491467"/>
            <a:chExt cx="4314120" cy="3857296"/>
          </a:xfrm>
        </p:grpSpPr>
        <p:pic>
          <p:nvPicPr>
            <p:cNvPr id="3" name="图片 2"/>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rot="7431029">
              <a:off x="1246430" y="1491467"/>
              <a:ext cx="3857296" cy="3857296"/>
            </a:xfrm>
            <a:prstGeom prst="ellipse">
              <a:avLst/>
            </a:prstGeom>
            <a:effectLst>
              <a:outerShdw blurRad="635000" dist="254000" dir="3000000" algn="ctr" rotWithShape="0">
                <a:schemeClr val="tx1">
                  <a:lumMod val="75000"/>
                  <a:lumOff val="25000"/>
                  <a:alpha val="30000"/>
                </a:schemeClr>
              </a:outerShdw>
            </a:effectLst>
          </p:spPr>
        </p:pic>
        <p:sp>
          <p:nvSpPr>
            <p:cNvPr id="7" name="泪滴形 6"/>
            <p:cNvSpPr/>
            <p:nvPr/>
          </p:nvSpPr>
          <p:spPr>
            <a:xfrm rot="4070460">
              <a:off x="777305" y="1703571"/>
              <a:ext cx="922918" cy="898316"/>
            </a:xfrm>
            <a:prstGeom prst="teardrop">
              <a:avLst>
                <a:gd name="adj" fmla="val 180000"/>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a:ea typeface="阿里巴巴普惠体 Medium"/>
                <a:cs typeface="阿里巴巴普惠体 Medium"/>
                <a:sym typeface="Arial"/>
              </a:endParaRPr>
            </a:p>
          </p:txBody>
        </p:sp>
      </p:grpSp>
      <p:sp>
        <p:nvSpPr>
          <p:cNvPr id="25" name="文本框 24"/>
          <p:cNvSpPr txBox="1"/>
          <p:nvPr/>
        </p:nvSpPr>
        <p:spPr>
          <a:xfrm>
            <a:off x="626396" y="328129"/>
            <a:ext cx="1180072" cy="523220"/>
          </a:xfrm>
          <a:prstGeom prst="rect">
            <a:avLst/>
          </a:prstGeom>
          <a:noFill/>
        </p:spPr>
        <p:txBody>
          <a:bodyPr wrap="square" rtlCol="0">
            <a:spAutoFit/>
          </a:bodyPr>
          <a:lstStyle/>
          <a:p>
            <a:pPr algn="dist"/>
            <a:r>
              <a:rPr lang="en-US" altLang="zh-CN" sz="2800" dirty="0">
                <a:solidFill>
                  <a:schemeClr val="bg1"/>
                </a:solidFill>
                <a:latin typeface="Arial"/>
                <a:ea typeface="阿里巴巴普惠体 Medium"/>
                <a:cs typeface="阿里巴巴普惠体 Medium"/>
                <a:sym typeface="Arial"/>
              </a:rPr>
              <a:t>logo</a:t>
            </a:r>
          </a:p>
        </p:txBody>
      </p:sp>
      <p:sp>
        <p:nvSpPr>
          <p:cNvPr id="26" name="文本框 25"/>
          <p:cNvSpPr txBox="1"/>
          <p:nvPr/>
        </p:nvSpPr>
        <p:spPr>
          <a:xfrm>
            <a:off x="5946309" y="2423727"/>
            <a:ext cx="4672795" cy="1107996"/>
          </a:xfrm>
          <a:prstGeom prst="rect">
            <a:avLst/>
          </a:prstGeom>
          <a:noFill/>
        </p:spPr>
        <p:txBody>
          <a:bodyPr wrap="square" rtlCol="0">
            <a:spAutoFit/>
          </a:bodyPr>
          <a:lstStyle>
            <a:defPPr>
              <a:defRPr lang="zh-CN"/>
            </a:defPPr>
            <a:lvl1pPr algn="dist">
              <a:defRPr sz="5400">
                <a:solidFill>
                  <a:schemeClr val="bg1"/>
                </a:solidFill>
                <a:latin typeface="阿里巴巴普惠体 Heavy" pitchFamily="18" charset="-122"/>
                <a:ea typeface="阿里巴巴普惠体 Heavy" pitchFamily="18" charset="-122"/>
                <a:cs typeface="阿里巴巴普惠体 Heavy" pitchFamily="18" charset="-122"/>
              </a:defRPr>
            </a:lvl1pPr>
          </a:lstStyle>
          <a:p>
            <a:r>
              <a:rPr lang="zh-CN" altLang="en-US" sz="6600" dirty="0">
                <a:sym typeface="Arial"/>
              </a:rPr>
              <a:t>谢谢欣赏</a:t>
            </a:r>
          </a:p>
        </p:txBody>
      </p:sp>
      <p:sp>
        <p:nvSpPr>
          <p:cNvPr id="27" name="文本框 26"/>
          <p:cNvSpPr txBox="1"/>
          <p:nvPr/>
        </p:nvSpPr>
        <p:spPr>
          <a:xfrm>
            <a:off x="5946309" y="3917395"/>
            <a:ext cx="5189040" cy="333681"/>
          </a:xfrm>
          <a:prstGeom prst="rect">
            <a:avLst/>
          </a:prstGeom>
          <a:noFill/>
        </p:spPr>
        <p:txBody>
          <a:bodyPr wrap="square" rtlCol="0">
            <a:spAutoFit/>
          </a:bodyPr>
          <a:lstStyle/>
          <a:p>
            <a:pPr algn="dist">
              <a:lnSpc>
                <a:spcPct val="150000"/>
              </a:lnSpc>
            </a:pPr>
            <a:r>
              <a:rPr lang="zh-CN" altLang="en-US" sz="1200" dirty="0">
                <a:solidFill>
                  <a:schemeClr val="bg1"/>
                </a:solidFill>
                <a:latin typeface="Arial"/>
                <a:ea typeface="阿里巴巴普惠体 Medium"/>
                <a:cs typeface="阿里巴巴普惠体 Medium"/>
                <a:sym typeface="Arial"/>
              </a:rPr>
              <a:t>惟草木之零落兮，恐美人之迟暮</a:t>
            </a:r>
            <a:endParaRPr lang="en-US" altLang="zh-CN" sz="1200" dirty="0">
              <a:solidFill>
                <a:schemeClr val="bg1"/>
              </a:solidFill>
              <a:latin typeface="Arial"/>
              <a:ea typeface="阿里巴巴普惠体 Medium"/>
              <a:cs typeface="阿里巴巴普惠体 Medium"/>
              <a:sym typeface="Arial"/>
            </a:endParaRPr>
          </a:p>
        </p:txBody>
      </p:sp>
      <p:cxnSp>
        <p:nvCxnSpPr>
          <p:cNvPr id="30" name="直接连接符 29"/>
          <p:cNvCxnSpPr/>
          <p:nvPr/>
        </p:nvCxnSpPr>
        <p:spPr>
          <a:xfrm>
            <a:off x="6096002" y="3885633"/>
            <a:ext cx="148520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Tm="0">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left)">
                                      <p:cBhvr>
                                        <p:cTn id="10" dur="500"/>
                                        <p:tgtEl>
                                          <p:spTgt spid="2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left)">
                                      <p:cBhvr>
                                        <p:cTn id="14" dur="750"/>
                                        <p:tgtEl>
                                          <p:spTgt spid="2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25" grpId="0"/>
      <p:bldP spid="26" grpId="0"/>
      <p:bldP spid="27" grpId="0"/>
    </p:bld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752</Words>
  <Application>Microsoft Office PowerPoint</Application>
  <PresentationFormat>宽屏</PresentationFormat>
  <Paragraphs>124</Paragraphs>
  <Slides>15</Slides>
  <Notes>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15</vt:i4>
      </vt:variant>
    </vt:vector>
  </HeadingPairs>
  <TitlesOfParts>
    <vt:vector size="26" baseType="lpstr">
      <vt:lpstr>阿里巴巴普惠体 Heavy</vt:lpstr>
      <vt:lpstr>包图粗朗体</vt:lpstr>
      <vt:lpstr>方正姚体繁体</vt:lpstr>
      <vt:lpstr>宋体</vt:lpstr>
      <vt:lpstr>微软雅黑</vt:lpstr>
      <vt:lpstr>文悦古体仿宋 (非商业用途)</vt:lpstr>
      <vt:lpstr>Arial</vt:lpstr>
      <vt:lpstr>Calibri</vt:lpstr>
      <vt:lpstr>Consolas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第一PPT，www.1ppt.com</dc:creator>
  <cp:keywords>www.1ppt.com</cp:keywords>
  <dc:description>第一PPT</dc:description>
  <cp:lastModifiedBy>Chun Lian</cp:lastModifiedBy>
  <cp:revision>174</cp:revision>
  <dcterms:created xsi:type="dcterms:W3CDTF">2020-12-19T08:58:00Z</dcterms:created>
  <dcterms:modified xsi:type="dcterms:W3CDTF">2024-09-13T08:30:47Z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2052-11.8.2.8053</vt:lpwstr>
  </property>
</Properties>
</file>